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 name="Google Shape;42;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3" name="Google Shape;43;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 name="Google Shape;63;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4" name="Google Shape;64;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 name="Google Shape;9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91" name="Google Shape;91;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44" name="Google Shape;144;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66" name="Google Shape;166;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92" name="Google Shape;192;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9" name="Google Shape;21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20" name="Google Shape;220;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9" name="Google Shape;28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90" name="Google Shape;290;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16" name="Google Shape;316;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1: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1: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2: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2: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13: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3: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14: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4: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15: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5: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16: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6: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7: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7: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18: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8: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19: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19: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p20: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20: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p21: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1: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p22: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2: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p23: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3: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p24: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4: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p25: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25: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p26: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26: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p27: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7: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p28: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8: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p29: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29: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p30: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30: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p31: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31: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p32: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32: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p33: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33: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p34: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34: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h6145e134556a5d4_0_3: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h6145e134556a5d4_0_3: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5.png"/><Relationship Id="rId6"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B"/>
        </a:solidFill>
      </p:bgPr>
    </p:bg>
    <p:spTree>
      <p:nvGrpSpPr>
        <p:cNvPr id="11" name="Shape 11"/>
        <p:cNvGrpSpPr/>
        <p:nvPr/>
      </p:nvGrpSpPr>
      <p:grpSpPr>
        <a:xfrm>
          <a:off x="0" y="0"/>
          <a:ext cx="0" cy="0"/>
          <a:chOff x="0" y="0"/>
          <a:chExt cx="0" cy="0"/>
        </a:xfrm>
      </p:grpSpPr>
      <p:sp>
        <p:nvSpPr>
          <p:cNvPr id="12" name="Google Shape;12;p3"/>
          <p:cNvSpPr/>
          <p:nvPr/>
        </p:nvSpPr>
        <p:spPr>
          <a:xfrm>
            <a:off x="0" y="0"/>
            <a:ext cx="109728" cy="6858000"/>
          </a:xfrm>
          <a:prstGeom prst="rect">
            <a:avLst/>
          </a:prstGeom>
          <a:solidFill>
            <a:srgbClr val="2B78E4"/>
          </a:solidFill>
          <a:ln cap="flat" cmpd="sng" w="12700">
            <a:solidFill>
              <a:srgbClr val="2B78E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3"/>
          <p:cNvSpPr/>
          <p:nvPr/>
        </p:nvSpPr>
        <p:spPr>
          <a:xfrm>
            <a:off x="566928" y="292608"/>
            <a:ext cx="9144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AE9A"/>
              </a:buClr>
              <a:buSzPts val="1000"/>
              <a:buFont typeface="Arial"/>
              <a:buNone/>
            </a:pPr>
            <a:r>
              <a:rPr b="1" lang="en-US" sz="1000">
                <a:solidFill>
                  <a:srgbClr val="0DAE9A"/>
                </a:solidFill>
                <a:latin typeface="Arial"/>
                <a:ea typeface="Arial"/>
                <a:cs typeface="Arial"/>
                <a:sym typeface="Arial"/>
              </a:rPr>
              <a:t>COMPUTER VISION · RESEARCH PRESENTATION</a:t>
            </a:r>
            <a:endParaRPr sz="1000">
              <a:solidFill>
                <a:schemeClr val="dk1"/>
              </a:solidFill>
              <a:latin typeface="Calibri"/>
              <a:ea typeface="Calibri"/>
              <a:cs typeface="Calibri"/>
              <a:sym typeface="Calibri"/>
            </a:endParaRPr>
          </a:p>
        </p:txBody>
      </p:sp>
      <p:sp>
        <p:nvSpPr>
          <p:cNvPr id="14" name="Google Shape;14;p3"/>
          <p:cNvSpPr/>
          <p:nvPr/>
        </p:nvSpPr>
        <p:spPr>
          <a:xfrm>
            <a:off x="566928" y="713232"/>
            <a:ext cx="109728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01A2B"/>
              </a:buClr>
              <a:buSzPts val="2700"/>
              <a:buFont typeface="Arial"/>
              <a:buNone/>
            </a:pPr>
            <a:r>
              <a:rPr b="1" lang="en-US" sz="2700">
                <a:solidFill>
                  <a:srgbClr val="101A2B"/>
                </a:solidFill>
                <a:latin typeface="Arial"/>
                <a:ea typeface="Arial"/>
                <a:cs typeface="Arial"/>
                <a:sym typeface="Arial"/>
              </a:rPr>
              <a:t>Food-101 21-Class Image Classification</a:t>
            </a:r>
            <a:endParaRPr sz="2700">
              <a:solidFill>
                <a:schemeClr val="dk1"/>
              </a:solidFill>
              <a:latin typeface="Calibri"/>
              <a:ea typeface="Calibri"/>
              <a:cs typeface="Calibri"/>
              <a:sym typeface="Calibri"/>
            </a:endParaRPr>
          </a:p>
        </p:txBody>
      </p:sp>
      <p:cxnSp>
        <p:nvCxnSpPr>
          <p:cNvPr id="15" name="Google Shape;15;p3"/>
          <p:cNvCxnSpPr/>
          <p:nvPr/>
        </p:nvCxnSpPr>
        <p:spPr>
          <a:xfrm>
            <a:off x="566928" y="1353312"/>
            <a:ext cx="11018520" cy="0"/>
          </a:xfrm>
          <a:prstGeom prst="straightConnector1">
            <a:avLst/>
          </a:prstGeom>
          <a:noFill/>
          <a:ln cap="flat" cmpd="sng" w="12700">
            <a:solidFill>
              <a:srgbClr val="DEE5EF"/>
            </a:solidFill>
            <a:prstDash val="solid"/>
            <a:round/>
            <a:headEnd len="sm" w="sm" type="none"/>
            <a:tailEnd len="sm" w="sm" type="none"/>
          </a:ln>
        </p:spPr>
      </p:cxnSp>
      <p:sp>
        <p:nvSpPr>
          <p:cNvPr id="16" name="Google Shape;16;p3"/>
          <p:cNvSpPr/>
          <p:nvPr/>
        </p:nvSpPr>
        <p:spPr>
          <a:xfrm>
            <a:off x="11082528" y="6510528"/>
            <a:ext cx="502920" cy="16459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18198"/>
              </a:buClr>
              <a:buSzPts val="1000"/>
              <a:buFont typeface="Arial"/>
              <a:buNone/>
            </a:pPr>
            <a:r>
              <a:rPr lang="en-US" sz="1000">
                <a:solidFill>
                  <a:srgbClr val="718198"/>
                </a:solidFill>
                <a:latin typeface="Arial"/>
                <a:ea typeface="Arial"/>
                <a:cs typeface="Arial"/>
                <a:sym typeface="Arial"/>
              </a:rPr>
              <a:t>01</a:t>
            </a:r>
            <a:endParaRPr sz="1000">
              <a:solidFill>
                <a:schemeClr val="dk1"/>
              </a:solidFill>
              <a:latin typeface="Calibri"/>
              <a:ea typeface="Calibri"/>
              <a:cs typeface="Calibri"/>
              <a:sym typeface="Calibri"/>
            </a:endParaRPr>
          </a:p>
        </p:txBody>
      </p:sp>
      <p:sp>
        <p:nvSpPr>
          <p:cNvPr id="17" name="Google Shape;17;p3"/>
          <p:cNvSpPr/>
          <p:nvPr/>
        </p:nvSpPr>
        <p:spPr>
          <a:xfrm>
            <a:off x="685800" y="1600200"/>
            <a:ext cx="96926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78E4"/>
              </a:buClr>
              <a:buSzPts val="3000"/>
              <a:buFont typeface="Arial"/>
              <a:buNone/>
            </a:pPr>
            <a:r>
              <a:rPr b="1" lang="en-US" sz="3000">
                <a:solidFill>
                  <a:srgbClr val="2B78E4"/>
                </a:solidFill>
                <a:latin typeface="Arial"/>
                <a:ea typeface="Arial"/>
                <a:cs typeface="Arial"/>
                <a:sym typeface="Arial"/>
              </a:rPr>
              <a:t>Scratch CNN  vs.  Fine-Tuned ResNet-50</a:t>
            </a:r>
            <a:endParaRPr sz="3000">
              <a:solidFill>
                <a:schemeClr val="dk1"/>
              </a:solidFill>
              <a:latin typeface="Calibri"/>
              <a:ea typeface="Calibri"/>
              <a:cs typeface="Calibri"/>
              <a:sym typeface="Calibri"/>
            </a:endParaRPr>
          </a:p>
        </p:txBody>
      </p:sp>
      <p:sp>
        <p:nvSpPr>
          <p:cNvPr id="18" name="Google Shape;18;p3"/>
          <p:cNvSpPr/>
          <p:nvPr/>
        </p:nvSpPr>
        <p:spPr>
          <a:xfrm>
            <a:off x="704088" y="2322576"/>
            <a:ext cx="9144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18198"/>
              </a:buClr>
              <a:buSzPts val="1700"/>
              <a:buFont typeface="Arial"/>
              <a:buNone/>
            </a:pPr>
            <a:r>
              <a:rPr lang="en-US" sz="1700">
                <a:solidFill>
                  <a:srgbClr val="718198"/>
                </a:solidFill>
                <a:latin typeface="Arial"/>
                <a:ea typeface="Arial"/>
                <a:cs typeface="Arial"/>
                <a:sym typeface="Arial"/>
              </a:rPr>
              <a:t>Hannah Fee and Cornelius Coleman   |   October 13, 2026</a:t>
            </a:r>
            <a:endParaRPr sz="1700">
              <a:solidFill>
                <a:schemeClr val="dk1"/>
              </a:solidFill>
              <a:latin typeface="Calibri"/>
              <a:ea typeface="Calibri"/>
              <a:cs typeface="Calibri"/>
              <a:sym typeface="Calibri"/>
            </a:endParaRPr>
          </a:p>
        </p:txBody>
      </p:sp>
      <p:sp>
        <p:nvSpPr>
          <p:cNvPr id="19" name="Google Shape;19;p3"/>
          <p:cNvSpPr/>
          <p:nvPr/>
        </p:nvSpPr>
        <p:spPr>
          <a:xfrm>
            <a:off x="731520" y="3246120"/>
            <a:ext cx="987552" cy="822960"/>
          </a:xfrm>
          <a:prstGeom prst="roundRect">
            <a:avLst>
              <a:gd fmla="val 15556" name="adj"/>
            </a:avLst>
          </a:prstGeom>
          <a:solidFill>
            <a:srgbClr val="FFF2E7"/>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3"/>
          <p:cNvSpPr/>
          <p:nvPr/>
        </p:nvSpPr>
        <p:spPr>
          <a:xfrm>
            <a:off x="914400" y="3291840"/>
            <a:ext cx="6400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3148"/>
              </a:buClr>
              <a:buSzPts val="3300"/>
              <a:buFont typeface="Arial"/>
              <a:buNone/>
            </a:pPr>
            <a:r>
              <a:rPr lang="en-US" sz="3300">
                <a:solidFill>
                  <a:srgbClr val="203148"/>
                </a:solidFill>
                <a:latin typeface="Arial"/>
                <a:ea typeface="Arial"/>
                <a:cs typeface="Arial"/>
                <a:sym typeface="Arial"/>
              </a:rPr>
              <a:t>🍕</a:t>
            </a:r>
            <a:endParaRPr sz="3300">
              <a:solidFill>
                <a:schemeClr val="dk1"/>
              </a:solidFill>
              <a:latin typeface="Calibri"/>
              <a:ea typeface="Calibri"/>
              <a:cs typeface="Calibri"/>
              <a:sym typeface="Calibri"/>
            </a:endParaRPr>
          </a:p>
        </p:txBody>
      </p:sp>
      <p:sp>
        <p:nvSpPr>
          <p:cNvPr id="21" name="Google Shape;21;p3"/>
          <p:cNvSpPr/>
          <p:nvPr/>
        </p:nvSpPr>
        <p:spPr>
          <a:xfrm>
            <a:off x="1874520" y="3246120"/>
            <a:ext cx="987552" cy="822960"/>
          </a:xfrm>
          <a:prstGeom prst="roundRect">
            <a:avLst>
              <a:gd fmla="val 15556" name="adj"/>
            </a:avLst>
          </a:prstGeom>
          <a:solidFill>
            <a:srgbClr val="E9F5E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 name="Google Shape;22;p3"/>
          <p:cNvSpPr/>
          <p:nvPr/>
        </p:nvSpPr>
        <p:spPr>
          <a:xfrm>
            <a:off x="2057400" y="3291840"/>
            <a:ext cx="6400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3148"/>
              </a:buClr>
              <a:buSzPts val="3300"/>
              <a:buFont typeface="Arial"/>
              <a:buNone/>
            </a:pPr>
            <a:r>
              <a:rPr lang="en-US" sz="3300">
                <a:solidFill>
                  <a:srgbClr val="203148"/>
                </a:solidFill>
                <a:latin typeface="Arial"/>
                <a:ea typeface="Arial"/>
                <a:cs typeface="Arial"/>
                <a:sym typeface="Arial"/>
              </a:rPr>
              <a:t>🍔</a:t>
            </a:r>
            <a:endParaRPr sz="3300">
              <a:solidFill>
                <a:schemeClr val="dk1"/>
              </a:solidFill>
              <a:latin typeface="Calibri"/>
              <a:ea typeface="Calibri"/>
              <a:cs typeface="Calibri"/>
              <a:sym typeface="Calibri"/>
            </a:endParaRPr>
          </a:p>
        </p:txBody>
      </p:sp>
      <p:sp>
        <p:nvSpPr>
          <p:cNvPr id="23" name="Google Shape;23;p3"/>
          <p:cNvSpPr/>
          <p:nvPr/>
        </p:nvSpPr>
        <p:spPr>
          <a:xfrm>
            <a:off x="3017520" y="3246120"/>
            <a:ext cx="987552" cy="822960"/>
          </a:xfrm>
          <a:prstGeom prst="roundRect">
            <a:avLst>
              <a:gd fmla="val 15556" name="adj"/>
            </a:avLst>
          </a:prstGeom>
          <a:solidFill>
            <a:srgbClr val="EDF2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 name="Google Shape;24;p3"/>
          <p:cNvSpPr/>
          <p:nvPr/>
        </p:nvSpPr>
        <p:spPr>
          <a:xfrm>
            <a:off x="3200400" y="3291840"/>
            <a:ext cx="6400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3148"/>
              </a:buClr>
              <a:buSzPts val="3300"/>
              <a:buFont typeface="Arial"/>
              <a:buNone/>
            </a:pPr>
            <a:r>
              <a:rPr lang="en-US" sz="3300">
                <a:solidFill>
                  <a:srgbClr val="203148"/>
                </a:solidFill>
                <a:latin typeface="Arial"/>
                <a:ea typeface="Arial"/>
                <a:cs typeface="Arial"/>
                <a:sym typeface="Arial"/>
              </a:rPr>
              <a:t>🍣</a:t>
            </a:r>
            <a:endParaRPr sz="3300">
              <a:solidFill>
                <a:schemeClr val="dk1"/>
              </a:solidFill>
              <a:latin typeface="Calibri"/>
              <a:ea typeface="Calibri"/>
              <a:cs typeface="Calibri"/>
              <a:sym typeface="Calibri"/>
            </a:endParaRPr>
          </a:p>
        </p:txBody>
      </p:sp>
      <p:sp>
        <p:nvSpPr>
          <p:cNvPr id="25" name="Google Shape;25;p3"/>
          <p:cNvSpPr/>
          <p:nvPr/>
        </p:nvSpPr>
        <p:spPr>
          <a:xfrm>
            <a:off x="731520" y="4206240"/>
            <a:ext cx="987552" cy="822960"/>
          </a:xfrm>
          <a:prstGeom prst="roundRect">
            <a:avLst>
              <a:gd fmla="val 15556" name="adj"/>
            </a:avLst>
          </a:prstGeom>
          <a:solidFill>
            <a:srgbClr val="FFF2E7"/>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 name="Google Shape;26;p3"/>
          <p:cNvSpPr/>
          <p:nvPr/>
        </p:nvSpPr>
        <p:spPr>
          <a:xfrm>
            <a:off x="914400" y="4251960"/>
            <a:ext cx="6400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3148"/>
              </a:buClr>
              <a:buSzPts val="3300"/>
              <a:buFont typeface="Arial"/>
              <a:buNone/>
            </a:pPr>
            <a:r>
              <a:rPr lang="en-US" sz="3300">
                <a:solidFill>
                  <a:srgbClr val="203148"/>
                </a:solidFill>
                <a:latin typeface="Arial"/>
                <a:ea typeface="Arial"/>
                <a:cs typeface="Arial"/>
                <a:sym typeface="Arial"/>
              </a:rPr>
              <a:t>🍜</a:t>
            </a:r>
            <a:endParaRPr sz="3300">
              <a:solidFill>
                <a:schemeClr val="dk1"/>
              </a:solidFill>
              <a:latin typeface="Calibri"/>
              <a:ea typeface="Calibri"/>
              <a:cs typeface="Calibri"/>
              <a:sym typeface="Calibri"/>
            </a:endParaRPr>
          </a:p>
        </p:txBody>
      </p:sp>
      <p:sp>
        <p:nvSpPr>
          <p:cNvPr id="27" name="Google Shape;27;p3"/>
          <p:cNvSpPr/>
          <p:nvPr/>
        </p:nvSpPr>
        <p:spPr>
          <a:xfrm>
            <a:off x="1874520" y="4206240"/>
            <a:ext cx="987552" cy="822960"/>
          </a:xfrm>
          <a:prstGeom prst="roundRect">
            <a:avLst>
              <a:gd fmla="val 15556" name="adj"/>
            </a:avLst>
          </a:prstGeom>
          <a:solidFill>
            <a:srgbClr val="E9F5E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 name="Google Shape;28;p3"/>
          <p:cNvSpPr/>
          <p:nvPr/>
        </p:nvSpPr>
        <p:spPr>
          <a:xfrm>
            <a:off x="2057400" y="4251960"/>
            <a:ext cx="6400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3148"/>
              </a:buClr>
              <a:buSzPts val="3300"/>
              <a:buFont typeface="Arial"/>
              <a:buNone/>
            </a:pPr>
            <a:r>
              <a:rPr lang="en-US" sz="3300">
                <a:solidFill>
                  <a:srgbClr val="203148"/>
                </a:solidFill>
                <a:latin typeface="Arial"/>
                <a:ea typeface="Arial"/>
                <a:cs typeface="Arial"/>
                <a:sym typeface="Arial"/>
              </a:rPr>
              <a:t>🍰</a:t>
            </a:r>
            <a:endParaRPr sz="3300">
              <a:solidFill>
                <a:schemeClr val="dk1"/>
              </a:solidFill>
              <a:latin typeface="Calibri"/>
              <a:ea typeface="Calibri"/>
              <a:cs typeface="Calibri"/>
              <a:sym typeface="Calibri"/>
            </a:endParaRPr>
          </a:p>
        </p:txBody>
      </p:sp>
      <p:sp>
        <p:nvSpPr>
          <p:cNvPr id="29" name="Google Shape;29;p3"/>
          <p:cNvSpPr/>
          <p:nvPr/>
        </p:nvSpPr>
        <p:spPr>
          <a:xfrm>
            <a:off x="3017520" y="4206240"/>
            <a:ext cx="987552" cy="822960"/>
          </a:xfrm>
          <a:prstGeom prst="roundRect">
            <a:avLst>
              <a:gd fmla="val 15556" name="adj"/>
            </a:avLst>
          </a:prstGeom>
          <a:solidFill>
            <a:srgbClr val="EDF2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 name="Google Shape;30;p3"/>
          <p:cNvSpPr/>
          <p:nvPr/>
        </p:nvSpPr>
        <p:spPr>
          <a:xfrm>
            <a:off x="3200400" y="4251960"/>
            <a:ext cx="6400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3148"/>
              </a:buClr>
              <a:buSzPts val="3300"/>
              <a:buFont typeface="Arial"/>
              <a:buNone/>
            </a:pPr>
            <a:r>
              <a:rPr lang="en-US" sz="3300">
                <a:solidFill>
                  <a:srgbClr val="203148"/>
                </a:solidFill>
                <a:latin typeface="Arial"/>
                <a:ea typeface="Arial"/>
                <a:cs typeface="Arial"/>
                <a:sym typeface="Arial"/>
              </a:rPr>
              <a:t>🥗</a:t>
            </a:r>
            <a:endParaRPr sz="3300">
              <a:solidFill>
                <a:schemeClr val="dk1"/>
              </a:solidFill>
              <a:latin typeface="Calibri"/>
              <a:ea typeface="Calibri"/>
              <a:cs typeface="Calibri"/>
              <a:sym typeface="Calibri"/>
            </a:endParaRPr>
          </a:p>
        </p:txBody>
      </p:sp>
      <p:sp>
        <p:nvSpPr>
          <p:cNvPr id="31" name="Google Shape;31;p3"/>
          <p:cNvSpPr/>
          <p:nvPr/>
        </p:nvSpPr>
        <p:spPr>
          <a:xfrm>
            <a:off x="731520" y="5166360"/>
            <a:ext cx="987552" cy="822960"/>
          </a:xfrm>
          <a:prstGeom prst="roundRect">
            <a:avLst>
              <a:gd fmla="val 15556" name="adj"/>
            </a:avLst>
          </a:prstGeom>
          <a:solidFill>
            <a:srgbClr val="FFF2E7"/>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 name="Google Shape;32;p3"/>
          <p:cNvSpPr/>
          <p:nvPr/>
        </p:nvSpPr>
        <p:spPr>
          <a:xfrm>
            <a:off x="914400" y="5212080"/>
            <a:ext cx="6400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3148"/>
              </a:buClr>
              <a:buSzPts val="3300"/>
              <a:buFont typeface="Arial"/>
              <a:buNone/>
            </a:pPr>
            <a:r>
              <a:rPr lang="en-US" sz="3300">
                <a:solidFill>
                  <a:srgbClr val="203148"/>
                </a:solidFill>
                <a:latin typeface="Arial"/>
                <a:ea typeface="Arial"/>
                <a:cs typeface="Arial"/>
                <a:sym typeface="Arial"/>
              </a:rPr>
              <a:t>🥞</a:t>
            </a:r>
            <a:endParaRPr sz="3300">
              <a:solidFill>
                <a:schemeClr val="dk1"/>
              </a:solidFill>
              <a:latin typeface="Calibri"/>
              <a:ea typeface="Calibri"/>
              <a:cs typeface="Calibri"/>
              <a:sym typeface="Calibri"/>
            </a:endParaRPr>
          </a:p>
        </p:txBody>
      </p:sp>
      <p:sp>
        <p:nvSpPr>
          <p:cNvPr id="33" name="Google Shape;33;p3"/>
          <p:cNvSpPr/>
          <p:nvPr/>
        </p:nvSpPr>
        <p:spPr>
          <a:xfrm>
            <a:off x="1874520" y="5166360"/>
            <a:ext cx="987552" cy="822960"/>
          </a:xfrm>
          <a:prstGeom prst="roundRect">
            <a:avLst>
              <a:gd fmla="val 15556" name="adj"/>
            </a:avLst>
          </a:prstGeom>
          <a:solidFill>
            <a:srgbClr val="E9F5E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 name="Google Shape;34;p3"/>
          <p:cNvSpPr/>
          <p:nvPr/>
        </p:nvSpPr>
        <p:spPr>
          <a:xfrm>
            <a:off x="2057400" y="5212080"/>
            <a:ext cx="6400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3148"/>
              </a:buClr>
              <a:buSzPts val="3300"/>
              <a:buFont typeface="Arial"/>
              <a:buNone/>
            </a:pPr>
            <a:r>
              <a:rPr lang="en-US" sz="3300">
                <a:solidFill>
                  <a:srgbClr val="203148"/>
                </a:solidFill>
                <a:latin typeface="Arial"/>
                <a:ea typeface="Arial"/>
                <a:cs typeface="Arial"/>
                <a:sym typeface="Arial"/>
              </a:rPr>
              <a:t>🍝</a:t>
            </a:r>
            <a:endParaRPr sz="3300">
              <a:solidFill>
                <a:schemeClr val="dk1"/>
              </a:solidFill>
              <a:latin typeface="Calibri"/>
              <a:ea typeface="Calibri"/>
              <a:cs typeface="Calibri"/>
              <a:sym typeface="Calibri"/>
            </a:endParaRPr>
          </a:p>
        </p:txBody>
      </p:sp>
      <p:sp>
        <p:nvSpPr>
          <p:cNvPr id="35" name="Google Shape;35;p3"/>
          <p:cNvSpPr/>
          <p:nvPr/>
        </p:nvSpPr>
        <p:spPr>
          <a:xfrm>
            <a:off x="3017520" y="5166360"/>
            <a:ext cx="987552" cy="822960"/>
          </a:xfrm>
          <a:prstGeom prst="roundRect">
            <a:avLst>
              <a:gd fmla="val 15556" name="adj"/>
            </a:avLst>
          </a:prstGeom>
          <a:solidFill>
            <a:srgbClr val="EDF2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 name="Google Shape;36;p3"/>
          <p:cNvSpPr/>
          <p:nvPr/>
        </p:nvSpPr>
        <p:spPr>
          <a:xfrm>
            <a:off x="3200400" y="5212080"/>
            <a:ext cx="6400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3148"/>
              </a:buClr>
              <a:buSzPts val="3300"/>
              <a:buFont typeface="Arial"/>
              <a:buNone/>
            </a:pPr>
            <a:r>
              <a:rPr lang="en-US" sz="3300">
                <a:solidFill>
                  <a:srgbClr val="203148"/>
                </a:solidFill>
                <a:latin typeface="Arial"/>
                <a:ea typeface="Arial"/>
                <a:cs typeface="Arial"/>
                <a:sym typeface="Arial"/>
              </a:rPr>
              <a:t>🥧</a:t>
            </a:r>
            <a:endParaRPr sz="3300">
              <a:solidFill>
                <a:schemeClr val="dk1"/>
              </a:solidFill>
              <a:latin typeface="Calibri"/>
              <a:ea typeface="Calibri"/>
              <a:cs typeface="Calibri"/>
              <a:sym typeface="Calibri"/>
            </a:endParaRPr>
          </a:p>
        </p:txBody>
      </p:sp>
      <p:sp>
        <p:nvSpPr>
          <p:cNvPr id="37" name="Google Shape;37;p3"/>
          <p:cNvSpPr/>
          <p:nvPr/>
        </p:nvSpPr>
        <p:spPr>
          <a:xfrm>
            <a:off x="4754880" y="3438144"/>
            <a:ext cx="6126480" cy="2148840"/>
          </a:xfrm>
          <a:prstGeom prst="roundRect">
            <a:avLst>
              <a:gd fmla="val 5957" name="adj"/>
            </a:avLst>
          </a:prstGeom>
          <a:solidFill>
            <a:srgbClr val="101A2B"/>
          </a:solidFill>
          <a:ln cap="flat" cmpd="sng" w="12700">
            <a:solidFill>
              <a:srgbClr val="101A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 name="Google Shape;38;p3"/>
          <p:cNvSpPr/>
          <p:nvPr/>
        </p:nvSpPr>
        <p:spPr>
          <a:xfrm>
            <a:off x="5120640" y="3721608"/>
            <a:ext cx="53035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0E5D5"/>
              </a:buClr>
              <a:buSzPts val="1200"/>
              <a:buFont typeface="Arial"/>
              <a:buNone/>
            </a:pPr>
            <a:r>
              <a:rPr b="1" lang="en-US" sz="1200">
                <a:solidFill>
                  <a:srgbClr val="80E5D5"/>
                </a:solidFill>
                <a:latin typeface="Arial"/>
                <a:ea typeface="Arial"/>
                <a:cs typeface="Arial"/>
                <a:sym typeface="Arial"/>
              </a:rPr>
              <a:t>THE CENTRAL QUESTION</a:t>
            </a:r>
            <a:endParaRPr sz="1200">
              <a:solidFill>
                <a:schemeClr val="dk1"/>
              </a:solidFill>
              <a:latin typeface="Calibri"/>
              <a:ea typeface="Calibri"/>
              <a:cs typeface="Calibri"/>
              <a:sym typeface="Calibri"/>
            </a:endParaRPr>
          </a:p>
        </p:txBody>
      </p:sp>
      <p:sp>
        <p:nvSpPr>
          <p:cNvPr id="39" name="Google Shape;39;p3"/>
          <p:cNvSpPr/>
          <p:nvPr/>
        </p:nvSpPr>
        <p:spPr>
          <a:xfrm>
            <a:off x="5120640" y="4096512"/>
            <a:ext cx="52120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Arial"/>
              <a:buNone/>
            </a:pPr>
            <a:r>
              <a:rPr b="1" lang="en-US" sz="2600">
                <a:solidFill>
                  <a:srgbClr val="FFFFFF"/>
                </a:solidFill>
                <a:latin typeface="Arial"/>
                <a:ea typeface="Arial"/>
                <a:cs typeface="Arial"/>
                <a:sym typeface="Arial"/>
              </a:rPr>
              <a:t>How much does ImageNet pretraining help with fine-grained food recognition?</a:t>
            </a:r>
            <a:endParaRPr sz="26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B"/>
        </a:solidFill>
      </p:bgPr>
    </p:bg>
    <p:spTree>
      <p:nvGrpSpPr>
        <p:cNvPr id="44" name="Shape 44"/>
        <p:cNvGrpSpPr/>
        <p:nvPr/>
      </p:nvGrpSpPr>
      <p:grpSpPr>
        <a:xfrm>
          <a:off x="0" y="0"/>
          <a:ext cx="0" cy="0"/>
          <a:chOff x="0" y="0"/>
          <a:chExt cx="0" cy="0"/>
        </a:xfrm>
      </p:grpSpPr>
      <p:sp>
        <p:nvSpPr>
          <p:cNvPr id="45" name="Google Shape;45;p4"/>
          <p:cNvSpPr/>
          <p:nvPr/>
        </p:nvSpPr>
        <p:spPr>
          <a:xfrm>
            <a:off x="0" y="0"/>
            <a:ext cx="109728" cy="6858000"/>
          </a:xfrm>
          <a:prstGeom prst="rect">
            <a:avLst/>
          </a:prstGeom>
          <a:solidFill>
            <a:srgbClr val="2B78E4"/>
          </a:solidFill>
          <a:ln cap="flat" cmpd="sng" w="12700">
            <a:solidFill>
              <a:srgbClr val="2B78E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 name="Google Shape;46;p4"/>
          <p:cNvSpPr/>
          <p:nvPr/>
        </p:nvSpPr>
        <p:spPr>
          <a:xfrm>
            <a:off x="566928" y="292608"/>
            <a:ext cx="9144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AE9A"/>
              </a:buClr>
              <a:buSzPts val="1000"/>
              <a:buFont typeface="Arial"/>
              <a:buNone/>
            </a:pPr>
            <a:r>
              <a:rPr b="1" lang="en-US" sz="1000">
                <a:solidFill>
                  <a:srgbClr val="0DAE9A"/>
                </a:solidFill>
                <a:latin typeface="Arial"/>
                <a:ea typeface="Arial"/>
                <a:cs typeface="Arial"/>
                <a:sym typeface="Arial"/>
              </a:rPr>
              <a:t>FOOD-101 · EXPERIMENT</a:t>
            </a:r>
            <a:endParaRPr sz="1000">
              <a:solidFill>
                <a:schemeClr val="dk1"/>
              </a:solidFill>
              <a:latin typeface="Calibri"/>
              <a:ea typeface="Calibri"/>
              <a:cs typeface="Calibri"/>
              <a:sym typeface="Calibri"/>
            </a:endParaRPr>
          </a:p>
        </p:txBody>
      </p:sp>
      <p:sp>
        <p:nvSpPr>
          <p:cNvPr id="47" name="Google Shape;47;p4"/>
          <p:cNvSpPr/>
          <p:nvPr/>
        </p:nvSpPr>
        <p:spPr>
          <a:xfrm>
            <a:off x="566928" y="713232"/>
            <a:ext cx="109728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01A2B"/>
              </a:buClr>
              <a:buSzPts val="2700"/>
              <a:buFont typeface="Arial"/>
              <a:buNone/>
            </a:pPr>
            <a:r>
              <a:rPr b="1" lang="en-US" sz="2700">
                <a:solidFill>
                  <a:srgbClr val="101A2B"/>
                </a:solidFill>
                <a:latin typeface="Arial"/>
                <a:ea typeface="Arial"/>
                <a:cs typeface="Arial"/>
                <a:sym typeface="Arial"/>
              </a:rPr>
              <a:t>Problem statement</a:t>
            </a:r>
            <a:endParaRPr sz="2700">
              <a:solidFill>
                <a:schemeClr val="dk1"/>
              </a:solidFill>
              <a:latin typeface="Calibri"/>
              <a:ea typeface="Calibri"/>
              <a:cs typeface="Calibri"/>
              <a:sym typeface="Calibri"/>
            </a:endParaRPr>
          </a:p>
        </p:txBody>
      </p:sp>
      <p:cxnSp>
        <p:nvCxnSpPr>
          <p:cNvPr id="48" name="Google Shape;48;p4"/>
          <p:cNvCxnSpPr/>
          <p:nvPr/>
        </p:nvCxnSpPr>
        <p:spPr>
          <a:xfrm>
            <a:off x="566928" y="1353312"/>
            <a:ext cx="11018520" cy="0"/>
          </a:xfrm>
          <a:prstGeom prst="straightConnector1">
            <a:avLst/>
          </a:prstGeom>
          <a:noFill/>
          <a:ln cap="flat" cmpd="sng" w="12700">
            <a:solidFill>
              <a:srgbClr val="DEE5EF"/>
            </a:solidFill>
            <a:prstDash val="solid"/>
            <a:round/>
            <a:headEnd len="sm" w="sm" type="none"/>
            <a:tailEnd len="sm" w="sm" type="none"/>
          </a:ln>
        </p:spPr>
      </p:cxnSp>
      <p:sp>
        <p:nvSpPr>
          <p:cNvPr id="49" name="Google Shape;49;p4"/>
          <p:cNvSpPr/>
          <p:nvPr/>
        </p:nvSpPr>
        <p:spPr>
          <a:xfrm>
            <a:off x="11082528" y="6510528"/>
            <a:ext cx="502920" cy="16459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18198"/>
              </a:buClr>
              <a:buSzPts val="1000"/>
              <a:buFont typeface="Arial"/>
              <a:buNone/>
            </a:pPr>
            <a:r>
              <a:rPr lang="en-US" sz="1000">
                <a:solidFill>
                  <a:srgbClr val="718198"/>
                </a:solidFill>
                <a:latin typeface="Arial"/>
                <a:ea typeface="Arial"/>
                <a:cs typeface="Arial"/>
                <a:sym typeface="Arial"/>
              </a:rPr>
              <a:t>02</a:t>
            </a:r>
            <a:endParaRPr sz="1000">
              <a:solidFill>
                <a:schemeClr val="dk1"/>
              </a:solidFill>
              <a:latin typeface="Calibri"/>
              <a:ea typeface="Calibri"/>
              <a:cs typeface="Calibri"/>
              <a:sym typeface="Calibri"/>
            </a:endParaRPr>
          </a:p>
        </p:txBody>
      </p:sp>
      <p:sp>
        <p:nvSpPr>
          <p:cNvPr id="50" name="Google Shape;50;p4"/>
          <p:cNvSpPr/>
          <p:nvPr/>
        </p:nvSpPr>
        <p:spPr>
          <a:xfrm>
            <a:off x="731520" y="1773936"/>
            <a:ext cx="100584" cy="100584"/>
          </a:xfrm>
          <a:prstGeom prst="ellipse">
            <a:avLst/>
          </a:prstGeom>
          <a:solidFill>
            <a:srgbClr val="0DAE9A"/>
          </a:solidFill>
          <a:ln cap="flat" cmpd="sng" w="12700">
            <a:solidFill>
              <a:srgbClr val="0DAE9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 name="Google Shape;51;p4"/>
          <p:cNvSpPr/>
          <p:nvPr/>
        </p:nvSpPr>
        <p:spPr>
          <a:xfrm>
            <a:off x="987552" y="1664208"/>
            <a:ext cx="10442448" cy="6126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3148"/>
              </a:buClr>
              <a:buSzPts val="2100"/>
              <a:buFont typeface="Arial"/>
              <a:buNone/>
            </a:pPr>
            <a:r>
              <a:rPr lang="en-US" sz="2100">
                <a:solidFill>
                  <a:srgbClr val="203148"/>
                </a:solidFill>
                <a:latin typeface="Arial"/>
                <a:ea typeface="Arial"/>
                <a:cs typeface="Arial"/>
                <a:sym typeface="Arial"/>
              </a:rPr>
              <a:t>Predict one of 21 food labels from a single RGB photograph.</a:t>
            </a:r>
            <a:endParaRPr sz="2100">
              <a:solidFill>
                <a:schemeClr val="dk1"/>
              </a:solidFill>
              <a:latin typeface="Calibri"/>
              <a:ea typeface="Calibri"/>
              <a:cs typeface="Calibri"/>
              <a:sym typeface="Calibri"/>
            </a:endParaRPr>
          </a:p>
        </p:txBody>
      </p:sp>
      <p:sp>
        <p:nvSpPr>
          <p:cNvPr id="52" name="Google Shape;52;p4"/>
          <p:cNvSpPr/>
          <p:nvPr/>
        </p:nvSpPr>
        <p:spPr>
          <a:xfrm>
            <a:off x="731520" y="2450592"/>
            <a:ext cx="100584" cy="100584"/>
          </a:xfrm>
          <a:prstGeom prst="ellipse">
            <a:avLst/>
          </a:prstGeom>
          <a:solidFill>
            <a:srgbClr val="0DAE9A"/>
          </a:solidFill>
          <a:ln cap="flat" cmpd="sng" w="12700">
            <a:solidFill>
              <a:srgbClr val="0DAE9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 name="Google Shape;53;p4"/>
          <p:cNvSpPr/>
          <p:nvPr/>
        </p:nvSpPr>
        <p:spPr>
          <a:xfrm>
            <a:off x="987552" y="2340864"/>
            <a:ext cx="10442448" cy="6126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3148"/>
              </a:buClr>
              <a:buSzPts val="2100"/>
              <a:buFont typeface="Arial"/>
              <a:buNone/>
            </a:pPr>
            <a:r>
              <a:rPr lang="en-US" sz="2100">
                <a:solidFill>
                  <a:srgbClr val="203148"/>
                </a:solidFill>
                <a:latin typeface="Arial"/>
                <a:ea typeface="Arial"/>
                <a:cs typeface="Arial"/>
                <a:sym typeface="Arial"/>
              </a:rPr>
              <a:t>Fine-grained categories share ingredients, textures, and presentation.</a:t>
            </a:r>
            <a:endParaRPr sz="2100">
              <a:solidFill>
                <a:schemeClr val="dk1"/>
              </a:solidFill>
              <a:latin typeface="Calibri"/>
              <a:ea typeface="Calibri"/>
              <a:cs typeface="Calibri"/>
              <a:sym typeface="Calibri"/>
            </a:endParaRPr>
          </a:p>
        </p:txBody>
      </p:sp>
      <p:sp>
        <p:nvSpPr>
          <p:cNvPr id="54" name="Google Shape;54;p4"/>
          <p:cNvSpPr/>
          <p:nvPr/>
        </p:nvSpPr>
        <p:spPr>
          <a:xfrm>
            <a:off x="731520" y="3127248"/>
            <a:ext cx="100584" cy="100584"/>
          </a:xfrm>
          <a:prstGeom prst="ellipse">
            <a:avLst/>
          </a:prstGeom>
          <a:solidFill>
            <a:srgbClr val="0DAE9A"/>
          </a:solidFill>
          <a:ln cap="flat" cmpd="sng" w="12700">
            <a:solidFill>
              <a:srgbClr val="0DAE9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 name="Google Shape;55;p4"/>
          <p:cNvSpPr/>
          <p:nvPr/>
        </p:nvSpPr>
        <p:spPr>
          <a:xfrm>
            <a:off x="987552" y="3017520"/>
            <a:ext cx="10442448" cy="6126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3148"/>
              </a:buClr>
              <a:buSzPts val="2100"/>
              <a:buFont typeface="Arial"/>
              <a:buNone/>
            </a:pPr>
            <a:r>
              <a:rPr lang="en-US" sz="2100">
                <a:solidFill>
                  <a:srgbClr val="203148"/>
                </a:solidFill>
                <a:latin typeface="Arial"/>
                <a:ea typeface="Arial"/>
                <a:cs typeface="Arial"/>
                <a:sym typeface="Arial"/>
              </a:rPr>
              <a:t>Color oversaturation, atypical angles, and some noisy labels add difficulty.</a:t>
            </a:r>
            <a:endParaRPr sz="2100">
              <a:solidFill>
                <a:schemeClr val="dk1"/>
              </a:solidFill>
              <a:latin typeface="Calibri"/>
              <a:ea typeface="Calibri"/>
              <a:cs typeface="Calibri"/>
              <a:sym typeface="Calibri"/>
            </a:endParaRPr>
          </a:p>
        </p:txBody>
      </p:sp>
      <p:sp>
        <p:nvSpPr>
          <p:cNvPr id="56" name="Google Shape;56;p4"/>
          <p:cNvSpPr/>
          <p:nvPr/>
        </p:nvSpPr>
        <p:spPr>
          <a:xfrm>
            <a:off x="777240" y="4151376"/>
            <a:ext cx="4983480" cy="1298448"/>
          </a:xfrm>
          <a:prstGeom prst="roundRect">
            <a:avLst>
              <a:gd fmla="val 9859" name="adj"/>
            </a:avLst>
          </a:prstGeom>
          <a:solidFill>
            <a:srgbClr val="E8F2FF"/>
          </a:solidFill>
          <a:ln cap="flat" cmpd="sng" w="12700">
            <a:solidFill>
              <a:srgbClr val="E8F2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 name="Google Shape;57;p4"/>
          <p:cNvSpPr/>
          <p:nvPr/>
        </p:nvSpPr>
        <p:spPr>
          <a:xfrm>
            <a:off x="1005840" y="4453128"/>
            <a:ext cx="4572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78E4"/>
              </a:buClr>
              <a:buSzPts val="2200"/>
              <a:buFont typeface="Arial"/>
              <a:buNone/>
            </a:pPr>
            <a:r>
              <a:rPr b="1" lang="en-US" sz="2200">
                <a:solidFill>
                  <a:srgbClr val="2B78E4"/>
                </a:solidFill>
                <a:latin typeface="Arial"/>
                <a:ea typeface="Arial"/>
                <a:cs typeface="Arial"/>
                <a:sym typeface="Arial"/>
              </a:rPr>
              <a:t>Cheesecake  ↔  Carrot cake</a:t>
            </a:r>
            <a:endParaRPr sz="2200">
              <a:solidFill>
                <a:schemeClr val="dk1"/>
              </a:solidFill>
              <a:latin typeface="Calibri"/>
              <a:ea typeface="Calibri"/>
              <a:cs typeface="Calibri"/>
              <a:sym typeface="Calibri"/>
            </a:endParaRPr>
          </a:p>
        </p:txBody>
      </p:sp>
      <p:sp>
        <p:nvSpPr>
          <p:cNvPr id="58" name="Google Shape;58;p4"/>
          <p:cNvSpPr/>
          <p:nvPr/>
        </p:nvSpPr>
        <p:spPr>
          <a:xfrm>
            <a:off x="5961888" y="4151376"/>
            <a:ext cx="4983480" cy="1298448"/>
          </a:xfrm>
          <a:prstGeom prst="roundRect">
            <a:avLst>
              <a:gd fmla="val 9859" name="adj"/>
            </a:avLst>
          </a:prstGeom>
          <a:solidFill>
            <a:srgbClr val="FFF2EA"/>
          </a:solidFill>
          <a:ln cap="flat" cmpd="sng" w="12700">
            <a:solidFill>
              <a:srgbClr val="FFF2E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 name="Google Shape;59;p4"/>
          <p:cNvSpPr/>
          <p:nvPr/>
        </p:nvSpPr>
        <p:spPr>
          <a:xfrm>
            <a:off x="6190488" y="4453128"/>
            <a:ext cx="4572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D32"/>
              </a:buClr>
              <a:buSzPts val="2200"/>
              <a:buFont typeface="Arial"/>
              <a:buNone/>
            </a:pPr>
            <a:r>
              <a:rPr b="1" lang="en-US" sz="2200">
                <a:solidFill>
                  <a:srgbClr val="B45D32"/>
                </a:solidFill>
                <a:latin typeface="Arial"/>
                <a:ea typeface="Arial"/>
                <a:cs typeface="Arial"/>
                <a:sym typeface="Arial"/>
              </a:rPr>
              <a:t>Carpaccio  ↔  Tartare</a:t>
            </a:r>
            <a:endParaRPr sz="2200">
              <a:solidFill>
                <a:schemeClr val="dk1"/>
              </a:solidFill>
              <a:latin typeface="Calibri"/>
              <a:ea typeface="Calibri"/>
              <a:cs typeface="Calibri"/>
              <a:sym typeface="Calibri"/>
            </a:endParaRPr>
          </a:p>
        </p:txBody>
      </p:sp>
      <p:sp>
        <p:nvSpPr>
          <p:cNvPr id="60" name="Google Shape;60;p4"/>
          <p:cNvSpPr/>
          <p:nvPr/>
        </p:nvSpPr>
        <p:spPr>
          <a:xfrm>
            <a:off x="795528" y="576072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18198"/>
              </a:buClr>
              <a:buSzPts val="1300"/>
              <a:buFont typeface="Arial"/>
              <a:buNone/>
            </a:pPr>
            <a:r>
              <a:rPr lang="en-US" sz="1300">
                <a:solidFill>
                  <a:srgbClr val="718198"/>
                </a:solidFill>
                <a:latin typeface="Arial"/>
                <a:ea typeface="Arial"/>
                <a:cs typeface="Arial"/>
                <a:sym typeface="Arial"/>
              </a:rPr>
              <a:t>Illustrative difficult pairs — replace with real food-image examples if available.</a:t>
            </a:r>
            <a:endParaRPr sz="13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B"/>
        </a:solidFill>
      </p:bgPr>
    </p:bg>
    <p:spTree>
      <p:nvGrpSpPr>
        <p:cNvPr id="65" name="Shape 65"/>
        <p:cNvGrpSpPr/>
        <p:nvPr/>
      </p:nvGrpSpPr>
      <p:grpSpPr>
        <a:xfrm>
          <a:off x="0" y="0"/>
          <a:ext cx="0" cy="0"/>
          <a:chOff x="0" y="0"/>
          <a:chExt cx="0" cy="0"/>
        </a:xfrm>
      </p:grpSpPr>
      <p:sp>
        <p:nvSpPr>
          <p:cNvPr id="66" name="Google Shape;66;p5"/>
          <p:cNvSpPr/>
          <p:nvPr/>
        </p:nvSpPr>
        <p:spPr>
          <a:xfrm>
            <a:off x="0" y="0"/>
            <a:ext cx="109728" cy="6858000"/>
          </a:xfrm>
          <a:prstGeom prst="rect">
            <a:avLst/>
          </a:prstGeom>
          <a:solidFill>
            <a:srgbClr val="2B78E4"/>
          </a:solidFill>
          <a:ln cap="flat" cmpd="sng" w="12700">
            <a:solidFill>
              <a:srgbClr val="2B78E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 name="Google Shape;67;p5"/>
          <p:cNvSpPr/>
          <p:nvPr/>
        </p:nvSpPr>
        <p:spPr>
          <a:xfrm>
            <a:off x="566928" y="292608"/>
            <a:ext cx="9144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AE9A"/>
              </a:buClr>
              <a:buSzPts val="1000"/>
              <a:buFont typeface="Arial"/>
              <a:buNone/>
            </a:pPr>
            <a:r>
              <a:rPr b="1" lang="en-US" sz="1000">
                <a:solidFill>
                  <a:srgbClr val="0DAE9A"/>
                </a:solidFill>
                <a:latin typeface="Arial"/>
                <a:ea typeface="Arial"/>
                <a:cs typeface="Arial"/>
                <a:sym typeface="Arial"/>
              </a:rPr>
              <a:t>FOOD-101 · EXPERIMENT</a:t>
            </a:r>
            <a:endParaRPr sz="1000">
              <a:solidFill>
                <a:schemeClr val="dk1"/>
              </a:solidFill>
              <a:latin typeface="Calibri"/>
              <a:ea typeface="Calibri"/>
              <a:cs typeface="Calibri"/>
              <a:sym typeface="Calibri"/>
            </a:endParaRPr>
          </a:p>
        </p:txBody>
      </p:sp>
      <p:sp>
        <p:nvSpPr>
          <p:cNvPr id="68" name="Google Shape;68;p5"/>
          <p:cNvSpPr/>
          <p:nvPr/>
        </p:nvSpPr>
        <p:spPr>
          <a:xfrm>
            <a:off x="566928" y="713232"/>
            <a:ext cx="109728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01A2B"/>
              </a:buClr>
              <a:buSzPts val="2700"/>
              <a:buFont typeface="Arial"/>
              <a:buNone/>
            </a:pPr>
            <a:r>
              <a:rPr b="1" lang="en-US" sz="2700">
                <a:solidFill>
                  <a:srgbClr val="101A2B"/>
                </a:solidFill>
                <a:latin typeface="Arial"/>
                <a:ea typeface="Arial"/>
                <a:cs typeface="Arial"/>
                <a:sym typeface="Arial"/>
              </a:rPr>
              <a:t>Research question and targets</a:t>
            </a:r>
            <a:endParaRPr sz="2700">
              <a:solidFill>
                <a:schemeClr val="dk1"/>
              </a:solidFill>
              <a:latin typeface="Calibri"/>
              <a:ea typeface="Calibri"/>
              <a:cs typeface="Calibri"/>
              <a:sym typeface="Calibri"/>
            </a:endParaRPr>
          </a:p>
        </p:txBody>
      </p:sp>
      <p:cxnSp>
        <p:nvCxnSpPr>
          <p:cNvPr id="69" name="Google Shape;69;p5"/>
          <p:cNvCxnSpPr/>
          <p:nvPr/>
        </p:nvCxnSpPr>
        <p:spPr>
          <a:xfrm>
            <a:off x="566928" y="1353312"/>
            <a:ext cx="11018520" cy="0"/>
          </a:xfrm>
          <a:prstGeom prst="straightConnector1">
            <a:avLst/>
          </a:prstGeom>
          <a:noFill/>
          <a:ln cap="flat" cmpd="sng" w="12700">
            <a:solidFill>
              <a:srgbClr val="DEE5EF"/>
            </a:solidFill>
            <a:prstDash val="solid"/>
            <a:round/>
            <a:headEnd len="sm" w="sm" type="none"/>
            <a:tailEnd len="sm" w="sm" type="none"/>
          </a:ln>
        </p:spPr>
      </p:cxnSp>
      <p:sp>
        <p:nvSpPr>
          <p:cNvPr id="70" name="Google Shape;70;p5"/>
          <p:cNvSpPr/>
          <p:nvPr/>
        </p:nvSpPr>
        <p:spPr>
          <a:xfrm>
            <a:off x="11082528" y="6510528"/>
            <a:ext cx="502920" cy="16459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18198"/>
              </a:buClr>
              <a:buSzPts val="1000"/>
              <a:buFont typeface="Arial"/>
              <a:buNone/>
            </a:pPr>
            <a:r>
              <a:rPr lang="en-US" sz="1000">
                <a:solidFill>
                  <a:srgbClr val="718198"/>
                </a:solidFill>
                <a:latin typeface="Arial"/>
                <a:ea typeface="Arial"/>
                <a:cs typeface="Arial"/>
                <a:sym typeface="Arial"/>
              </a:rPr>
              <a:t>03</a:t>
            </a:r>
            <a:endParaRPr sz="1000">
              <a:solidFill>
                <a:schemeClr val="dk1"/>
              </a:solidFill>
              <a:latin typeface="Calibri"/>
              <a:ea typeface="Calibri"/>
              <a:cs typeface="Calibri"/>
              <a:sym typeface="Calibri"/>
            </a:endParaRPr>
          </a:p>
        </p:txBody>
      </p:sp>
      <p:sp>
        <p:nvSpPr>
          <p:cNvPr id="71" name="Google Shape;71;p5"/>
          <p:cNvSpPr/>
          <p:nvPr/>
        </p:nvSpPr>
        <p:spPr>
          <a:xfrm>
            <a:off x="731520" y="1874520"/>
            <a:ext cx="3566160" cy="2194560"/>
          </a:xfrm>
          <a:prstGeom prst="roundRect">
            <a:avLst>
              <a:gd fmla="val 5833" name="adj"/>
            </a:avLst>
          </a:prstGeom>
          <a:solidFill>
            <a:srgbClr val="FFFFFF"/>
          </a:solidFill>
          <a:ln cap="flat" cmpd="sng" w="12700">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 name="Google Shape;72;p5"/>
          <p:cNvSpPr/>
          <p:nvPr/>
        </p:nvSpPr>
        <p:spPr>
          <a:xfrm>
            <a:off x="941832" y="2130552"/>
            <a:ext cx="1133856" cy="310896"/>
          </a:xfrm>
          <a:prstGeom prst="roundRect">
            <a:avLst>
              <a:gd fmla="val 41176" name="adj"/>
            </a:avLst>
          </a:prstGeom>
          <a:solidFill>
            <a:srgbClr val="E8F2FF"/>
          </a:solidFill>
          <a:ln cap="flat" cmpd="sng" w="12700">
            <a:solidFill>
              <a:srgbClr val="E8F2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 name="Google Shape;73;p5"/>
          <p:cNvSpPr/>
          <p:nvPr/>
        </p:nvSpPr>
        <p:spPr>
          <a:xfrm>
            <a:off x="1033272" y="2167128"/>
            <a:ext cx="95097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78E4"/>
              </a:buClr>
              <a:buSzPts val="1100"/>
              <a:buFont typeface="Arial"/>
              <a:buNone/>
            </a:pPr>
            <a:r>
              <a:rPr b="1" lang="en-US" sz="1100">
                <a:solidFill>
                  <a:srgbClr val="2B78E4"/>
                </a:solidFill>
                <a:latin typeface="Arial"/>
                <a:ea typeface="Arial"/>
                <a:cs typeface="Arial"/>
                <a:sym typeface="Arial"/>
              </a:rPr>
              <a:t>BASELINE</a:t>
            </a:r>
            <a:endParaRPr sz="1100">
              <a:solidFill>
                <a:schemeClr val="dk1"/>
              </a:solidFill>
              <a:latin typeface="Calibri"/>
              <a:ea typeface="Calibri"/>
              <a:cs typeface="Calibri"/>
              <a:sym typeface="Calibri"/>
            </a:endParaRPr>
          </a:p>
        </p:txBody>
      </p:sp>
      <p:sp>
        <p:nvSpPr>
          <p:cNvPr id="74" name="Google Shape;74;p5"/>
          <p:cNvSpPr/>
          <p:nvPr/>
        </p:nvSpPr>
        <p:spPr>
          <a:xfrm>
            <a:off x="941832" y="2697480"/>
            <a:ext cx="310896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3148"/>
              </a:buClr>
              <a:buSzPts val="2400"/>
              <a:buFont typeface="Arial"/>
              <a:buNone/>
            </a:pPr>
            <a:r>
              <a:rPr b="1" lang="en-US" sz="2400">
                <a:solidFill>
                  <a:srgbClr val="203148"/>
                </a:solidFill>
                <a:latin typeface="Arial"/>
                <a:ea typeface="Arial"/>
                <a:cs typeface="Arial"/>
                <a:sym typeface="Arial"/>
              </a:rPr>
              <a:t>4-block CNN</a:t>
            </a:r>
            <a:endParaRPr sz="2400">
              <a:solidFill>
                <a:schemeClr val="dk1"/>
              </a:solidFill>
              <a:latin typeface="Calibri"/>
              <a:ea typeface="Calibri"/>
              <a:cs typeface="Calibri"/>
              <a:sym typeface="Calibri"/>
            </a:endParaRPr>
          </a:p>
        </p:txBody>
      </p:sp>
      <p:sp>
        <p:nvSpPr>
          <p:cNvPr id="75" name="Google Shape;75;p5"/>
          <p:cNvSpPr/>
          <p:nvPr/>
        </p:nvSpPr>
        <p:spPr>
          <a:xfrm>
            <a:off x="941832" y="3264408"/>
            <a:ext cx="3017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18198"/>
              </a:buClr>
              <a:buSzPts val="1600"/>
              <a:buFont typeface="Arial"/>
              <a:buNone/>
            </a:pPr>
            <a:r>
              <a:rPr lang="en-US" sz="1600">
                <a:solidFill>
                  <a:srgbClr val="718198"/>
                </a:solidFill>
                <a:latin typeface="Arial"/>
                <a:ea typeface="Arial"/>
                <a:cs typeface="Arial"/>
                <a:sym typeface="Arial"/>
              </a:rPr>
              <a:t>Randomly initialized</a:t>
            </a:r>
            <a:endParaRPr sz="1600">
              <a:solidFill>
                <a:schemeClr val="dk1"/>
              </a:solidFill>
              <a:latin typeface="Calibri"/>
              <a:ea typeface="Calibri"/>
              <a:cs typeface="Calibri"/>
              <a:sym typeface="Calibri"/>
            </a:endParaRPr>
          </a:p>
        </p:txBody>
      </p:sp>
      <p:sp>
        <p:nvSpPr>
          <p:cNvPr id="76" name="Google Shape;76;p5"/>
          <p:cNvSpPr/>
          <p:nvPr/>
        </p:nvSpPr>
        <p:spPr>
          <a:xfrm>
            <a:off x="4526280" y="1874520"/>
            <a:ext cx="3566160" cy="2194560"/>
          </a:xfrm>
          <a:prstGeom prst="roundRect">
            <a:avLst>
              <a:gd fmla="val 5833" name="adj"/>
            </a:avLst>
          </a:prstGeom>
          <a:solidFill>
            <a:srgbClr val="FFFFFF"/>
          </a:solidFill>
          <a:ln cap="flat" cmpd="sng" w="12700">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 name="Google Shape;77;p5"/>
          <p:cNvSpPr/>
          <p:nvPr/>
        </p:nvSpPr>
        <p:spPr>
          <a:xfrm>
            <a:off x="4736592" y="2130552"/>
            <a:ext cx="1133856" cy="310896"/>
          </a:xfrm>
          <a:prstGeom prst="roundRect">
            <a:avLst>
              <a:gd fmla="val 41176" name="adj"/>
            </a:avLst>
          </a:prstGeom>
          <a:solidFill>
            <a:srgbClr val="E8F2FF"/>
          </a:solidFill>
          <a:ln cap="flat" cmpd="sng" w="12700">
            <a:solidFill>
              <a:srgbClr val="E8F2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 name="Google Shape;78;p5"/>
          <p:cNvSpPr/>
          <p:nvPr/>
        </p:nvSpPr>
        <p:spPr>
          <a:xfrm>
            <a:off x="4828032" y="2167128"/>
            <a:ext cx="95097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78E4"/>
              </a:buClr>
              <a:buSzPts val="1100"/>
              <a:buFont typeface="Arial"/>
              <a:buNone/>
            </a:pPr>
            <a:r>
              <a:rPr b="1" lang="en-US" sz="1100">
                <a:solidFill>
                  <a:srgbClr val="2B78E4"/>
                </a:solidFill>
                <a:latin typeface="Arial"/>
                <a:ea typeface="Arial"/>
                <a:cs typeface="Arial"/>
                <a:sym typeface="Arial"/>
              </a:rPr>
              <a:t>TRANSFER</a:t>
            </a:r>
            <a:endParaRPr sz="1100">
              <a:solidFill>
                <a:schemeClr val="dk1"/>
              </a:solidFill>
              <a:latin typeface="Calibri"/>
              <a:ea typeface="Calibri"/>
              <a:cs typeface="Calibri"/>
              <a:sym typeface="Calibri"/>
            </a:endParaRPr>
          </a:p>
        </p:txBody>
      </p:sp>
      <p:sp>
        <p:nvSpPr>
          <p:cNvPr id="79" name="Google Shape;79;p5"/>
          <p:cNvSpPr/>
          <p:nvPr/>
        </p:nvSpPr>
        <p:spPr>
          <a:xfrm>
            <a:off x="4736592" y="2697480"/>
            <a:ext cx="310896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3148"/>
              </a:buClr>
              <a:buSzPts val="2400"/>
              <a:buFont typeface="Arial"/>
              <a:buNone/>
            </a:pPr>
            <a:r>
              <a:rPr b="1" lang="en-US" sz="2400">
                <a:solidFill>
                  <a:srgbClr val="203148"/>
                </a:solidFill>
                <a:latin typeface="Arial"/>
                <a:ea typeface="Arial"/>
                <a:cs typeface="Arial"/>
                <a:sym typeface="Arial"/>
              </a:rPr>
              <a:t>ResNet-50</a:t>
            </a:r>
            <a:endParaRPr sz="2400">
              <a:solidFill>
                <a:schemeClr val="dk1"/>
              </a:solidFill>
              <a:latin typeface="Calibri"/>
              <a:ea typeface="Calibri"/>
              <a:cs typeface="Calibri"/>
              <a:sym typeface="Calibri"/>
            </a:endParaRPr>
          </a:p>
        </p:txBody>
      </p:sp>
      <p:sp>
        <p:nvSpPr>
          <p:cNvPr id="80" name="Google Shape;80;p5"/>
          <p:cNvSpPr/>
          <p:nvPr/>
        </p:nvSpPr>
        <p:spPr>
          <a:xfrm>
            <a:off x="4736592" y="3264408"/>
            <a:ext cx="3017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18198"/>
              </a:buClr>
              <a:buSzPts val="1600"/>
              <a:buFont typeface="Arial"/>
              <a:buNone/>
            </a:pPr>
            <a:r>
              <a:rPr lang="en-US" sz="1600">
                <a:solidFill>
                  <a:srgbClr val="718198"/>
                </a:solidFill>
                <a:latin typeface="Arial"/>
                <a:ea typeface="Arial"/>
                <a:cs typeface="Arial"/>
                <a:sym typeface="Arial"/>
              </a:rPr>
              <a:t>ImageNet pretrained</a:t>
            </a:r>
            <a:endParaRPr sz="1600">
              <a:solidFill>
                <a:schemeClr val="dk1"/>
              </a:solidFill>
              <a:latin typeface="Calibri"/>
              <a:ea typeface="Calibri"/>
              <a:cs typeface="Calibri"/>
              <a:sym typeface="Calibri"/>
            </a:endParaRPr>
          </a:p>
        </p:txBody>
      </p:sp>
      <p:sp>
        <p:nvSpPr>
          <p:cNvPr id="81" name="Google Shape;81;p5"/>
          <p:cNvSpPr/>
          <p:nvPr/>
        </p:nvSpPr>
        <p:spPr>
          <a:xfrm>
            <a:off x="8321040" y="1874520"/>
            <a:ext cx="3566160" cy="2194560"/>
          </a:xfrm>
          <a:prstGeom prst="roundRect">
            <a:avLst>
              <a:gd fmla="val 5833" name="adj"/>
            </a:avLst>
          </a:prstGeom>
          <a:solidFill>
            <a:srgbClr val="FFFFFF"/>
          </a:solidFill>
          <a:ln cap="flat" cmpd="sng" w="12700">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 name="Google Shape;82;p5"/>
          <p:cNvSpPr/>
          <p:nvPr/>
        </p:nvSpPr>
        <p:spPr>
          <a:xfrm>
            <a:off x="8531352" y="2130552"/>
            <a:ext cx="1133856" cy="310896"/>
          </a:xfrm>
          <a:prstGeom prst="roundRect">
            <a:avLst>
              <a:gd fmla="val 41176" name="adj"/>
            </a:avLst>
          </a:prstGeom>
          <a:solidFill>
            <a:srgbClr val="E8F2FF"/>
          </a:solidFill>
          <a:ln cap="flat" cmpd="sng" w="12700">
            <a:solidFill>
              <a:srgbClr val="E8F2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 name="Google Shape;83;p5"/>
          <p:cNvSpPr/>
          <p:nvPr/>
        </p:nvSpPr>
        <p:spPr>
          <a:xfrm>
            <a:off x="8622792" y="2167128"/>
            <a:ext cx="95097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78E4"/>
              </a:buClr>
              <a:buSzPts val="1100"/>
              <a:buFont typeface="Arial"/>
              <a:buNone/>
            </a:pPr>
            <a:r>
              <a:rPr b="1" lang="en-US" sz="1100">
                <a:solidFill>
                  <a:srgbClr val="2B78E4"/>
                </a:solidFill>
                <a:latin typeface="Arial"/>
                <a:ea typeface="Arial"/>
                <a:cs typeface="Arial"/>
                <a:sym typeface="Arial"/>
              </a:rPr>
              <a:t>EVALUATION</a:t>
            </a:r>
            <a:endParaRPr sz="1100">
              <a:solidFill>
                <a:schemeClr val="dk1"/>
              </a:solidFill>
              <a:latin typeface="Calibri"/>
              <a:ea typeface="Calibri"/>
              <a:cs typeface="Calibri"/>
              <a:sym typeface="Calibri"/>
            </a:endParaRPr>
          </a:p>
        </p:txBody>
      </p:sp>
      <p:sp>
        <p:nvSpPr>
          <p:cNvPr id="84" name="Google Shape;84;p5"/>
          <p:cNvSpPr/>
          <p:nvPr/>
        </p:nvSpPr>
        <p:spPr>
          <a:xfrm>
            <a:off x="8531352" y="2697480"/>
            <a:ext cx="310896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3148"/>
              </a:buClr>
              <a:buSzPts val="2400"/>
              <a:buFont typeface="Arial"/>
              <a:buNone/>
            </a:pPr>
            <a:r>
              <a:rPr b="1" lang="en-US" sz="2400">
                <a:solidFill>
                  <a:srgbClr val="203148"/>
                </a:solidFill>
                <a:latin typeface="Arial"/>
                <a:ea typeface="Arial"/>
                <a:cs typeface="Arial"/>
                <a:sym typeface="Arial"/>
              </a:rPr>
              <a:t>Test accuracy</a:t>
            </a:r>
            <a:endParaRPr sz="2400">
              <a:solidFill>
                <a:schemeClr val="dk1"/>
              </a:solidFill>
              <a:latin typeface="Calibri"/>
              <a:ea typeface="Calibri"/>
              <a:cs typeface="Calibri"/>
              <a:sym typeface="Calibri"/>
            </a:endParaRPr>
          </a:p>
        </p:txBody>
      </p:sp>
      <p:sp>
        <p:nvSpPr>
          <p:cNvPr id="85" name="Google Shape;85;p5"/>
          <p:cNvSpPr/>
          <p:nvPr/>
        </p:nvSpPr>
        <p:spPr>
          <a:xfrm>
            <a:off x="8531352" y="3264408"/>
            <a:ext cx="3017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18198"/>
              </a:buClr>
              <a:buSzPts val="1600"/>
              <a:buFont typeface="Arial"/>
              <a:buNone/>
            </a:pPr>
            <a:r>
              <a:rPr lang="en-US" sz="1600">
                <a:solidFill>
                  <a:srgbClr val="718198"/>
                </a:solidFill>
                <a:latin typeface="Arial"/>
                <a:ea typeface="Arial"/>
                <a:cs typeface="Arial"/>
                <a:sym typeface="Arial"/>
              </a:rPr>
              <a:t>Plus per-class accuracy</a:t>
            </a:r>
            <a:endParaRPr sz="1600">
              <a:solidFill>
                <a:schemeClr val="dk1"/>
              </a:solidFill>
              <a:latin typeface="Calibri"/>
              <a:ea typeface="Calibri"/>
              <a:cs typeface="Calibri"/>
              <a:sym typeface="Calibri"/>
            </a:endParaRPr>
          </a:p>
        </p:txBody>
      </p:sp>
      <p:sp>
        <p:nvSpPr>
          <p:cNvPr id="86" name="Google Shape;86;p5"/>
          <p:cNvSpPr/>
          <p:nvPr/>
        </p:nvSpPr>
        <p:spPr>
          <a:xfrm>
            <a:off x="731520" y="4617720"/>
            <a:ext cx="10917936" cy="868680"/>
          </a:xfrm>
          <a:prstGeom prst="roundRect">
            <a:avLst>
              <a:gd fmla="val 14737" name="adj"/>
            </a:avLst>
          </a:prstGeom>
          <a:solidFill>
            <a:srgbClr val="101A2B"/>
          </a:solidFill>
          <a:ln cap="flat" cmpd="sng" w="12700">
            <a:solidFill>
              <a:srgbClr val="101A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 name="Google Shape;87;p5"/>
          <p:cNvSpPr/>
          <p:nvPr/>
        </p:nvSpPr>
        <p:spPr>
          <a:xfrm>
            <a:off x="1024128" y="4882896"/>
            <a:ext cx="1024128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Arial"/>
              <a:buNone/>
            </a:pPr>
            <a:r>
              <a:rPr b="1" lang="en-US" sz="2200">
                <a:solidFill>
                  <a:srgbClr val="FFFFFF"/>
                </a:solidFill>
                <a:latin typeface="Arial"/>
                <a:ea typeface="Arial"/>
                <a:cs typeface="Arial"/>
                <a:sym typeface="Arial"/>
              </a:rPr>
              <a:t>Chance level  =  1 / 21  =  4.76%</a:t>
            </a:r>
            <a:endParaRPr sz="22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B"/>
        </a:solidFill>
      </p:bgPr>
    </p:bg>
    <p:spTree>
      <p:nvGrpSpPr>
        <p:cNvPr id="92" name="Shape 92"/>
        <p:cNvGrpSpPr/>
        <p:nvPr/>
      </p:nvGrpSpPr>
      <p:grpSpPr>
        <a:xfrm>
          <a:off x="0" y="0"/>
          <a:ext cx="0" cy="0"/>
          <a:chOff x="0" y="0"/>
          <a:chExt cx="0" cy="0"/>
        </a:xfrm>
      </p:grpSpPr>
      <p:sp>
        <p:nvSpPr>
          <p:cNvPr id="93" name="Google Shape;93;p6"/>
          <p:cNvSpPr/>
          <p:nvPr/>
        </p:nvSpPr>
        <p:spPr>
          <a:xfrm>
            <a:off x="0" y="0"/>
            <a:ext cx="109728" cy="6858000"/>
          </a:xfrm>
          <a:prstGeom prst="rect">
            <a:avLst/>
          </a:prstGeom>
          <a:solidFill>
            <a:srgbClr val="2B78E4"/>
          </a:solidFill>
          <a:ln cap="flat" cmpd="sng" w="12700">
            <a:solidFill>
              <a:srgbClr val="2B78E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6"/>
          <p:cNvSpPr/>
          <p:nvPr/>
        </p:nvSpPr>
        <p:spPr>
          <a:xfrm>
            <a:off x="566928" y="292608"/>
            <a:ext cx="9144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AE9A"/>
              </a:buClr>
              <a:buSzPts val="1000"/>
              <a:buFont typeface="Arial"/>
              <a:buNone/>
            </a:pPr>
            <a:r>
              <a:rPr b="1" lang="en-US" sz="1000">
                <a:solidFill>
                  <a:srgbClr val="0DAE9A"/>
                </a:solidFill>
                <a:latin typeface="Arial"/>
                <a:ea typeface="Arial"/>
                <a:cs typeface="Arial"/>
                <a:sym typeface="Arial"/>
              </a:rPr>
              <a:t>FOOD-101 · EXPERIMENT</a:t>
            </a:r>
            <a:endParaRPr sz="1000">
              <a:solidFill>
                <a:schemeClr val="dk1"/>
              </a:solidFill>
              <a:latin typeface="Calibri"/>
              <a:ea typeface="Calibri"/>
              <a:cs typeface="Calibri"/>
              <a:sym typeface="Calibri"/>
            </a:endParaRPr>
          </a:p>
        </p:txBody>
      </p:sp>
      <p:sp>
        <p:nvSpPr>
          <p:cNvPr id="95" name="Google Shape;95;p6"/>
          <p:cNvSpPr/>
          <p:nvPr/>
        </p:nvSpPr>
        <p:spPr>
          <a:xfrm>
            <a:off x="566928" y="713232"/>
            <a:ext cx="109728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01A2B"/>
              </a:buClr>
              <a:buSzPts val="2700"/>
              <a:buFont typeface="Arial"/>
              <a:buNone/>
            </a:pPr>
            <a:r>
              <a:rPr b="1" lang="en-US" sz="2700">
                <a:solidFill>
                  <a:srgbClr val="101A2B"/>
                </a:solidFill>
                <a:latin typeface="Arial"/>
                <a:ea typeface="Arial"/>
                <a:cs typeface="Arial"/>
                <a:sym typeface="Arial"/>
              </a:rPr>
              <a:t>Literature: what has been reported?</a:t>
            </a:r>
            <a:endParaRPr sz="2700">
              <a:solidFill>
                <a:schemeClr val="dk1"/>
              </a:solidFill>
              <a:latin typeface="Calibri"/>
              <a:ea typeface="Calibri"/>
              <a:cs typeface="Calibri"/>
              <a:sym typeface="Calibri"/>
            </a:endParaRPr>
          </a:p>
        </p:txBody>
      </p:sp>
      <p:cxnSp>
        <p:nvCxnSpPr>
          <p:cNvPr id="96" name="Google Shape;96;p6"/>
          <p:cNvCxnSpPr/>
          <p:nvPr/>
        </p:nvCxnSpPr>
        <p:spPr>
          <a:xfrm>
            <a:off x="566928" y="1353312"/>
            <a:ext cx="11018520" cy="0"/>
          </a:xfrm>
          <a:prstGeom prst="straightConnector1">
            <a:avLst/>
          </a:prstGeom>
          <a:noFill/>
          <a:ln cap="flat" cmpd="sng" w="12700">
            <a:solidFill>
              <a:srgbClr val="DEE5EF"/>
            </a:solidFill>
            <a:prstDash val="solid"/>
            <a:round/>
            <a:headEnd len="sm" w="sm" type="none"/>
            <a:tailEnd len="sm" w="sm" type="none"/>
          </a:ln>
        </p:spPr>
      </p:cxnSp>
      <p:sp>
        <p:nvSpPr>
          <p:cNvPr id="97" name="Google Shape;97;p6"/>
          <p:cNvSpPr/>
          <p:nvPr/>
        </p:nvSpPr>
        <p:spPr>
          <a:xfrm>
            <a:off x="11082528" y="6510528"/>
            <a:ext cx="502920" cy="16459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18198"/>
              </a:buClr>
              <a:buSzPts val="1000"/>
              <a:buFont typeface="Arial"/>
              <a:buNone/>
            </a:pPr>
            <a:r>
              <a:rPr lang="en-US" sz="1000">
                <a:solidFill>
                  <a:srgbClr val="718198"/>
                </a:solidFill>
                <a:latin typeface="Arial"/>
                <a:ea typeface="Arial"/>
                <a:cs typeface="Arial"/>
                <a:sym typeface="Arial"/>
              </a:rPr>
              <a:t>04</a:t>
            </a:r>
            <a:endParaRPr sz="1000">
              <a:solidFill>
                <a:schemeClr val="dk1"/>
              </a:solidFill>
              <a:latin typeface="Calibri"/>
              <a:ea typeface="Calibri"/>
              <a:cs typeface="Calibri"/>
              <a:sym typeface="Calibri"/>
            </a:endParaRPr>
          </a:p>
        </p:txBody>
      </p:sp>
      <p:sp>
        <p:nvSpPr>
          <p:cNvPr id="98" name="Google Shape;98;p6"/>
          <p:cNvSpPr/>
          <p:nvPr/>
        </p:nvSpPr>
        <p:spPr>
          <a:xfrm>
            <a:off x="667512" y="1737360"/>
            <a:ext cx="2185416" cy="475488"/>
          </a:xfrm>
          <a:prstGeom prst="rect">
            <a:avLst/>
          </a:prstGeom>
          <a:solidFill>
            <a:srgbClr val="101A2B"/>
          </a:solidFill>
          <a:ln cap="flat" cmpd="sng" w="9525">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6"/>
          <p:cNvSpPr/>
          <p:nvPr/>
        </p:nvSpPr>
        <p:spPr>
          <a:xfrm>
            <a:off x="758952" y="1801368"/>
            <a:ext cx="200253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Paper</a:t>
            </a:r>
            <a:endParaRPr sz="1500">
              <a:solidFill>
                <a:schemeClr val="dk1"/>
              </a:solidFill>
              <a:latin typeface="Calibri"/>
              <a:ea typeface="Calibri"/>
              <a:cs typeface="Calibri"/>
              <a:sym typeface="Calibri"/>
            </a:endParaRPr>
          </a:p>
        </p:txBody>
      </p:sp>
      <p:sp>
        <p:nvSpPr>
          <p:cNvPr id="100" name="Google Shape;100;p6"/>
          <p:cNvSpPr/>
          <p:nvPr/>
        </p:nvSpPr>
        <p:spPr>
          <a:xfrm>
            <a:off x="2852928" y="1737360"/>
            <a:ext cx="1201979" cy="475488"/>
          </a:xfrm>
          <a:prstGeom prst="rect">
            <a:avLst/>
          </a:prstGeom>
          <a:solidFill>
            <a:srgbClr val="101A2B"/>
          </a:solidFill>
          <a:ln cap="flat" cmpd="sng" w="9525">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 name="Google Shape;101;p6"/>
          <p:cNvSpPr/>
          <p:nvPr/>
        </p:nvSpPr>
        <p:spPr>
          <a:xfrm>
            <a:off x="2944368" y="1801368"/>
            <a:ext cx="101909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Year</a:t>
            </a:r>
            <a:endParaRPr sz="1500">
              <a:solidFill>
                <a:schemeClr val="dk1"/>
              </a:solidFill>
              <a:latin typeface="Calibri"/>
              <a:ea typeface="Calibri"/>
              <a:cs typeface="Calibri"/>
              <a:sym typeface="Calibri"/>
            </a:endParaRPr>
          </a:p>
        </p:txBody>
      </p:sp>
      <p:sp>
        <p:nvSpPr>
          <p:cNvPr id="102" name="Google Shape;102;p6"/>
          <p:cNvSpPr/>
          <p:nvPr/>
        </p:nvSpPr>
        <p:spPr>
          <a:xfrm>
            <a:off x="4054907" y="1737360"/>
            <a:ext cx="4261561" cy="475488"/>
          </a:xfrm>
          <a:prstGeom prst="rect">
            <a:avLst/>
          </a:prstGeom>
          <a:solidFill>
            <a:srgbClr val="101A2B"/>
          </a:solidFill>
          <a:ln cap="flat" cmpd="sng" w="9525">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 name="Google Shape;103;p6"/>
          <p:cNvSpPr/>
          <p:nvPr/>
        </p:nvSpPr>
        <p:spPr>
          <a:xfrm>
            <a:off x="4146347" y="1801368"/>
            <a:ext cx="4078681"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Method</a:t>
            </a:r>
            <a:endParaRPr sz="1500">
              <a:solidFill>
                <a:schemeClr val="dk1"/>
              </a:solidFill>
              <a:latin typeface="Calibri"/>
              <a:ea typeface="Calibri"/>
              <a:cs typeface="Calibri"/>
              <a:sym typeface="Calibri"/>
            </a:endParaRPr>
          </a:p>
        </p:txBody>
      </p:sp>
      <p:sp>
        <p:nvSpPr>
          <p:cNvPr id="104" name="Google Shape;104;p6"/>
          <p:cNvSpPr/>
          <p:nvPr/>
        </p:nvSpPr>
        <p:spPr>
          <a:xfrm>
            <a:off x="8316468" y="1737360"/>
            <a:ext cx="1311250" cy="475488"/>
          </a:xfrm>
          <a:prstGeom prst="rect">
            <a:avLst/>
          </a:prstGeom>
          <a:solidFill>
            <a:srgbClr val="101A2B"/>
          </a:solidFill>
          <a:ln cap="flat" cmpd="sng" w="9525">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 name="Google Shape;105;p6"/>
          <p:cNvSpPr/>
          <p:nvPr/>
        </p:nvSpPr>
        <p:spPr>
          <a:xfrm>
            <a:off x="8407908" y="1801368"/>
            <a:ext cx="112837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Classes</a:t>
            </a:r>
            <a:endParaRPr sz="1500">
              <a:solidFill>
                <a:schemeClr val="dk1"/>
              </a:solidFill>
              <a:latin typeface="Calibri"/>
              <a:ea typeface="Calibri"/>
              <a:cs typeface="Calibri"/>
              <a:sym typeface="Calibri"/>
            </a:endParaRPr>
          </a:p>
        </p:txBody>
      </p:sp>
      <p:sp>
        <p:nvSpPr>
          <p:cNvPr id="106" name="Google Shape;106;p6"/>
          <p:cNvSpPr/>
          <p:nvPr/>
        </p:nvSpPr>
        <p:spPr>
          <a:xfrm>
            <a:off x="9627718" y="1737360"/>
            <a:ext cx="1966874" cy="475488"/>
          </a:xfrm>
          <a:prstGeom prst="rect">
            <a:avLst/>
          </a:prstGeom>
          <a:solidFill>
            <a:srgbClr val="101A2B"/>
          </a:solidFill>
          <a:ln cap="flat" cmpd="sng" w="9525">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 name="Google Shape;107;p6"/>
          <p:cNvSpPr/>
          <p:nvPr/>
        </p:nvSpPr>
        <p:spPr>
          <a:xfrm>
            <a:off x="9719158" y="1801368"/>
            <a:ext cx="178399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Accuracy</a:t>
            </a:r>
            <a:endParaRPr sz="1500">
              <a:solidFill>
                <a:schemeClr val="dk1"/>
              </a:solidFill>
              <a:latin typeface="Calibri"/>
              <a:ea typeface="Calibri"/>
              <a:cs typeface="Calibri"/>
              <a:sym typeface="Calibri"/>
            </a:endParaRPr>
          </a:p>
        </p:txBody>
      </p:sp>
      <p:sp>
        <p:nvSpPr>
          <p:cNvPr id="108" name="Google Shape;108;p6"/>
          <p:cNvSpPr/>
          <p:nvPr/>
        </p:nvSpPr>
        <p:spPr>
          <a:xfrm>
            <a:off x="667512" y="2212848"/>
            <a:ext cx="2185416" cy="676656"/>
          </a:xfrm>
          <a:prstGeom prst="rect">
            <a:avLst/>
          </a:prstGeom>
          <a:solidFill>
            <a:srgbClr val="FFFFFF"/>
          </a:solidFill>
          <a:ln cap="flat" cmpd="sng" w="9525">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 name="Google Shape;109;p6"/>
          <p:cNvSpPr/>
          <p:nvPr/>
        </p:nvSpPr>
        <p:spPr>
          <a:xfrm>
            <a:off x="758952" y="2276856"/>
            <a:ext cx="2002536"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3148"/>
              </a:buClr>
              <a:buSzPts val="1500"/>
              <a:buFont typeface="Arial"/>
              <a:buNone/>
            </a:pPr>
            <a:r>
              <a:rPr lang="en-US" sz="1500">
                <a:solidFill>
                  <a:srgbClr val="203148"/>
                </a:solidFill>
                <a:latin typeface="Arial"/>
                <a:ea typeface="Arial"/>
                <a:cs typeface="Arial"/>
                <a:sym typeface="Arial"/>
              </a:rPr>
              <a:t>Bossard et al.</a:t>
            </a:r>
            <a:endParaRPr sz="1500">
              <a:solidFill>
                <a:schemeClr val="dk1"/>
              </a:solidFill>
              <a:latin typeface="Calibri"/>
              <a:ea typeface="Calibri"/>
              <a:cs typeface="Calibri"/>
              <a:sym typeface="Calibri"/>
            </a:endParaRPr>
          </a:p>
        </p:txBody>
      </p:sp>
      <p:sp>
        <p:nvSpPr>
          <p:cNvPr id="110" name="Google Shape;110;p6"/>
          <p:cNvSpPr/>
          <p:nvPr/>
        </p:nvSpPr>
        <p:spPr>
          <a:xfrm>
            <a:off x="2852928" y="2212848"/>
            <a:ext cx="1201979" cy="676656"/>
          </a:xfrm>
          <a:prstGeom prst="rect">
            <a:avLst/>
          </a:prstGeom>
          <a:solidFill>
            <a:srgbClr val="FFFFFF"/>
          </a:solidFill>
          <a:ln cap="flat" cmpd="sng" w="9525">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6"/>
          <p:cNvSpPr/>
          <p:nvPr/>
        </p:nvSpPr>
        <p:spPr>
          <a:xfrm>
            <a:off x="2944368" y="2276856"/>
            <a:ext cx="1019099"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3148"/>
              </a:buClr>
              <a:buSzPts val="1500"/>
              <a:buFont typeface="Arial"/>
              <a:buNone/>
            </a:pPr>
            <a:r>
              <a:rPr lang="en-US" sz="1500">
                <a:solidFill>
                  <a:srgbClr val="203148"/>
                </a:solidFill>
                <a:latin typeface="Arial"/>
                <a:ea typeface="Arial"/>
                <a:cs typeface="Arial"/>
                <a:sym typeface="Arial"/>
              </a:rPr>
              <a:t>2014</a:t>
            </a:r>
            <a:endParaRPr sz="1500">
              <a:solidFill>
                <a:schemeClr val="dk1"/>
              </a:solidFill>
              <a:latin typeface="Calibri"/>
              <a:ea typeface="Calibri"/>
              <a:cs typeface="Calibri"/>
              <a:sym typeface="Calibri"/>
            </a:endParaRPr>
          </a:p>
        </p:txBody>
      </p:sp>
      <p:sp>
        <p:nvSpPr>
          <p:cNvPr id="112" name="Google Shape;112;p6"/>
          <p:cNvSpPr/>
          <p:nvPr/>
        </p:nvSpPr>
        <p:spPr>
          <a:xfrm>
            <a:off x="4054907" y="2212848"/>
            <a:ext cx="4261561" cy="676656"/>
          </a:xfrm>
          <a:prstGeom prst="rect">
            <a:avLst/>
          </a:prstGeom>
          <a:solidFill>
            <a:srgbClr val="FFFFFF"/>
          </a:solidFill>
          <a:ln cap="flat" cmpd="sng" w="9525">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 name="Google Shape;113;p6"/>
          <p:cNvSpPr/>
          <p:nvPr/>
        </p:nvSpPr>
        <p:spPr>
          <a:xfrm>
            <a:off x="4146347" y="2276856"/>
            <a:ext cx="4078681"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3148"/>
              </a:buClr>
              <a:buSzPts val="1500"/>
              <a:buFont typeface="Arial"/>
              <a:buNone/>
            </a:pPr>
            <a:r>
              <a:rPr lang="en-US" sz="1500">
                <a:solidFill>
                  <a:srgbClr val="203148"/>
                </a:solidFill>
                <a:latin typeface="Arial"/>
                <a:ea typeface="Arial"/>
                <a:cs typeface="Arial"/>
                <a:sym typeface="Arial"/>
              </a:rPr>
              <a:t>Random forest component mining</a:t>
            </a:r>
            <a:endParaRPr sz="1500">
              <a:solidFill>
                <a:schemeClr val="dk1"/>
              </a:solidFill>
              <a:latin typeface="Calibri"/>
              <a:ea typeface="Calibri"/>
              <a:cs typeface="Calibri"/>
              <a:sym typeface="Calibri"/>
            </a:endParaRPr>
          </a:p>
        </p:txBody>
      </p:sp>
      <p:sp>
        <p:nvSpPr>
          <p:cNvPr id="114" name="Google Shape;114;p6"/>
          <p:cNvSpPr/>
          <p:nvPr/>
        </p:nvSpPr>
        <p:spPr>
          <a:xfrm>
            <a:off x="8316468" y="2212848"/>
            <a:ext cx="1311250" cy="676656"/>
          </a:xfrm>
          <a:prstGeom prst="rect">
            <a:avLst/>
          </a:prstGeom>
          <a:solidFill>
            <a:srgbClr val="FFFFFF"/>
          </a:solidFill>
          <a:ln cap="flat" cmpd="sng" w="9525">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 name="Google Shape;115;p6"/>
          <p:cNvSpPr/>
          <p:nvPr/>
        </p:nvSpPr>
        <p:spPr>
          <a:xfrm>
            <a:off x="8407908" y="2276856"/>
            <a:ext cx="112837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3148"/>
              </a:buClr>
              <a:buSzPts val="1500"/>
              <a:buFont typeface="Arial"/>
              <a:buNone/>
            </a:pPr>
            <a:r>
              <a:rPr lang="en-US" sz="1500">
                <a:solidFill>
                  <a:srgbClr val="203148"/>
                </a:solidFill>
                <a:latin typeface="Arial"/>
                <a:ea typeface="Arial"/>
                <a:cs typeface="Arial"/>
                <a:sym typeface="Arial"/>
              </a:rPr>
              <a:t>101</a:t>
            </a:r>
            <a:endParaRPr sz="1500">
              <a:solidFill>
                <a:schemeClr val="dk1"/>
              </a:solidFill>
              <a:latin typeface="Calibri"/>
              <a:ea typeface="Calibri"/>
              <a:cs typeface="Calibri"/>
              <a:sym typeface="Calibri"/>
            </a:endParaRPr>
          </a:p>
        </p:txBody>
      </p:sp>
      <p:sp>
        <p:nvSpPr>
          <p:cNvPr id="116" name="Google Shape;116;p6"/>
          <p:cNvSpPr/>
          <p:nvPr/>
        </p:nvSpPr>
        <p:spPr>
          <a:xfrm>
            <a:off x="9627718" y="2212848"/>
            <a:ext cx="1966874" cy="676656"/>
          </a:xfrm>
          <a:prstGeom prst="rect">
            <a:avLst/>
          </a:prstGeom>
          <a:solidFill>
            <a:srgbClr val="FFFFFF"/>
          </a:solidFill>
          <a:ln cap="flat" cmpd="sng" w="9525">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6"/>
          <p:cNvSpPr/>
          <p:nvPr/>
        </p:nvSpPr>
        <p:spPr>
          <a:xfrm>
            <a:off x="9719158" y="2276856"/>
            <a:ext cx="178399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3148"/>
              </a:buClr>
              <a:buSzPts val="1500"/>
              <a:buFont typeface="Arial"/>
              <a:buNone/>
            </a:pPr>
            <a:r>
              <a:rPr lang="en-US" sz="1500">
                <a:solidFill>
                  <a:srgbClr val="203148"/>
                </a:solidFill>
                <a:latin typeface="Arial"/>
                <a:ea typeface="Arial"/>
                <a:cs typeface="Arial"/>
                <a:sym typeface="Arial"/>
              </a:rPr>
              <a:t>50.76%</a:t>
            </a:r>
            <a:endParaRPr sz="1500">
              <a:solidFill>
                <a:schemeClr val="dk1"/>
              </a:solidFill>
              <a:latin typeface="Calibri"/>
              <a:ea typeface="Calibri"/>
              <a:cs typeface="Calibri"/>
              <a:sym typeface="Calibri"/>
            </a:endParaRPr>
          </a:p>
        </p:txBody>
      </p:sp>
      <p:sp>
        <p:nvSpPr>
          <p:cNvPr id="118" name="Google Shape;118;p6"/>
          <p:cNvSpPr/>
          <p:nvPr/>
        </p:nvSpPr>
        <p:spPr>
          <a:xfrm>
            <a:off x="667512" y="2889504"/>
            <a:ext cx="2185416" cy="676656"/>
          </a:xfrm>
          <a:prstGeom prst="rect">
            <a:avLst/>
          </a:prstGeom>
          <a:solidFill>
            <a:srgbClr val="FFFFFF"/>
          </a:solidFill>
          <a:ln cap="flat" cmpd="sng" w="9525">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 name="Google Shape;119;p6"/>
          <p:cNvSpPr/>
          <p:nvPr/>
        </p:nvSpPr>
        <p:spPr>
          <a:xfrm>
            <a:off x="758952" y="2953512"/>
            <a:ext cx="2002536"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3148"/>
              </a:buClr>
              <a:buSzPts val="1500"/>
              <a:buFont typeface="Arial"/>
              <a:buNone/>
            </a:pPr>
            <a:r>
              <a:rPr lang="en-US" sz="1500">
                <a:solidFill>
                  <a:srgbClr val="203148"/>
                </a:solidFill>
                <a:latin typeface="Arial"/>
                <a:ea typeface="Arial"/>
                <a:cs typeface="Arial"/>
                <a:sym typeface="Arial"/>
              </a:rPr>
              <a:t>Hassannejad et al.</a:t>
            </a:r>
            <a:endParaRPr sz="1500">
              <a:solidFill>
                <a:schemeClr val="dk1"/>
              </a:solidFill>
              <a:latin typeface="Calibri"/>
              <a:ea typeface="Calibri"/>
              <a:cs typeface="Calibri"/>
              <a:sym typeface="Calibri"/>
            </a:endParaRPr>
          </a:p>
        </p:txBody>
      </p:sp>
      <p:sp>
        <p:nvSpPr>
          <p:cNvPr id="120" name="Google Shape;120;p6"/>
          <p:cNvSpPr/>
          <p:nvPr/>
        </p:nvSpPr>
        <p:spPr>
          <a:xfrm>
            <a:off x="2852928" y="2889504"/>
            <a:ext cx="1201979" cy="676656"/>
          </a:xfrm>
          <a:prstGeom prst="rect">
            <a:avLst/>
          </a:prstGeom>
          <a:solidFill>
            <a:srgbClr val="FFFFFF"/>
          </a:solidFill>
          <a:ln cap="flat" cmpd="sng" w="9525">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6"/>
          <p:cNvSpPr/>
          <p:nvPr/>
        </p:nvSpPr>
        <p:spPr>
          <a:xfrm>
            <a:off x="2944368" y="2953512"/>
            <a:ext cx="1019099"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3148"/>
              </a:buClr>
              <a:buSzPts val="1500"/>
              <a:buFont typeface="Arial"/>
              <a:buNone/>
            </a:pPr>
            <a:r>
              <a:rPr lang="en-US" sz="1500">
                <a:solidFill>
                  <a:srgbClr val="203148"/>
                </a:solidFill>
                <a:latin typeface="Arial"/>
                <a:ea typeface="Arial"/>
                <a:cs typeface="Arial"/>
                <a:sym typeface="Arial"/>
              </a:rPr>
              <a:t>2016</a:t>
            </a:r>
            <a:endParaRPr sz="1500">
              <a:solidFill>
                <a:schemeClr val="dk1"/>
              </a:solidFill>
              <a:latin typeface="Calibri"/>
              <a:ea typeface="Calibri"/>
              <a:cs typeface="Calibri"/>
              <a:sym typeface="Calibri"/>
            </a:endParaRPr>
          </a:p>
        </p:txBody>
      </p:sp>
      <p:sp>
        <p:nvSpPr>
          <p:cNvPr id="122" name="Google Shape;122;p6"/>
          <p:cNvSpPr/>
          <p:nvPr/>
        </p:nvSpPr>
        <p:spPr>
          <a:xfrm>
            <a:off x="4054907" y="2889504"/>
            <a:ext cx="4261561" cy="676656"/>
          </a:xfrm>
          <a:prstGeom prst="rect">
            <a:avLst/>
          </a:prstGeom>
          <a:solidFill>
            <a:srgbClr val="FFFFFF"/>
          </a:solidFill>
          <a:ln cap="flat" cmpd="sng" w="9525">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 name="Google Shape;123;p6"/>
          <p:cNvSpPr/>
          <p:nvPr/>
        </p:nvSpPr>
        <p:spPr>
          <a:xfrm>
            <a:off x="4146347" y="2953512"/>
            <a:ext cx="4078681"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3148"/>
              </a:buClr>
              <a:buSzPts val="1500"/>
              <a:buFont typeface="Arial"/>
              <a:buNone/>
            </a:pPr>
            <a:r>
              <a:rPr lang="en-US" sz="1500">
                <a:solidFill>
                  <a:srgbClr val="203148"/>
                </a:solidFill>
                <a:latin typeface="Arial"/>
                <a:ea typeface="Arial"/>
                <a:cs typeface="Arial"/>
                <a:sym typeface="Arial"/>
              </a:rPr>
              <a:t>Fine-tuned Inception-V3</a:t>
            </a:r>
            <a:endParaRPr sz="1500">
              <a:solidFill>
                <a:schemeClr val="dk1"/>
              </a:solidFill>
              <a:latin typeface="Calibri"/>
              <a:ea typeface="Calibri"/>
              <a:cs typeface="Calibri"/>
              <a:sym typeface="Calibri"/>
            </a:endParaRPr>
          </a:p>
        </p:txBody>
      </p:sp>
      <p:sp>
        <p:nvSpPr>
          <p:cNvPr id="124" name="Google Shape;124;p6"/>
          <p:cNvSpPr/>
          <p:nvPr/>
        </p:nvSpPr>
        <p:spPr>
          <a:xfrm>
            <a:off x="8316468" y="2889504"/>
            <a:ext cx="1311250" cy="676656"/>
          </a:xfrm>
          <a:prstGeom prst="rect">
            <a:avLst/>
          </a:prstGeom>
          <a:solidFill>
            <a:srgbClr val="FFFFFF"/>
          </a:solidFill>
          <a:ln cap="flat" cmpd="sng" w="9525">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6"/>
          <p:cNvSpPr/>
          <p:nvPr/>
        </p:nvSpPr>
        <p:spPr>
          <a:xfrm>
            <a:off x="8407908" y="2953512"/>
            <a:ext cx="112837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3148"/>
              </a:buClr>
              <a:buSzPts val="1500"/>
              <a:buFont typeface="Arial"/>
              <a:buNone/>
            </a:pPr>
            <a:r>
              <a:rPr lang="en-US" sz="1500">
                <a:solidFill>
                  <a:srgbClr val="203148"/>
                </a:solidFill>
                <a:latin typeface="Arial"/>
                <a:ea typeface="Arial"/>
                <a:cs typeface="Arial"/>
                <a:sym typeface="Arial"/>
              </a:rPr>
              <a:t>101</a:t>
            </a:r>
            <a:endParaRPr sz="1500">
              <a:solidFill>
                <a:schemeClr val="dk1"/>
              </a:solidFill>
              <a:latin typeface="Calibri"/>
              <a:ea typeface="Calibri"/>
              <a:cs typeface="Calibri"/>
              <a:sym typeface="Calibri"/>
            </a:endParaRPr>
          </a:p>
        </p:txBody>
      </p:sp>
      <p:sp>
        <p:nvSpPr>
          <p:cNvPr id="126" name="Google Shape;126;p6"/>
          <p:cNvSpPr/>
          <p:nvPr/>
        </p:nvSpPr>
        <p:spPr>
          <a:xfrm>
            <a:off x="9627718" y="2889504"/>
            <a:ext cx="1966874" cy="676656"/>
          </a:xfrm>
          <a:prstGeom prst="rect">
            <a:avLst/>
          </a:prstGeom>
          <a:solidFill>
            <a:srgbClr val="FFFFFF"/>
          </a:solidFill>
          <a:ln cap="flat" cmpd="sng" w="9525">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 name="Google Shape;127;p6"/>
          <p:cNvSpPr/>
          <p:nvPr/>
        </p:nvSpPr>
        <p:spPr>
          <a:xfrm>
            <a:off x="9719158" y="2953512"/>
            <a:ext cx="178399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3148"/>
              </a:buClr>
              <a:buSzPts val="1500"/>
              <a:buFont typeface="Arial"/>
              <a:buNone/>
            </a:pPr>
            <a:r>
              <a:rPr lang="en-US" sz="1500">
                <a:solidFill>
                  <a:srgbClr val="203148"/>
                </a:solidFill>
                <a:latin typeface="Arial"/>
                <a:ea typeface="Arial"/>
                <a:cs typeface="Arial"/>
                <a:sym typeface="Arial"/>
              </a:rPr>
              <a:t>88.28%</a:t>
            </a:r>
            <a:endParaRPr sz="1500">
              <a:solidFill>
                <a:schemeClr val="dk1"/>
              </a:solidFill>
              <a:latin typeface="Calibri"/>
              <a:ea typeface="Calibri"/>
              <a:cs typeface="Calibri"/>
              <a:sym typeface="Calibri"/>
            </a:endParaRPr>
          </a:p>
        </p:txBody>
      </p:sp>
      <p:sp>
        <p:nvSpPr>
          <p:cNvPr id="128" name="Google Shape;128;p6"/>
          <p:cNvSpPr/>
          <p:nvPr/>
        </p:nvSpPr>
        <p:spPr>
          <a:xfrm>
            <a:off x="667512" y="3566160"/>
            <a:ext cx="2185416" cy="676656"/>
          </a:xfrm>
          <a:prstGeom prst="rect">
            <a:avLst/>
          </a:prstGeom>
          <a:solidFill>
            <a:srgbClr val="FFFFFF"/>
          </a:solidFill>
          <a:ln cap="flat" cmpd="sng" w="9525">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6"/>
          <p:cNvSpPr/>
          <p:nvPr/>
        </p:nvSpPr>
        <p:spPr>
          <a:xfrm>
            <a:off x="758952" y="3630168"/>
            <a:ext cx="2002536"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3148"/>
              </a:buClr>
              <a:buSzPts val="1500"/>
              <a:buFont typeface="Arial"/>
              <a:buNone/>
            </a:pPr>
            <a:r>
              <a:rPr lang="en-US" sz="1500">
                <a:solidFill>
                  <a:srgbClr val="203148"/>
                </a:solidFill>
                <a:latin typeface="Arial"/>
                <a:ea typeface="Arial"/>
                <a:cs typeface="Arial"/>
                <a:sym typeface="Arial"/>
              </a:rPr>
              <a:t>Martinel et al.</a:t>
            </a:r>
            <a:endParaRPr sz="1500">
              <a:solidFill>
                <a:schemeClr val="dk1"/>
              </a:solidFill>
              <a:latin typeface="Calibri"/>
              <a:ea typeface="Calibri"/>
              <a:cs typeface="Calibri"/>
              <a:sym typeface="Calibri"/>
            </a:endParaRPr>
          </a:p>
        </p:txBody>
      </p:sp>
      <p:sp>
        <p:nvSpPr>
          <p:cNvPr id="130" name="Google Shape;130;p6"/>
          <p:cNvSpPr/>
          <p:nvPr/>
        </p:nvSpPr>
        <p:spPr>
          <a:xfrm>
            <a:off x="2852928" y="3566160"/>
            <a:ext cx="1201979" cy="676656"/>
          </a:xfrm>
          <a:prstGeom prst="rect">
            <a:avLst/>
          </a:prstGeom>
          <a:solidFill>
            <a:srgbClr val="FFFFFF"/>
          </a:solidFill>
          <a:ln cap="flat" cmpd="sng" w="9525">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 name="Google Shape;131;p6"/>
          <p:cNvSpPr/>
          <p:nvPr/>
        </p:nvSpPr>
        <p:spPr>
          <a:xfrm>
            <a:off x="2944368" y="3630168"/>
            <a:ext cx="1019099"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3148"/>
              </a:buClr>
              <a:buSzPts val="1500"/>
              <a:buFont typeface="Arial"/>
              <a:buNone/>
            </a:pPr>
            <a:r>
              <a:rPr lang="en-US" sz="1500">
                <a:solidFill>
                  <a:srgbClr val="203148"/>
                </a:solidFill>
                <a:latin typeface="Arial"/>
                <a:ea typeface="Arial"/>
                <a:cs typeface="Arial"/>
                <a:sym typeface="Arial"/>
              </a:rPr>
              <a:t>2018</a:t>
            </a:r>
            <a:endParaRPr sz="1500">
              <a:solidFill>
                <a:schemeClr val="dk1"/>
              </a:solidFill>
              <a:latin typeface="Calibri"/>
              <a:ea typeface="Calibri"/>
              <a:cs typeface="Calibri"/>
              <a:sym typeface="Calibri"/>
            </a:endParaRPr>
          </a:p>
        </p:txBody>
      </p:sp>
      <p:sp>
        <p:nvSpPr>
          <p:cNvPr id="132" name="Google Shape;132;p6"/>
          <p:cNvSpPr/>
          <p:nvPr/>
        </p:nvSpPr>
        <p:spPr>
          <a:xfrm>
            <a:off x="4054907" y="3566160"/>
            <a:ext cx="4261561" cy="676656"/>
          </a:xfrm>
          <a:prstGeom prst="rect">
            <a:avLst/>
          </a:prstGeom>
          <a:solidFill>
            <a:srgbClr val="FFFFFF"/>
          </a:solidFill>
          <a:ln cap="flat" cmpd="sng" w="9525">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6"/>
          <p:cNvSpPr/>
          <p:nvPr/>
        </p:nvSpPr>
        <p:spPr>
          <a:xfrm>
            <a:off x="4146347" y="3630168"/>
            <a:ext cx="4078681"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3148"/>
              </a:buClr>
              <a:buSzPts val="1500"/>
              <a:buFont typeface="Arial"/>
              <a:buNone/>
            </a:pPr>
            <a:r>
              <a:rPr lang="en-US" sz="1500">
                <a:solidFill>
                  <a:srgbClr val="203148"/>
                </a:solidFill>
                <a:latin typeface="Arial"/>
                <a:ea typeface="Arial"/>
                <a:cs typeface="Arial"/>
                <a:sym typeface="Arial"/>
              </a:rPr>
              <a:t>WISeR residual network</a:t>
            </a:r>
            <a:endParaRPr sz="1500">
              <a:solidFill>
                <a:schemeClr val="dk1"/>
              </a:solidFill>
              <a:latin typeface="Calibri"/>
              <a:ea typeface="Calibri"/>
              <a:cs typeface="Calibri"/>
              <a:sym typeface="Calibri"/>
            </a:endParaRPr>
          </a:p>
        </p:txBody>
      </p:sp>
      <p:sp>
        <p:nvSpPr>
          <p:cNvPr id="134" name="Google Shape;134;p6"/>
          <p:cNvSpPr/>
          <p:nvPr/>
        </p:nvSpPr>
        <p:spPr>
          <a:xfrm>
            <a:off x="8316468" y="3566160"/>
            <a:ext cx="1311250" cy="676656"/>
          </a:xfrm>
          <a:prstGeom prst="rect">
            <a:avLst/>
          </a:prstGeom>
          <a:solidFill>
            <a:srgbClr val="FFFFFF"/>
          </a:solidFill>
          <a:ln cap="flat" cmpd="sng" w="9525">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6"/>
          <p:cNvSpPr/>
          <p:nvPr/>
        </p:nvSpPr>
        <p:spPr>
          <a:xfrm>
            <a:off x="8407908" y="3630168"/>
            <a:ext cx="112837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3148"/>
              </a:buClr>
              <a:buSzPts val="1500"/>
              <a:buFont typeface="Arial"/>
              <a:buNone/>
            </a:pPr>
            <a:r>
              <a:rPr lang="en-US" sz="1500">
                <a:solidFill>
                  <a:srgbClr val="203148"/>
                </a:solidFill>
                <a:latin typeface="Arial"/>
                <a:ea typeface="Arial"/>
                <a:cs typeface="Arial"/>
                <a:sym typeface="Arial"/>
              </a:rPr>
              <a:t>101</a:t>
            </a:r>
            <a:endParaRPr sz="1500">
              <a:solidFill>
                <a:schemeClr val="dk1"/>
              </a:solidFill>
              <a:latin typeface="Calibri"/>
              <a:ea typeface="Calibri"/>
              <a:cs typeface="Calibri"/>
              <a:sym typeface="Calibri"/>
            </a:endParaRPr>
          </a:p>
        </p:txBody>
      </p:sp>
      <p:sp>
        <p:nvSpPr>
          <p:cNvPr id="136" name="Google Shape;136;p6"/>
          <p:cNvSpPr/>
          <p:nvPr/>
        </p:nvSpPr>
        <p:spPr>
          <a:xfrm>
            <a:off x="9627718" y="3566160"/>
            <a:ext cx="1966874" cy="676656"/>
          </a:xfrm>
          <a:prstGeom prst="rect">
            <a:avLst/>
          </a:prstGeom>
          <a:solidFill>
            <a:srgbClr val="FFFFFF"/>
          </a:solidFill>
          <a:ln cap="flat" cmpd="sng" w="9525">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 name="Google Shape;137;p6"/>
          <p:cNvSpPr/>
          <p:nvPr/>
        </p:nvSpPr>
        <p:spPr>
          <a:xfrm>
            <a:off x="9719158" y="3630168"/>
            <a:ext cx="178399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3148"/>
              </a:buClr>
              <a:buSzPts val="1500"/>
              <a:buFont typeface="Arial"/>
              <a:buNone/>
            </a:pPr>
            <a:r>
              <a:rPr lang="en-US" sz="1500">
                <a:solidFill>
                  <a:srgbClr val="203148"/>
                </a:solidFill>
                <a:latin typeface="Arial"/>
                <a:ea typeface="Arial"/>
                <a:cs typeface="Arial"/>
                <a:sym typeface="Arial"/>
              </a:rPr>
              <a:t>90.27%</a:t>
            </a:r>
            <a:endParaRPr sz="1500">
              <a:solidFill>
                <a:schemeClr val="dk1"/>
              </a:solidFill>
              <a:latin typeface="Calibri"/>
              <a:ea typeface="Calibri"/>
              <a:cs typeface="Calibri"/>
              <a:sym typeface="Calibri"/>
            </a:endParaRPr>
          </a:p>
        </p:txBody>
      </p:sp>
      <p:sp>
        <p:nvSpPr>
          <p:cNvPr id="138" name="Google Shape;138;p6"/>
          <p:cNvSpPr/>
          <p:nvPr/>
        </p:nvSpPr>
        <p:spPr>
          <a:xfrm>
            <a:off x="749808" y="5102352"/>
            <a:ext cx="10744200" cy="749808"/>
          </a:xfrm>
          <a:prstGeom prst="roundRect">
            <a:avLst>
              <a:gd fmla="val 17073" name="adj"/>
            </a:avLst>
          </a:prstGeom>
          <a:solidFill>
            <a:srgbClr val="E8F2FF"/>
          </a:solidFill>
          <a:ln cap="flat" cmpd="sng" w="12700">
            <a:solidFill>
              <a:srgbClr val="E8F2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 name="Google Shape;139;p6"/>
          <p:cNvSpPr/>
          <p:nvPr/>
        </p:nvSpPr>
        <p:spPr>
          <a:xfrm>
            <a:off x="941832" y="5303520"/>
            <a:ext cx="10241280" cy="3931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78E4"/>
              </a:buClr>
              <a:buSzPts val="1700"/>
              <a:buFont typeface="Arial"/>
              <a:buNone/>
            </a:pPr>
            <a:r>
              <a:rPr b="1" lang="en-US" sz="1700">
                <a:solidFill>
                  <a:srgbClr val="2B78E4"/>
                </a:solidFill>
                <a:latin typeface="Arial"/>
                <a:ea typeface="Arial"/>
                <a:cs typeface="Arial"/>
                <a:sym typeface="Arial"/>
              </a:rPr>
              <a:t>Important: 101-class published results are not directly comparable with this 21-class experiment.</a:t>
            </a:r>
            <a:endParaRPr sz="1700">
              <a:solidFill>
                <a:schemeClr val="dk1"/>
              </a:solidFill>
              <a:latin typeface="Calibri"/>
              <a:ea typeface="Calibri"/>
              <a:cs typeface="Calibri"/>
              <a:sym typeface="Calibri"/>
            </a:endParaRPr>
          </a:p>
        </p:txBody>
      </p:sp>
      <p:sp>
        <p:nvSpPr>
          <p:cNvPr id="140" name="Google Shape;140;p6"/>
          <p:cNvSpPr/>
          <p:nvPr/>
        </p:nvSpPr>
        <p:spPr>
          <a:xfrm>
            <a:off x="777240" y="6080760"/>
            <a:ext cx="100584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18198"/>
              </a:buClr>
              <a:buSzPts val="1100"/>
              <a:buFont typeface="Arial"/>
              <a:buNone/>
            </a:pPr>
            <a:r>
              <a:rPr lang="en-US" sz="1100">
                <a:solidFill>
                  <a:srgbClr val="718198"/>
                </a:solidFill>
                <a:latin typeface="Arial"/>
                <a:ea typeface="Arial"/>
                <a:cs typeface="Arial"/>
                <a:sym typeface="Arial"/>
              </a:rPr>
              <a:t>Source links included in final references slide.</a:t>
            </a:r>
            <a:endParaRPr sz="11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B"/>
        </a:solidFill>
      </p:bgPr>
    </p:bg>
    <p:spTree>
      <p:nvGrpSpPr>
        <p:cNvPr id="145" name="Shape 145"/>
        <p:cNvGrpSpPr/>
        <p:nvPr/>
      </p:nvGrpSpPr>
      <p:grpSpPr>
        <a:xfrm>
          <a:off x="0" y="0"/>
          <a:ext cx="0" cy="0"/>
          <a:chOff x="0" y="0"/>
          <a:chExt cx="0" cy="0"/>
        </a:xfrm>
      </p:grpSpPr>
      <p:sp>
        <p:nvSpPr>
          <p:cNvPr id="146" name="Google Shape;146;p7"/>
          <p:cNvSpPr/>
          <p:nvPr/>
        </p:nvSpPr>
        <p:spPr>
          <a:xfrm>
            <a:off x="0" y="0"/>
            <a:ext cx="109728" cy="6858000"/>
          </a:xfrm>
          <a:prstGeom prst="rect">
            <a:avLst/>
          </a:prstGeom>
          <a:solidFill>
            <a:srgbClr val="2B78E4"/>
          </a:solidFill>
          <a:ln cap="flat" cmpd="sng" w="12700">
            <a:solidFill>
              <a:srgbClr val="2B78E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7"/>
          <p:cNvSpPr/>
          <p:nvPr/>
        </p:nvSpPr>
        <p:spPr>
          <a:xfrm>
            <a:off x="566928" y="292608"/>
            <a:ext cx="9144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AE9A"/>
              </a:buClr>
              <a:buSzPts val="1000"/>
              <a:buFont typeface="Arial"/>
              <a:buNone/>
            </a:pPr>
            <a:r>
              <a:rPr b="1" lang="en-US" sz="1000">
                <a:solidFill>
                  <a:srgbClr val="0DAE9A"/>
                </a:solidFill>
                <a:latin typeface="Arial"/>
                <a:ea typeface="Arial"/>
                <a:cs typeface="Arial"/>
                <a:sym typeface="Arial"/>
              </a:rPr>
              <a:t>FOOD-101 · EXPERIMENT</a:t>
            </a:r>
            <a:endParaRPr sz="1000">
              <a:solidFill>
                <a:schemeClr val="dk1"/>
              </a:solidFill>
              <a:latin typeface="Calibri"/>
              <a:ea typeface="Calibri"/>
              <a:cs typeface="Calibri"/>
              <a:sym typeface="Calibri"/>
            </a:endParaRPr>
          </a:p>
        </p:txBody>
      </p:sp>
      <p:sp>
        <p:nvSpPr>
          <p:cNvPr id="148" name="Google Shape;148;p7"/>
          <p:cNvSpPr/>
          <p:nvPr/>
        </p:nvSpPr>
        <p:spPr>
          <a:xfrm>
            <a:off x="566928" y="713232"/>
            <a:ext cx="109728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01A2B"/>
              </a:buClr>
              <a:buSzPts val="2700"/>
              <a:buFont typeface="Arial"/>
              <a:buNone/>
            </a:pPr>
            <a:r>
              <a:rPr b="1" lang="en-US" sz="2700">
                <a:solidFill>
                  <a:srgbClr val="101A2B"/>
                </a:solidFill>
                <a:latin typeface="Arial"/>
                <a:ea typeface="Arial"/>
                <a:cs typeface="Arial"/>
                <a:sym typeface="Arial"/>
              </a:rPr>
              <a:t>Dataset: balanced 21-class subset</a:t>
            </a:r>
            <a:endParaRPr sz="2700">
              <a:solidFill>
                <a:schemeClr val="dk1"/>
              </a:solidFill>
              <a:latin typeface="Calibri"/>
              <a:ea typeface="Calibri"/>
              <a:cs typeface="Calibri"/>
              <a:sym typeface="Calibri"/>
            </a:endParaRPr>
          </a:p>
        </p:txBody>
      </p:sp>
      <p:cxnSp>
        <p:nvCxnSpPr>
          <p:cNvPr id="149" name="Google Shape;149;p7"/>
          <p:cNvCxnSpPr/>
          <p:nvPr/>
        </p:nvCxnSpPr>
        <p:spPr>
          <a:xfrm>
            <a:off x="566928" y="1353312"/>
            <a:ext cx="11018520" cy="0"/>
          </a:xfrm>
          <a:prstGeom prst="straightConnector1">
            <a:avLst/>
          </a:prstGeom>
          <a:noFill/>
          <a:ln cap="flat" cmpd="sng" w="12700">
            <a:solidFill>
              <a:srgbClr val="DEE5EF"/>
            </a:solidFill>
            <a:prstDash val="solid"/>
            <a:round/>
            <a:headEnd len="sm" w="sm" type="none"/>
            <a:tailEnd len="sm" w="sm" type="none"/>
          </a:ln>
        </p:spPr>
      </p:cxnSp>
      <p:sp>
        <p:nvSpPr>
          <p:cNvPr id="150" name="Google Shape;150;p7"/>
          <p:cNvSpPr/>
          <p:nvPr/>
        </p:nvSpPr>
        <p:spPr>
          <a:xfrm>
            <a:off x="11082528" y="6510528"/>
            <a:ext cx="502920" cy="16459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18198"/>
              </a:buClr>
              <a:buSzPts val="1000"/>
              <a:buFont typeface="Arial"/>
              <a:buNone/>
            </a:pPr>
            <a:r>
              <a:rPr lang="en-US" sz="1000">
                <a:solidFill>
                  <a:srgbClr val="718198"/>
                </a:solidFill>
                <a:latin typeface="Arial"/>
                <a:ea typeface="Arial"/>
                <a:cs typeface="Arial"/>
                <a:sym typeface="Arial"/>
              </a:rPr>
              <a:t>05</a:t>
            </a:r>
            <a:endParaRPr sz="1000">
              <a:solidFill>
                <a:schemeClr val="dk1"/>
              </a:solidFill>
              <a:latin typeface="Calibri"/>
              <a:ea typeface="Calibri"/>
              <a:cs typeface="Calibri"/>
              <a:sym typeface="Calibri"/>
            </a:endParaRPr>
          </a:p>
        </p:txBody>
      </p:sp>
      <p:sp>
        <p:nvSpPr>
          <p:cNvPr id="151" name="Google Shape;151;p7"/>
          <p:cNvSpPr/>
          <p:nvPr/>
        </p:nvSpPr>
        <p:spPr>
          <a:xfrm>
            <a:off x="749808" y="1737360"/>
            <a:ext cx="3566160" cy="1463040"/>
          </a:xfrm>
          <a:prstGeom prst="roundRect">
            <a:avLst>
              <a:gd fmla="val 8750" name="adj"/>
            </a:avLst>
          </a:prstGeom>
          <a:solidFill>
            <a:srgbClr val="FFFFFF"/>
          </a:solidFill>
          <a:ln cap="flat" cmpd="sng" w="12700">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7"/>
          <p:cNvSpPr/>
          <p:nvPr/>
        </p:nvSpPr>
        <p:spPr>
          <a:xfrm>
            <a:off x="932688" y="1892808"/>
            <a:ext cx="320040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78E4"/>
              </a:buClr>
              <a:buSzPts val="3700"/>
              <a:buFont typeface="Arial"/>
              <a:buNone/>
            </a:pPr>
            <a:r>
              <a:rPr b="1" lang="en-US" sz="3700">
                <a:solidFill>
                  <a:srgbClr val="2B78E4"/>
                </a:solidFill>
                <a:latin typeface="Arial"/>
                <a:ea typeface="Arial"/>
                <a:cs typeface="Arial"/>
                <a:sym typeface="Arial"/>
              </a:rPr>
              <a:t>21</a:t>
            </a:r>
            <a:endParaRPr sz="3700">
              <a:solidFill>
                <a:schemeClr val="dk1"/>
              </a:solidFill>
              <a:latin typeface="Calibri"/>
              <a:ea typeface="Calibri"/>
              <a:cs typeface="Calibri"/>
              <a:sym typeface="Calibri"/>
            </a:endParaRPr>
          </a:p>
        </p:txBody>
      </p:sp>
      <p:sp>
        <p:nvSpPr>
          <p:cNvPr id="153" name="Google Shape;153;p7"/>
          <p:cNvSpPr/>
          <p:nvPr/>
        </p:nvSpPr>
        <p:spPr>
          <a:xfrm>
            <a:off x="932688" y="2651760"/>
            <a:ext cx="320040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18198"/>
              </a:buClr>
              <a:buSzPts val="1200"/>
              <a:buFont typeface="Arial"/>
              <a:buNone/>
            </a:pPr>
            <a:r>
              <a:rPr b="1" lang="en-US" sz="1200">
                <a:solidFill>
                  <a:srgbClr val="718198"/>
                </a:solidFill>
                <a:latin typeface="Arial"/>
                <a:ea typeface="Arial"/>
                <a:cs typeface="Arial"/>
                <a:sym typeface="Arial"/>
              </a:rPr>
              <a:t>FOOD CATEGORIES</a:t>
            </a:r>
            <a:endParaRPr sz="1200">
              <a:solidFill>
                <a:schemeClr val="dk1"/>
              </a:solidFill>
              <a:latin typeface="Calibri"/>
              <a:ea typeface="Calibri"/>
              <a:cs typeface="Calibri"/>
              <a:sym typeface="Calibri"/>
            </a:endParaRPr>
          </a:p>
        </p:txBody>
      </p:sp>
      <p:sp>
        <p:nvSpPr>
          <p:cNvPr id="154" name="Google Shape;154;p7"/>
          <p:cNvSpPr/>
          <p:nvPr/>
        </p:nvSpPr>
        <p:spPr>
          <a:xfrm>
            <a:off x="4544568" y="1737360"/>
            <a:ext cx="3566160" cy="1463040"/>
          </a:xfrm>
          <a:prstGeom prst="roundRect">
            <a:avLst>
              <a:gd fmla="val 8750" name="adj"/>
            </a:avLst>
          </a:prstGeom>
          <a:solidFill>
            <a:srgbClr val="FFFFFF"/>
          </a:solidFill>
          <a:ln cap="flat" cmpd="sng" w="12700">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 name="Google Shape;155;p7"/>
          <p:cNvSpPr/>
          <p:nvPr/>
        </p:nvSpPr>
        <p:spPr>
          <a:xfrm>
            <a:off x="4727448" y="1892808"/>
            <a:ext cx="320040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78E4"/>
              </a:buClr>
              <a:buSzPts val="3700"/>
              <a:buFont typeface="Arial"/>
              <a:buNone/>
            </a:pPr>
            <a:r>
              <a:rPr b="1" lang="en-US" sz="3700">
                <a:solidFill>
                  <a:srgbClr val="2B78E4"/>
                </a:solidFill>
                <a:latin typeface="Arial"/>
                <a:ea typeface="Arial"/>
                <a:cs typeface="Arial"/>
                <a:sym typeface="Arial"/>
              </a:rPr>
              <a:t>750</a:t>
            </a:r>
            <a:endParaRPr sz="3700">
              <a:solidFill>
                <a:schemeClr val="dk1"/>
              </a:solidFill>
              <a:latin typeface="Calibri"/>
              <a:ea typeface="Calibri"/>
              <a:cs typeface="Calibri"/>
              <a:sym typeface="Calibri"/>
            </a:endParaRPr>
          </a:p>
        </p:txBody>
      </p:sp>
      <p:sp>
        <p:nvSpPr>
          <p:cNvPr id="156" name="Google Shape;156;p7"/>
          <p:cNvSpPr/>
          <p:nvPr/>
        </p:nvSpPr>
        <p:spPr>
          <a:xfrm>
            <a:off x="4727448" y="2651760"/>
            <a:ext cx="320040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18198"/>
              </a:buClr>
              <a:buSzPts val="1200"/>
              <a:buFont typeface="Arial"/>
              <a:buNone/>
            </a:pPr>
            <a:r>
              <a:rPr b="1" lang="en-US" sz="1200">
                <a:solidFill>
                  <a:srgbClr val="718198"/>
                </a:solidFill>
                <a:latin typeface="Arial"/>
                <a:ea typeface="Arial"/>
                <a:cs typeface="Arial"/>
                <a:sym typeface="Arial"/>
              </a:rPr>
              <a:t>TRAIN PER CLASS</a:t>
            </a:r>
            <a:endParaRPr sz="1200">
              <a:solidFill>
                <a:schemeClr val="dk1"/>
              </a:solidFill>
              <a:latin typeface="Calibri"/>
              <a:ea typeface="Calibri"/>
              <a:cs typeface="Calibri"/>
              <a:sym typeface="Calibri"/>
            </a:endParaRPr>
          </a:p>
        </p:txBody>
      </p:sp>
      <p:sp>
        <p:nvSpPr>
          <p:cNvPr id="157" name="Google Shape;157;p7"/>
          <p:cNvSpPr/>
          <p:nvPr/>
        </p:nvSpPr>
        <p:spPr>
          <a:xfrm>
            <a:off x="8339328" y="1737360"/>
            <a:ext cx="3566160" cy="1463040"/>
          </a:xfrm>
          <a:prstGeom prst="roundRect">
            <a:avLst>
              <a:gd fmla="val 8750" name="adj"/>
            </a:avLst>
          </a:prstGeom>
          <a:solidFill>
            <a:srgbClr val="FFFFFF"/>
          </a:solidFill>
          <a:ln cap="flat" cmpd="sng" w="12700">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8" name="Google Shape;158;p7"/>
          <p:cNvSpPr/>
          <p:nvPr/>
        </p:nvSpPr>
        <p:spPr>
          <a:xfrm>
            <a:off x="8522208" y="1892808"/>
            <a:ext cx="320040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78E4"/>
              </a:buClr>
              <a:buSzPts val="3700"/>
              <a:buFont typeface="Arial"/>
              <a:buNone/>
            </a:pPr>
            <a:r>
              <a:rPr b="1" lang="en-US" sz="3700">
                <a:solidFill>
                  <a:srgbClr val="2B78E4"/>
                </a:solidFill>
                <a:latin typeface="Arial"/>
                <a:ea typeface="Arial"/>
                <a:cs typeface="Arial"/>
                <a:sym typeface="Arial"/>
              </a:rPr>
              <a:t>250</a:t>
            </a:r>
            <a:endParaRPr sz="3700">
              <a:solidFill>
                <a:schemeClr val="dk1"/>
              </a:solidFill>
              <a:latin typeface="Calibri"/>
              <a:ea typeface="Calibri"/>
              <a:cs typeface="Calibri"/>
              <a:sym typeface="Calibri"/>
            </a:endParaRPr>
          </a:p>
        </p:txBody>
      </p:sp>
      <p:sp>
        <p:nvSpPr>
          <p:cNvPr id="159" name="Google Shape;159;p7"/>
          <p:cNvSpPr/>
          <p:nvPr/>
        </p:nvSpPr>
        <p:spPr>
          <a:xfrm>
            <a:off x="8522208" y="2651760"/>
            <a:ext cx="320040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18198"/>
              </a:buClr>
              <a:buSzPts val="1200"/>
              <a:buFont typeface="Arial"/>
              <a:buNone/>
            </a:pPr>
            <a:r>
              <a:rPr b="1" lang="en-US" sz="1200">
                <a:solidFill>
                  <a:srgbClr val="718198"/>
                </a:solidFill>
                <a:latin typeface="Arial"/>
                <a:ea typeface="Arial"/>
                <a:cs typeface="Arial"/>
                <a:sym typeface="Arial"/>
              </a:rPr>
              <a:t>TEST PER CLASS</a:t>
            </a:r>
            <a:endParaRPr sz="1200">
              <a:solidFill>
                <a:schemeClr val="dk1"/>
              </a:solidFill>
              <a:latin typeface="Calibri"/>
              <a:ea typeface="Calibri"/>
              <a:cs typeface="Calibri"/>
              <a:sym typeface="Calibri"/>
            </a:endParaRPr>
          </a:p>
        </p:txBody>
      </p:sp>
      <p:sp>
        <p:nvSpPr>
          <p:cNvPr id="160" name="Google Shape;160;p7"/>
          <p:cNvSpPr/>
          <p:nvPr/>
        </p:nvSpPr>
        <p:spPr>
          <a:xfrm>
            <a:off x="749808" y="3657600"/>
            <a:ext cx="10908792" cy="1508760"/>
          </a:xfrm>
          <a:prstGeom prst="roundRect">
            <a:avLst>
              <a:gd fmla="val 8485" name="adj"/>
            </a:avLst>
          </a:prstGeom>
          <a:solidFill>
            <a:srgbClr val="FFFFFF"/>
          </a:solidFill>
          <a:ln cap="flat" cmpd="sng" w="12700">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1" name="Google Shape;161;p7"/>
          <p:cNvSpPr/>
          <p:nvPr/>
        </p:nvSpPr>
        <p:spPr>
          <a:xfrm>
            <a:off x="1033272" y="3977640"/>
            <a:ext cx="1028700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A2B"/>
              </a:buClr>
              <a:buSzPts val="2500"/>
              <a:buFont typeface="Arial"/>
              <a:buNone/>
            </a:pPr>
            <a:r>
              <a:rPr b="1" lang="en-US" sz="2500">
                <a:solidFill>
                  <a:srgbClr val="101A2B"/>
                </a:solidFill>
                <a:latin typeface="Arial"/>
                <a:ea typeface="Arial"/>
                <a:cs typeface="Arial"/>
                <a:sym typeface="Arial"/>
              </a:rPr>
              <a:t>15,750 training-pool images   +   5,250 held-out test images</a:t>
            </a:r>
            <a:endParaRPr sz="2500">
              <a:solidFill>
                <a:schemeClr val="dk1"/>
              </a:solidFill>
              <a:latin typeface="Calibri"/>
              <a:ea typeface="Calibri"/>
              <a:cs typeface="Calibri"/>
              <a:sym typeface="Calibri"/>
            </a:endParaRPr>
          </a:p>
        </p:txBody>
      </p:sp>
      <p:sp>
        <p:nvSpPr>
          <p:cNvPr id="162" name="Google Shape;162;p7"/>
          <p:cNvSpPr/>
          <p:nvPr/>
        </p:nvSpPr>
        <p:spPr>
          <a:xfrm>
            <a:off x="1097280" y="5376672"/>
            <a:ext cx="1005840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18198"/>
              </a:buClr>
              <a:buSzPts val="1600"/>
              <a:buFont typeface="Arial"/>
              <a:buNone/>
            </a:pPr>
            <a:r>
              <a:rPr lang="en-US" sz="1600">
                <a:solidFill>
                  <a:srgbClr val="718198"/>
                </a:solidFill>
                <a:latin typeface="Arial"/>
                <a:ea typeface="Arial"/>
                <a:cs typeface="Arial"/>
                <a:sym typeface="Arial"/>
              </a:rPr>
              <a:t>Balanced class counts make overall accuracy informative; retain per-class metrics for failure analysis.</a:t>
            </a:r>
            <a:endParaRPr sz="16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B"/>
        </a:solidFill>
      </p:bgPr>
    </p:bg>
    <p:spTree>
      <p:nvGrpSpPr>
        <p:cNvPr id="167" name="Shape 167"/>
        <p:cNvGrpSpPr/>
        <p:nvPr/>
      </p:nvGrpSpPr>
      <p:grpSpPr>
        <a:xfrm>
          <a:off x="0" y="0"/>
          <a:ext cx="0" cy="0"/>
          <a:chOff x="0" y="0"/>
          <a:chExt cx="0" cy="0"/>
        </a:xfrm>
      </p:grpSpPr>
      <p:sp>
        <p:nvSpPr>
          <p:cNvPr id="168" name="Google Shape;168;p8"/>
          <p:cNvSpPr/>
          <p:nvPr/>
        </p:nvSpPr>
        <p:spPr>
          <a:xfrm>
            <a:off x="0" y="0"/>
            <a:ext cx="109728" cy="6858000"/>
          </a:xfrm>
          <a:prstGeom prst="rect">
            <a:avLst/>
          </a:prstGeom>
          <a:solidFill>
            <a:srgbClr val="2B78E4"/>
          </a:solidFill>
          <a:ln cap="flat" cmpd="sng" w="12700">
            <a:solidFill>
              <a:srgbClr val="2B78E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8"/>
          <p:cNvSpPr/>
          <p:nvPr/>
        </p:nvSpPr>
        <p:spPr>
          <a:xfrm>
            <a:off x="566928" y="292608"/>
            <a:ext cx="9144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AE9A"/>
              </a:buClr>
              <a:buSzPts val="1000"/>
              <a:buFont typeface="Arial"/>
              <a:buNone/>
            </a:pPr>
            <a:r>
              <a:rPr b="1" lang="en-US" sz="1000">
                <a:solidFill>
                  <a:srgbClr val="0DAE9A"/>
                </a:solidFill>
                <a:latin typeface="Arial"/>
                <a:ea typeface="Arial"/>
                <a:cs typeface="Arial"/>
                <a:sym typeface="Arial"/>
              </a:rPr>
              <a:t>FOOD-101 · EXPERIMENT</a:t>
            </a:r>
            <a:endParaRPr sz="1000">
              <a:solidFill>
                <a:schemeClr val="dk1"/>
              </a:solidFill>
              <a:latin typeface="Calibri"/>
              <a:ea typeface="Calibri"/>
              <a:cs typeface="Calibri"/>
              <a:sym typeface="Calibri"/>
            </a:endParaRPr>
          </a:p>
        </p:txBody>
      </p:sp>
      <p:sp>
        <p:nvSpPr>
          <p:cNvPr id="170" name="Google Shape;170;p8"/>
          <p:cNvSpPr/>
          <p:nvPr/>
        </p:nvSpPr>
        <p:spPr>
          <a:xfrm>
            <a:off x="566928" y="713232"/>
            <a:ext cx="109728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01A2B"/>
              </a:buClr>
              <a:buSzPts val="2700"/>
              <a:buFont typeface="Arial"/>
              <a:buNone/>
            </a:pPr>
            <a:r>
              <a:rPr b="1" lang="en-US" sz="2700">
                <a:solidFill>
                  <a:srgbClr val="101A2B"/>
                </a:solidFill>
                <a:latin typeface="Arial"/>
                <a:ea typeface="Arial"/>
                <a:cs typeface="Arial"/>
                <a:sym typeface="Arial"/>
              </a:rPr>
              <a:t>The split: protect the test set</a:t>
            </a:r>
            <a:endParaRPr sz="2700">
              <a:solidFill>
                <a:schemeClr val="dk1"/>
              </a:solidFill>
              <a:latin typeface="Calibri"/>
              <a:ea typeface="Calibri"/>
              <a:cs typeface="Calibri"/>
              <a:sym typeface="Calibri"/>
            </a:endParaRPr>
          </a:p>
        </p:txBody>
      </p:sp>
      <p:cxnSp>
        <p:nvCxnSpPr>
          <p:cNvPr id="171" name="Google Shape;171;p8"/>
          <p:cNvCxnSpPr/>
          <p:nvPr/>
        </p:nvCxnSpPr>
        <p:spPr>
          <a:xfrm>
            <a:off x="566928" y="1353312"/>
            <a:ext cx="11018520" cy="0"/>
          </a:xfrm>
          <a:prstGeom prst="straightConnector1">
            <a:avLst/>
          </a:prstGeom>
          <a:noFill/>
          <a:ln cap="flat" cmpd="sng" w="12700">
            <a:solidFill>
              <a:srgbClr val="DEE5EF"/>
            </a:solidFill>
            <a:prstDash val="solid"/>
            <a:round/>
            <a:headEnd len="sm" w="sm" type="none"/>
            <a:tailEnd len="sm" w="sm" type="none"/>
          </a:ln>
        </p:spPr>
      </p:cxnSp>
      <p:sp>
        <p:nvSpPr>
          <p:cNvPr id="172" name="Google Shape;172;p8"/>
          <p:cNvSpPr/>
          <p:nvPr/>
        </p:nvSpPr>
        <p:spPr>
          <a:xfrm>
            <a:off x="11082528" y="6510528"/>
            <a:ext cx="502920" cy="16459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18198"/>
              </a:buClr>
              <a:buSzPts val="1000"/>
              <a:buFont typeface="Arial"/>
              <a:buNone/>
            </a:pPr>
            <a:r>
              <a:rPr lang="en-US" sz="1000">
                <a:solidFill>
                  <a:srgbClr val="718198"/>
                </a:solidFill>
                <a:latin typeface="Arial"/>
                <a:ea typeface="Arial"/>
                <a:cs typeface="Arial"/>
                <a:sym typeface="Arial"/>
              </a:rPr>
              <a:t>06</a:t>
            </a:r>
            <a:endParaRPr sz="1000">
              <a:solidFill>
                <a:schemeClr val="dk1"/>
              </a:solidFill>
              <a:latin typeface="Calibri"/>
              <a:ea typeface="Calibri"/>
              <a:cs typeface="Calibri"/>
              <a:sym typeface="Calibri"/>
            </a:endParaRPr>
          </a:p>
        </p:txBody>
      </p:sp>
      <p:sp>
        <p:nvSpPr>
          <p:cNvPr id="173" name="Google Shape;173;p8"/>
          <p:cNvSpPr/>
          <p:nvPr/>
        </p:nvSpPr>
        <p:spPr>
          <a:xfrm>
            <a:off x="777240" y="2029968"/>
            <a:ext cx="3127248" cy="2011680"/>
          </a:xfrm>
          <a:prstGeom prst="roundRect">
            <a:avLst>
              <a:gd fmla="val 6364" name="adj"/>
            </a:avLst>
          </a:prstGeom>
          <a:solidFill>
            <a:srgbClr val="FFFFFF"/>
          </a:solidFill>
          <a:ln cap="flat" cmpd="sng" w="12700">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 name="Google Shape;174;p8"/>
          <p:cNvSpPr/>
          <p:nvPr/>
        </p:nvSpPr>
        <p:spPr>
          <a:xfrm>
            <a:off x="1472184" y="2240280"/>
            <a:ext cx="1737360" cy="310896"/>
          </a:xfrm>
          <a:prstGeom prst="roundRect">
            <a:avLst>
              <a:gd fmla="val 41176" name="adj"/>
            </a:avLst>
          </a:prstGeom>
          <a:solidFill>
            <a:srgbClr val="E8F2FF"/>
          </a:solidFill>
          <a:ln cap="flat" cmpd="sng" w="12700">
            <a:solidFill>
              <a:srgbClr val="E8F2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p8"/>
          <p:cNvSpPr/>
          <p:nvPr/>
        </p:nvSpPr>
        <p:spPr>
          <a:xfrm>
            <a:off x="1563624" y="2276856"/>
            <a:ext cx="155448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78E4"/>
              </a:buClr>
              <a:buSzPts val="1100"/>
              <a:buFont typeface="Arial"/>
              <a:buNone/>
            </a:pPr>
            <a:r>
              <a:rPr b="1" lang="en-US" sz="1100">
                <a:solidFill>
                  <a:srgbClr val="2B78E4"/>
                </a:solidFill>
                <a:latin typeface="Arial"/>
                <a:ea typeface="Arial"/>
                <a:cs typeface="Arial"/>
                <a:sym typeface="Arial"/>
              </a:rPr>
              <a:t>TRAIN</a:t>
            </a:r>
            <a:endParaRPr sz="1100">
              <a:solidFill>
                <a:schemeClr val="dk1"/>
              </a:solidFill>
              <a:latin typeface="Calibri"/>
              <a:ea typeface="Calibri"/>
              <a:cs typeface="Calibri"/>
              <a:sym typeface="Calibri"/>
            </a:endParaRPr>
          </a:p>
        </p:txBody>
      </p:sp>
      <p:sp>
        <p:nvSpPr>
          <p:cNvPr id="176" name="Google Shape;176;p8"/>
          <p:cNvSpPr/>
          <p:nvPr/>
        </p:nvSpPr>
        <p:spPr>
          <a:xfrm>
            <a:off x="1005840" y="2761488"/>
            <a:ext cx="2670048" cy="6126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3148"/>
              </a:buClr>
              <a:buSzPts val="3400"/>
              <a:buFont typeface="Arial"/>
              <a:buNone/>
            </a:pPr>
            <a:r>
              <a:rPr b="1" lang="en-US" sz="3400">
                <a:solidFill>
                  <a:srgbClr val="203148"/>
                </a:solidFill>
                <a:latin typeface="Arial"/>
                <a:ea typeface="Arial"/>
                <a:cs typeface="Arial"/>
                <a:sym typeface="Arial"/>
              </a:rPr>
              <a:t>14,175</a:t>
            </a:r>
            <a:endParaRPr sz="3400">
              <a:solidFill>
                <a:schemeClr val="dk1"/>
              </a:solidFill>
              <a:latin typeface="Calibri"/>
              <a:ea typeface="Calibri"/>
              <a:cs typeface="Calibri"/>
              <a:sym typeface="Calibri"/>
            </a:endParaRPr>
          </a:p>
        </p:txBody>
      </p:sp>
      <p:sp>
        <p:nvSpPr>
          <p:cNvPr id="177" name="Google Shape;177;p8"/>
          <p:cNvSpPr/>
          <p:nvPr/>
        </p:nvSpPr>
        <p:spPr>
          <a:xfrm>
            <a:off x="978408" y="3538728"/>
            <a:ext cx="27432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18198"/>
              </a:buClr>
              <a:buSzPts val="1300"/>
              <a:buFont typeface="Arial"/>
              <a:buNone/>
            </a:pPr>
            <a:r>
              <a:rPr lang="en-US" sz="1300">
                <a:solidFill>
                  <a:srgbClr val="718198"/>
                </a:solidFill>
                <a:latin typeface="Arial"/>
                <a:ea typeface="Arial"/>
                <a:cs typeface="Arial"/>
                <a:sym typeface="Arial"/>
              </a:rPr>
              <a:t>90% of official train</a:t>
            </a:r>
            <a:endParaRPr sz="1300">
              <a:solidFill>
                <a:schemeClr val="dk1"/>
              </a:solidFill>
              <a:latin typeface="Calibri"/>
              <a:ea typeface="Calibri"/>
              <a:cs typeface="Calibri"/>
              <a:sym typeface="Calibri"/>
            </a:endParaRPr>
          </a:p>
        </p:txBody>
      </p:sp>
      <p:sp>
        <p:nvSpPr>
          <p:cNvPr id="178" name="Google Shape;178;p8"/>
          <p:cNvSpPr/>
          <p:nvPr/>
        </p:nvSpPr>
        <p:spPr>
          <a:xfrm>
            <a:off x="4535424" y="2029968"/>
            <a:ext cx="3127248" cy="2011680"/>
          </a:xfrm>
          <a:prstGeom prst="roundRect">
            <a:avLst>
              <a:gd fmla="val 6364" name="adj"/>
            </a:avLst>
          </a:prstGeom>
          <a:solidFill>
            <a:srgbClr val="FFFFFF"/>
          </a:solidFill>
          <a:ln cap="flat" cmpd="sng" w="12700">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9" name="Google Shape;179;p8"/>
          <p:cNvSpPr/>
          <p:nvPr/>
        </p:nvSpPr>
        <p:spPr>
          <a:xfrm>
            <a:off x="5230368" y="2240280"/>
            <a:ext cx="1737360" cy="310896"/>
          </a:xfrm>
          <a:prstGeom prst="roundRect">
            <a:avLst>
              <a:gd fmla="val 41176" name="adj"/>
            </a:avLst>
          </a:prstGeom>
          <a:solidFill>
            <a:srgbClr val="E8F2FF"/>
          </a:solidFill>
          <a:ln cap="flat" cmpd="sng" w="12700">
            <a:solidFill>
              <a:srgbClr val="E8F2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0" name="Google Shape;180;p8"/>
          <p:cNvSpPr/>
          <p:nvPr/>
        </p:nvSpPr>
        <p:spPr>
          <a:xfrm>
            <a:off x="5321808" y="2276856"/>
            <a:ext cx="155448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78E4"/>
              </a:buClr>
              <a:buSzPts val="1100"/>
              <a:buFont typeface="Arial"/>
              <a:buNone/>
            </a:pPr>
            <a:r>
              <a:rPr b="1" lang="en-US" sz="1100">
                <a:solidFill>
                  <a:srgbClr val="2B78E4"/>
                </a:solidFill>
                <a:latin typeface="Arial"/>
                <a:ea typeface="Arial"/>
                <a:cs typeface="Arial"/>
                <a:sym typeface="Arial"/>
              </a:rPr>
              <a:t>VALIDATION</a:t>
            </a:r>
            <a:endParaRPr sz="1100">
              <a:solidFill>
                <a:schemeClr val="dk1"/>
              </a:solidFill>
              <a:latin typeface="Calibri"/>
              <a:ea typeface="Calibri"/>
              <a:cs typeface="Calibri"/>
              <a:sym typeface="Calibri"/>
            </a:endParaRPr>
          </a:p>
        </p:txBody>
      </p:sp>
      <p:sp>
        <p:nvSpPr>
          <p:cNvPr id="181" name="Google Shape;181;p8"/>
          <p:cNvSpPr/>
          <p:nvPr/>
        </p:nvSpPr>
        <p:spPr>
          <a:xfrm>
            <a:off x="4764024" y="2761488"/>
            <a:ext cx="2670048" cy="6126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3148"/>
              </a:buClr>
              <a:buSzPts val="3400"/>
              <a:buFont typeface="Arial"/>
              <a:buNone/>
            </a:pPr>
            <a:r>
              <a:rPr b="1" lang="en-US" sz="3400">
                <a:solidFill>
                  <a:srgbClr val="203148"/>
                </a:solidFill>
                <a:latin typeface="Arial"/>
                <a:ea typeface="Arial"/>
                <a:cs typeface="Arial"/>
                <a:sym typeface="Arial"/>
              </a:rPr>
              <a:t>1,575</a:t>
            </a:r>
            <a:endParaRPr sz="3400">
              <a:solidFill>
                <a:schemeClr val="dk1"/>
              </a:solidFill>
              <a:latin typeface="Calibri"/>
              <a:ea typeface="Calibri"/>
              <a:cs typeface="Calibri"/>
              <a:sym typeface="Calibri"/>
            </a:endParaRPr>
          </a:p>
        </p:txBody>
      </p:sp>
      <p:sp>
        <p:nvSpPr>
          <p:cNvPr id="182" name="Google Shape;182;p8"/>
          <p:cNvSpPr/>
          <p:nvPr/>
        </p:nvSpPr>
        <p:spPr>
          <a:xfrm>
            <a:off x="4736592" y="3538728"/>
            <a:ext cx="27432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18198"/>
              </a:buClr>
              <a:buSzPts val="1300"/>
              <a:buFont typeface="Arial"/>
              <a:buNone/>
            </a:pPr>
            <a:r>
              <a:rPr lang="en-US" sz="1300">
                <a:solidFill>
                  <a:srgbClr val="718198"/>
                </a:solidFill>
                <a:latin typeface="Arial"/>
                <a:ea typeface="Arial"/>
                <a:cs typeface="Arial"/>
                <a:sym typeface="Arial"/>
              </a:rPr>
              <a:t>10% seeded · seed 42</a:t>
            </a:r>
            <a:endParaRPr sz="1300">
              <a:solidFill>
                <a:schemeClr val="dk1"/>
              </a:solidFill>
              <a:latin typeface="Calibri"/>
              <a:ea typeface="Calibri"/>
              <a:cs typeface="Calibri"/>
              <a:sym typeface="Calibri"/>
            </a:endParaRPr>
          </a:p>
        </p:txBody>
      </p:sp>
      <p:sp>
        <p:nvSpPr>
          <p:cNvPr id="183" name="Google Shape;183;p8"/>
          <p:cNvSpPr/>
          <p:nvPr/>
        </p:nvSpPr>
        <p:spPr>
          <a:xfrm>
            <a:off x="8293608" y="2029968"/>
            <a:ext cx="3127248" cy="2011680"/>
          </a:xfrm>
          <a:prstGeom prst="roundRect">
            <a:avLst>
              <a:gd fmla="val 6364" name="adj"/>
            </a:avLst>
          </a:prstGeom>
          <a:solidFill>
            <a:srgbClr val="E8F6F3"/>
          </a:solidFill>
          <a:ln cap="flat" cmpd="sng" w="12700">
            <a:solidFill>
              <a:srgbClr val="AADFD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 name="Google Shape;184;p8"/>
          <p:cNvSpPr/>
          <p:nvPr/>
        </p:nvSpPr>
        <p:spPr>
          <a:xfrm>
            <a:off x="8988552" y="2240280"/>
            <a:ext cx="1737360" cy="310896"/>
          </a:xfrm>
          <a:prstGeom prst="roundRect">
            <a:avLst>
              <a:gd fmla="val 41176" name="adj"/>
            </a:avLst>
          </a:prstGeom>
          <a:solidFill>
            <a:srgbClr val="E8F2FF"/>
          </a:solidFill>
          <a:ln cap="flat" cmpd="sng" w="12700">
            <a:solidFill>
              <a:srgbClr val="E8F2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p8"/>
          <p:cNvSpPr/>
          <p:nvPr/>
        </p:nvSpPr>
        <p:spPr>
          <a:xfrm>
            <a:off x="9079992" y="2276856"/>
            <a:ext cx="155448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AE9A"/>
              </a:buClr>
              <a:buSzPts val="1100"/>
              <a:buFont typeface="Arial"/>
              <a:buNone/>
            </a:pPr>
            <a:r>
              <a:rPr b="1" lang="en-US" sz="1100">
                <a:solidFill>
                  <a:srgbClr val="0DAE9A"/>
                </a:solidFill>
                <a:latin typeface="Arial"/>
                <a:ea typeface="Arial"/>
                <a:cs typeface="Arial"/>
                <a:sym typeface="Arial"/>
              </a:rPr>
              <a:t>TEST</a:t>
            </a:r>
            <a:endParaRPr sz="1100">
              <a:solidFill>
                <a:schemeClr val="dk1"/>
              </a:solidFill>
              <a:latin typeface="Calibri"/>
              <a:ea typeface="Calibri"/>
              <a:cs typeface="Calibri"/>
              <a:sym typeface="Calibri"/>
            </a:endParaRPr>
          </a:p>
        </p:txBody>
      </p:sp>
      <p:sp>
        <p:nvSpPr>
          <p:cNvPr id="186" name="Google Shape;186;p8"/>
          <p:cNvSpPr/>
          <p:nvPr/>
        </p:nvSpPr>
        <p:spPr>
          <a:xfrm>
            <a:off x="8522208" y="2761488"/>
            <a:ext cx="2670048" cy="6126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3148"/>
              </a:buClr>
              <a:buSzPts val="3400"/>
              <a:buFont typeface="Arial"/>
              <a:buNone/>
            </a:pPr>
            <a:r>
              <a:rPr b="1" lang="en-US" sz="3400">
                <a:solidFill>
                  <a:srgbClr val="203148"/>
                </a:solidFill>
                <a:latin typeface="Arial"/>
                <a:ea typeface="Arial"/>
                <a:cs typeface="Arial"/>
                <a:sym typeface="Arial"/>
              </a:rPr>
              <a:t>5,250</a:t>
            </a:r>
            <a:endParaRPr sz="3400">
              <a:solidFill>
                <a:schemeClr val="dk1"/>
              </a:solidFill>
              <a:latin typeface="Calibri"/>
              <a:ea typeface="Calibri"/>
              <a:cs typeface="Calibri"/>
              <a:sym typeface="Calibri"/>
            </a:endParaRPr>
          </a:p>
        </p:txBody>
      </p:sp>
      <p:sp>
        <p:nvSpPr>
          <p:cNvPr id="187" name="Google Shape;187;p8"/>
          <p:cNvSpPr/>
          <p:nvPr/>
        </p:nvSpPr>
        <p:spPr>
          <a:xfrm>
            <a:off x="8494776" y="3538728"/>
            <a:ext cx="27432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18198"/>
              </a:buClr>
              <a:buSzPts val="1300"/>
              <a:buFont typeface="Arial"/>
              <a:buNone/>
            </a:pPr>
            <a:r>
              <a:rPr lang="en-US" sz="1300">
                <a:solidFill>
                  <a:srgbClr val="718198"/>
                </a:solidFill>
                <a:latin typeface="Arial"/>
                <a:ea typeface="Arial"/>
                <a:cs typeface="Arial"/>
                <a:sym typeface="Arial"/>
              </a:rPr>
              <a:t>Official test · sealed</a:t>
            </a:r>
            <a:endParaRPr sz="1300">
              <a:solidFill>
                <a:schemeClr val="dk1"/>
              </a:solidFill>
              <a:latin typeface="Calibri"/>
              <a:ea typeface="Calibri"/>
              <a:cs typeface="Calibri"/>
              <a:sym typeface="Calibri"/>
            </a:endParaRPr>
          </a:p>
        </p:txBody>
      </p:sp>
      <p:sp>
        <p:nvSpPr>
          <p:cNvPr id="188" name="Google Shape;188;p8"/>
          <p:cNvSpPr/>
          <p:nvPr/>
        </p:nvSpPr>
        <p:spPr>
          <a:xfrm>
            <a:off x="877824" y="4864608"/>
            <a:ext cx="10424160" cy="6217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A2B"/>
              </a:buClr>
              <a:buSzPts val="2200"/>
              <a:buFont typeface="Arial"/>
              <a:buNone/>
            </a:pPr>
            <a:r>
              <a:rPr b="1" lang="en-US" sz="2200">
                <a:solidFill>
                  <a:srgbClr val="101A2B"/>
                </a:solidFill>
                <a:latin typeface="Arial"/>
                <a:ea typeface="Arial"/>
                <a:cs typeface="Arial"/>
                <a:sym typeface="Arial"/>
              </a:rPr>
              <a:t>Both models must use the same classes, data split, and test protocol.</a:t>
            </a:r>
            <a:endParaRPr sz="22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B"/>
        </a:solidFill>
      </p:bgPr>
    </p:bg>
    <p:spTree>
      <p:nvGrpSpPr>
        <p:cNvPr id="193" name="Shape 193"/>
        <p:cNvGrpSpPr/>
        <p:nvPr/>
      </p:nvGrpSpPr>
      <p:grpSpPr>
        <a:xfrm>
          <a:off x="0" y="0"/>
          <a:ext cx="0" cy="0"/>
          <a:chOff x="0" y="0"/>
          <a:chExt cx="0" cy="0"/>
        </a:xfrm>
      </p:grpSpPr>
      <p:sp>
        <p:nvSpPr>
          <p:cNvPr id="194" name="Google Shape;194;p9"/>
          <p:cNvSpPr/>
          <p:nvPr/>
        </p:nvSpPr>
        <p:spPr>
          <a:xfrm>
            <a:off x="0" y="0"/>
            <a:ext cx="109728" cy="6858000"/>
          </a:xfrm>
          <a:prstGeom prst="rect">
            <a:avLst/>
          </a:prstGeom>
          <a:solidFill>
            <a:srgbClr val="2B78E4"/>
          </a:solidFill>
          <a:ln cap="flat" cmpd="sng" w="12700">
            <a:solidFill>
              <a:srgbClr val="2B78E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9"/>
          <p:cNvSpPr/>
          <p:nvPr/>
        </p:nvSpPr>
        <p:spPr>
          <a:xfrm>
            <a:off x="566928" y="292608"/>
            <a:ext cx="9144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AE9A"/>
              </a:buClr>
              <a:buSzPts val="1000"/>
              <a:buFont typeface="Arial"/>
              <a:buNone/>
            </a:pPr>
            <a:r>
              <a:rPr b="1" lang="en-US" sz="1000">
                <a:solidFill>
                  <a:srgbClr val="0DAE9A"/>
                </a:solidFill>
                <a:latin typeface="Arial"/>
                <a:ea typeface="Arial"/>
                <a:cs typeface="Arial"/>
                <a:sym typeface="Arial"/>
              </a:rPr>
              <a:t>FOOD-101 · EXPERIMENT</a:t>
            </a:r>
            <a:endParaRPr sz="1000">
              <a:solidFill>
                <a:schemeClr val="dk1"/>
              </a:solidFill>
              <a:latin typeface="Calibri"/>
              <a:ea typeface="Calibri"/>
              <a:cs typeface="Calibri"/>
              <a:sym typeface="Calibri"/>
            </a:endParaRPr>
          </a:p>
        </p:txBody>
      </p:sp>
      <p:sp>
        <p:nvSpPr>
          <p:cNvPr id="196" name="Google Shape;196;p9"/>
          <p:cNvSpPr/>
          <p:nvPr/>
        </p:nvSpPr>
        <p:spPr>
          <a:xfrm>
            <a:off x="566928" y="713232"/>
            <a:ext cx="109728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01A2B"/>
              </a:buClr>
              <a:buSzPts val="2700"/>
              <a:buFont typeface="Arial"/>
              <a:buNone/>
            </a:pPr>
            <a:r>
              <a:rPr b="1" lang="en-US" sz="2700">
                <a:solidFill>
                  <a:srgbClr val="101A2B"/>
                </a:solidFill>
                <a:latin typeface="Arial"/>
                <a:ea typeface="Arial"/>
                <a:cs typeface="Arial"/>
                <a:sym typeface="Arial"/>
              </a:rPr>
              <a:t>Baseline model: scratch CNN</a:t>
            </a:r>
            <a:endParaRPr sz="2700">
              <a:solidFill>
                <a:schemeClr val="dk1"/>
              </a:solidFill>
              <a:latin typeface="Calibri"/>
              <a:ea typeface="Calibri"/>
              <a:cs typeface="Calibri"/>
              <a:sym typeface="Calibri"/>
            </a:endParaRPr>
          </a:p>
        </p:txBody>
      </p:sp>
      <p:cxnSp>
        <p:nvCxnSpPr>
          <p:cNvPr id="197" name="Google Shape;197;p9"/>
          <p:cNvCxnSpPr/>
          <p:nvPr/>
        </p:nvCxnSpPr>
        <p:spPr>
          <a:xfrm>
            <a:off x="566928" y="1353312"/>
            <a:ext cx="11018520" cy="0"/>
          </a:xfrm>
          <a:prstGeom prst="straightConnector1">
            <a:avLst/>
          </a:prstGeom>
          <a:noFill/>
          <a:ln cap="flat" cmpd="sng" w="12700">
            <a:solidFill>
              <a:srgbClr val="DEE5EF"/>
            </a:solidFill>
            <a:prstDash val="solid"/>
            <a:round/>
            <a:headEnd len="sm" w="sm" type="none"/>
            <a:tailEnd len="sm" w="sm" type="none"/>
          </a:ln>
        </p:spPr>
      </p:cxnSp>
      <p:sp>
        <p:nvSpPr>
          <p:cNvPr id="198" name="Google Shape;198;p9"/>
          <p:cNvSpPr/>
          <p:nvPr/>
        </p:nvSpPr>
        <p:spPr>
          <a:xfrm>
            <a:off x="11082528" y="6510528"/>
            <a:ext cx="502920" cy="16459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18198"/>
              </a:buClr>
              <a:buSzPts val="1000"/>
              <a:buFont typeface="Arial"/>
              <a:buNone/>
            </a:pPr>
            <a:r>
              <a:rPr lang="en-US" sz="1000">
                <a:solidFill>
                  <a:srgbClr val="718198"/>
                </a:solidFill>
                <a:latin typeface="Arial"/>
                <a:ea typeface="Arial"/>
                <a:cs typeface="Arial"/>
                <a:sym typeface="Arial"/>
              </a:rPr>
              <a:t>07</a:t>
            </a:r>
            <a:endParaRPr sz="1000">
              <a:solidFill>
                <a:schemeClr val="dk1"/>
              </a:solidFill>
              <a:latin typeface="Calibri"/>
              <a:ea typeface="Calibri"/>
              <a:cs typeface="Calibri"/>
              <a:sym typeface="Calibri"/>
            </a:endParaRPr>
          </a:p>
        </p:txBody>
      </p:sp>
      <p:sp>
        <p:nvSpPr>
          <p:cNvPr id="199" name="Google Shape;199;p9"/>
          <p:cNvSpPr/>
          <p:nvPr/>
        </p:nvSpPr>
        <p:spPr>
          <a:xfrm>
            <a:off x="594360" y="2011680"/>
            <a:ext cx="2468880" cy="1371600"/>
          </a:xfrm>
          <a:prstGeom prst="roundRect">
            <a:avLst>
              <a:gd fmla="val 9333" name="adj"/>
            </a:avLst>
          </a:prstGeom>
          <a:solidFill>
            <a:srgbClr val="FFFFFF"/>
          </a:solidFill>
          <a:ln cap="flat" cmpd="sng" w="12700">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 name="Google Shape;200;p9"/>
          <p:cNvSpPr/>
          <p:nvPr/>
        </p:nvSpPr>
        <p:spPr>
          <a:xfrm>
            <a:off x="722376" y="2276856"/>
            <a:ext cx="222199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3148"/>
              </a:buClr>
              <a:buSzPts val="2000"/>
              <a:buFont typeface="Arial"/>
              <a:buNone/>
            </a:pPr>
            <a:r>
              <a:rPr b="1" lang="en-US" sz="2000">
                <a:solidFill>
                  <a:srgbClr val="203148"/>
                </a:solidFill>
                <a:latin typeface="Arial"/>
                <a:ea typeface="Arial"/>
                <a:cs typeface="Arial"/>
                <a:sym typeface="Arial"/>
              </a:rPr>
              <a:t>Conv 32 channels</a:t>
            </a:r>
            <a:endParaRPr sz="2000">
              <a:solidFill>
                <a:schemeClr val="dk1"/>
              </a:solidFill>
              <a:latin typeface="Calibri"/>
              <a:ea typeface="Calibri"/>
              <a:cs typeface="Calibri"/>
              <a:sym typeface="Calibri"/>
            </a:endParaRPr>
          </a:p>
        </p:txBody>
      </p:sp>
      <p:sp>
        <p:nvSpPr>
          <p:cNvPr id="201" name="Google Shape;201;p9"/>
          <p:cNvSpPr/>
          <p:nvPr/>
        </p:nvSpPr>
        <p:spPr>
          <a:xfrm>
            <a:off x="722376" y="2770632"/>
            <a:ext cx="222199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18198"/>
              </a:buClr>
              <a:buSzPts val="1400"/>
              <a:buFont typeface="Arial"/>
              <a:buNone/>
            </a:pPr>
            <a:r>
              <a:rPr lang="en-US" sz="1400">
                <a:solidFill>
                  <a:srgbClr val="718198"/>
                </a:solidFill>
                <a:latin typeface="Arial"/>
                <a:ea typeface="Arial"/>
                <a:cs typeface="Arial"/>
                <a:sym typeface="Arial"/>
              </a:rPr>
              <a:t>BN → ReLU → Pool</a:t>
            </a:r>
            <a:endParaRPr sz="1400">
              <a:solidFill>
                <a:schemeClr val="dk1"/>
              </a:solidFill>
              <a:latin typeface="Calibri"/>
              <a:ea typeface="Calibri"/>
              <a:cs typeface="Calibri"/>
              <a:sym typeface="Calibri"/>
            </a:endParaRPr>
          </a:p>
        </p:txBody>
      </p:sp>
      <p:cxnSp>
        <p:nvCxnSpPr>
          <p:cNvPr id="202" name="Google Shape;202;p9"/>
          <p:cNvCxnSpPr/>
          <p:nvPr/>
        </p:nvCxnSpPr>
        <p:spPr>
          <a:xfrm>
            <a:off x="3090672" y="2706624"/>
            <a:ext cx="329184" cy="0"/>
          </a:xfrm>
          <a:prstGeom prst="straightConnector1">
            <a:avLst/>
          </a:prstGeom>
          <a:noFill/>
          <a:ln cap="flat" cmpd="sng" w="25400">
            <a:solidFill>
              <a:srgbClr val="2B78E4"/>
            </a:solidFill>
            <a:prstDash val="solid"/>
            <a:round/>
            <a:headEnd len="sm" w="sm" type="none"/>
            <a:tailEnd len="med" w="med" type="triangle"/>
          </a:ln>
        </p:spPr>
      </p:cxnSp>
      <p:sp>
        <p:nvSpPr>
          <p:cNvPr id="203" name="Google Shape;203;p9"/>
          <p:cNvSpPr/>
          <p:nvPr/>
        </p:nvSpPr>
        <p:spPr>
          <a:xfrm>
            <a:off x="3456432" y="2011680"/>
            <a:ext cx="2468880" cy="1371600"/>
          </a:xfrm>
          <a:prstGeom prst="roundRect">
            <a:avLst>
              <a:gd fmla="val 9333" name="adj"/>
            </a:avLst>
          </a:prstGeom>
          <a:solidFill>
            <a:srgbClr val="E8F2FF"/>
          </a:solidFill>
          <a:ln cap="flat" cmpd="sng" w="12700">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9"/>
          <p:cNvSpPr/>
          <p:nvPr/>
        </p:nvSpPr>
        <p:spPr>
          <a:xfrm>
            <a:off x="3584448" y="2276856"/>
            <a:ext cx="222199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3148"/>
              </a:buClr>
              <a:buSzPts val="2000"/>
              <a:buFont typeface="Arial"/>
              <a:buNone/>
            </a:pPr>
            <a:r>
              <a:rPr b="1" lang="en-US" sz="2000">
                <a:solidFill>
                  <a:srgbClr val="203148"/>
                </a:solidFill>
                <a:latin typeface="Arial"/>
                <a:ea typeface="Arial"/>
                <a:cs typeface="Arial"/>
                <a:sym typeface="Arial"/>
              </a:rPr>
              <a:t>Conv 64 channels</a:t>
            </a:r>
            <a:endParaRPr sz="2000">
              <a:solidFill>
                <a:schemeClr val="dk1"/>
              </a:solidFill>
              <a:latin typeface="Calibri"/>
              <a:ea typeface="Calibri"/>
              <a:cs typeface="Calibri"/>
              <a:sym typeface="Calibri"/>
            </a:endParaRPr>
          </a:p>
        </p:txBody>
      </p:sp>
      <p:sp>
        <p:nvSpPr>
          <p:cNvPr id="205" name="Google Shape;205;p9"/>
          <p:cNvSpPr/>
          <p:nvPr/>
        </p:nvSpPr>
        <p:spPr>
          <a:xfrm>
            <a:off x="3584448" y="2770632"/>
            <a:ext cx="222199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18198"/>
              </a:buClr>
              <a:buSzPts val="1400"/>
              <a:buFont typeface="Arial"/>
              <a:buNone/>
            </a:pPr>
            <a:r>
              <a:rPr lang="en-US" sz="1400">
                <a:solidFill>
                  <a:srgbClr val="718198"/>
                </a:solidFill>
                <a:latin typeface="Arial"/>
                <a:ea typeface="Arial"/>
                <a:cs typeface="Arial"/>
                <a:sym typeface="Arial"/>
              </a:rPr>
              <a:t>BN → ReLU → Pool</a:t>
            </a:r>
            <a:endParaRPr sz="1400">
              <a:solidFill>
                <a:schemeClr val="dk1"/>
              </a:solidFill>
              <a:latin typeface="Calibri"/>
              <a:ea typeface="Calibri"/>
              <a:cs typeface="Calibri"/>
              <a:sym typeface="Calibri"/>
            </a:endParaRPr>
          </a:p>
        </p:txBody>
      </p:sp>
      <p:cxnSp>
        <p:nvCxnSpPr>
          <p:cNvPr id="206" name="Google Shape;206;p9"/>
          <p:cNvCxnSpPr/>
          <p:nvPr/>
        </p:nvCxnSpPr>
        <p:spPr>
          <a:xfrm>
            <a:off x="5952744" y="2706624"/>
            <a:ext cx="329184" cy="0"/>
          </a:xfrm>
          <a:prstGeom prst="straightConnector1">
            <a:avLst/>
          </a:prstGeom>
          <a:noFill/>
          <a:ln cap="flat" cmpd="sng" w="25400">
            <a:solidFill>
              <a:srgbClr val="2B78E4"/>
            </a:solidFill>
            <a:prstDash val="solid"/>
            <a:round/>
            <a:headEnd len="sm" w="sm" type="none"/>
            <a:tailEnd len="med" w="med" type="triangle"/>
          </a:ln>
        </p:spPr>
      </p:cxnSp>
      <p:sp>
        <p:nvSpPr>
          <p:cNvPr id="207" name="Google Shape;207;p9"/>
          <p:cNvSpPr/>
          <p:nvPr/>
        </p:nvSpPr>
        <p:spPr>
          <a:xfrm>
            <a:off x="6318504" y="2011680"/>
            <a:ext cx="2468880" cy="1371600"/>
          </a:xfrm>
          <a:prstGeom prst="roundRect">
            <a:avLst>
              <a:gd fmla="val 9333" name="adj"/>
            </a:avLst>
          </a:prstGeom>
          <a:solidFill>
            <a:srgbClr val="FFFFFF"/>
          </a:solidFill>
          <a:ln cap="flat" cmpd="sng" w="12700">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 name="Google Shape;208;p9"/>
          <p:cNvSpPr/>
          <p:nvPr/>
        </p:nvSpPr>
        <p:spPr>
          <a:xfrm>
            <a:off x="6446520" y="2276856"/>
            <a:ext cx="222199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3148"/>
              </a:buClr>
              <a:buSzPts val="2000"/>
              <a:buFont typeface="Arial"/>
              <a:buNone/>
            </a:pPr>
            <a:r>
              <a:rPr b="1" lang="en-US" sz="2000">
                <a:solidFill>
                  <a:srgbClr val="203148"/>
                </a:solidFill>
                <a:latin typeface="Arial"/>
                <a:ea typeface="Arial"/>
                <a:cs typeface="Arial"/>
                <a:sym typeface="Arial"/>
              </a:rPr>
              <a:t>Conv 128 channels</a:t>
            </a:r>
            <a:endParaRPr sz="2000">
              <a:solidFill>
                <a:schemeClr val="dk1"/>
              </a:solidFill>
              <a:latin typeface="Calibri"/>
              <a:ea typeface="Calibri"/>
              <a:cs typeface="Calibri"/>
              <a:sym typeface="Calibri"/>
            </a:endParaRPr>
          </a:p>
        </p:txBody>
      </p:sp>
      <p:sp>
        <p:nvSpPr>
          <p:cNvPr id="209" name="Google Shape;209;p9"/>
          <p:cNvSpPr/>
          <p:nvPr/>
        </p:nvSpPr>
        <p:spPr>
          <a:xfrm>
            <a:off x="6446520" y="2770632"/>
            <a:ext cx="222199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18198"/>
              </a:buClr>
              <a:buSzPts val="1400"/>
              <a:buFont typeface="Arial"/>
              <a:buNone/>
            </a:pPr>
            <a:r>
              <a:rPr lang="en-US" sz="1400">
                <a:solidFill>
                  <a:srgbClr val="718198"/>
                </a:solidFill>
                <a:latin typeface="Arial"/>
                <a:ea typeface="Arial"/>
                <a:cs typeface="Arial"/>
                <a:sym typeface="Arial"/>
              </a:rPr>
              <a:t>BN → ReLU → Pool</a:t>
            </a:r>
            <a:endParaRPr sz="1400">
              <a:solidFill>
                <a:schemeClr val="dk1"/>
              </a:solidFill>
              <a:latin typeface="Calibri"/>
              <a:ea typeface="Calibri"/>
              <a:cs typeface="Calibri"/>
              <a:sym typeface="Calibri"/>
            </a:endParaRPr>
          </a:p>
        </p:txBody>
      </p:sp>
      <p:cxnSp>
        <p:nvCxnSpPr>
          <p:cNvPr id="210" name="Google Shape;210;p9"/>
          <p:cNvCxnSpPr/>
          <p:nvPr/>
        </p:nvCxnSpPr>
        <p:spPr>
          <a:xfrm>
            <a:off x="8814816" y="2706624"/>
            <a:ext cx="329184" cy="0"/>
          </a:xfrm>
          <a:prstGeom prst="straightConnector1">
            <a:avLst/>
          </a:prstGeom>
          <a:noFill/>
          <a:ln cap="flat" cmpd="sng" w="25400">
            <a:solidFill>
              <a:srgbClr val="2B78E4"/>
            </a:solidFill>
            <a:prstDash val="solid"/>
            <a:round/>
            <a:headEnd len="sm" w="sm" type="none"/>
            <a:tailEnd len="med" w="med" type="triangle"/>
          </a:ln>
        </p:spPr>
      </p:cxnSp>
      <p:sp>
        <p:nvSpPr>
          <p:cNvPr id="211" name="Google Shape;211;p9"/>
          <p:cNvSpPr/>
          <p:nvPr/>
        </p:nvSpPr>
        <p:spPr>
          <a:xfrm>
            <a:off x="9180576" y="2011680"/>
            <a:ext cx="2468880" cy="1371600"/>
          </a:xfrm>
          <a:prstGeom prst="roundRect">
            <a:avLst>
              <a:gd fmla="val 9333" name="adj"/>
            </a:avLst>
          </a:prstGeom>
          <a:solidFill>
            <a:srgbClr val="E8F2FF"/>
          </a:solidFill>
          <a:ln cap="flat" cmpd="sng" w="12700">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p9"/>
          <p:cNvSpPr/>
          <p:nvPr/>
        </p:nvSpPr>
        <p:spPr>
          <a:xfrm>
            <a:off x="9308592" y="2276856"/>
            <a:ext cx="222199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3148"/>
              </a:buClr>
              <a:buSzPts val="2000"/>
              <a:buFont typeface="Arial"/>
              <a:buNone/>
            </a:pPr>
            <a:r>
              <a:rPr b="1" lang="en-US" sz="2000">
                <a:solidFill>
                  <a:srgbClr val="203148"/>
                </a:solidFill>
                <a:latin typeface="Arial"/>
                <a:ea typeface="Arial"/>
                <a:cs typeface="Arial"/>
                <a:sym typeface="Arial"/>
              </a:rPr>
              <a:t>Conv 256 channels</a:t>
            </a:r>
            <a:endParaRPr sz="2000">
              <a:solidFill>
                <a:schemeClr val="dk1"/>
              </a:solidFill>
              <a:latin typeface="Calibri"/>
              <a:ea typeface="Calibri"/>
              <a:cs typeface="Calibri"/>
              <a:sym typeface="Calibri"/>
            </a:endParaRPr>
          </a:p>
        </p:txBody>
      </p:sp>
      <p:sp>
        <p:nvSpPr>
          <p:cNvPr id="213" name="Google Shape;213;p9"/>
          <p:cNvSpPr/>
          <p:nvPr/>
        </p:nvSpPr>
        <p:spPr>
          <a:xfrm>
            <a:off x="9308592" y="2770632"/>
            <a:ext cx="222199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18198"/>
              </a:buClr>
              <a:buSzPts val="1400"/>
              <a:buFont typeface="Arial"/>
              <a:buNone/>
            </a:pPr>
            <a:r>
              <a:rPr lang="en-US" sz="1400">
                <a:solidFill>
                  <a:srgbClr val="718198"/>
                </a:solidFill>
                <a:latin typeface="Arial"/>
                <a:ea typeface="Arial"/>
                <a:cs typeface="Arial"/>
                <a:sym typeface="Arial"/>
              </a:rPr>
              <a:t>BN → ReLU → Pool</a:t>
            </a:r>
            <a:endParaRPr sz="1400">
              <a:solidFill>
                <a:schemeClr val="dk1"/>
              </a:solidFill>
              <a:latin typeface="Calibri"/>
              <a:ea typeface="Calibri"/>
              <a:cs typeface="Calibri"/>
              <a:sym typeface="Calibri"/>
            </a:endParaRPr>
          </a:p>
        </p:txBody>
      </p:sp>
      <p:sp>
        <p:nvSpPr>
          <p:cNvPr id="214" name="Google Shape;214;p9"/>
          <p:cNvSpPr/>
          <p:nvPr/>
        </p:nvSpPr>
        <p:spPr>
          <a:xfrm>
            <a:off x="1600200" y="4224528"/>
            <a:ext cx="9006840" cy="1005840"/>
          </a:xfrm>
          <a:prstGeom prst="roundRect">
            <a:avLst>
              <a:gd fmla="val 12727" name="adj"/>
            </a:avLst>
          </a:prstGeom>
          <a:solidFill>
            <a:srgbClr val="101A2B"/>
          </a:solidFill>
          <a:ln cap="flat" cmpd="sng" w="12700">
            <a:solidFill>
              <a:srgbClr val="101A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9"/>
          <p:cNvSpPr/>
          <p:nvPr/>
        </p:nvSpPr>
        <p:spPr>
          <a:xfrm>
            <a:off x="1837944" y="4526280"/>
            <a:ext cx="8540496"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Arial"/>
              <a:buNone/>
            </a:pPr>
            <a:r>
              <a:rPr b="1" lang="en-US" sz="1900">
                <a:solidFill>
                  <a:srgbClr val="FFFFFF"/>
                </a:solidFill>
                <a:latin typeface="Arial"/>
                <a:ea typeface="Arial"/>
                <a:cs typeface="Arial"/>
                <a:sym typeface="Arial"/>
              </a:rPr>
              <a:t>Global Avg Pool  →  Dropout  →  Linear(21)  →  Softmax scores</a:t>
            </a:r>
            <a:endParaRPr sz="1900">
              <a:solidFill>
                <a:schemeClr val="dk1"/>
              </a:solidFill>
              <a:latin typeface="Calibri"/>
              <a:ea typeface="Calibri"/>
              <a:cs typeface="Calibri"/>
              <a:sym typeface="Calibri"/>
            </a:endParaRPr>
          </a:p>
        </p:txBody>
      </p:sp>
      <p:sp>
        <p:nvSpPr>
          <p:cNvPr id="216" name="Google Shape;216;p9"/>
          <p:cNvSpPr/>
          <p:nvPr/>
        </p:nvSpPr>
        <p:spPr>
          <a:xfrm>
            <a:off x="1005840" y="5715000"/>
            <a:ext cx="106984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18198"/>
              </a:buClr>
              <a:buSzPts val="1700"/>
              <a:buFont typeface="Arial"/>
              <a:buNone/>
            </a:pPr>
            <a:r>
              <a:rPr lang="en-US" sz="1700">
                <a:solidFill>
                  <a:srgbClr val="718198"/>
                </a:solidFill>
                <a:latin typeface="Arial"/>
                <a:ea typeface="Arial"/>
                <a:cs typeface="Arial"/>
                <a:sym typeface="Arial"/>
              </a:rPr>
              <a:t>128×128 input  ·  Cross-entropy loss  ·  Adam  ·  No pretrained weights</a:t>
            </a:r>
            <a:endParaRPr sz="17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B"/>
        </a:solidFill>
      </p:bgPr>
    </p:bg>
    <p:spTree>
      <p:nvGrpSpPr>
        <p:cNvPr id="221" name="Shape 221"/>
        <p:cNvGrpSpPr/>
        <p:nvPr/>
      </p:nvGrpSpPr>
      <p:grpSpPr>
        <a:xfrm>
          <a:off x="0" y="0"/>
          <a:ext cx="0" cy="0"/>
          <a:chOff x="0" y="0"/>
          <a:chExt cx="0" cy="0"/>
        </a:xfrm>
      </p:grpSpPr>
      <p:sp>
        <p:nvSpPr>
          <p:cNvPr id="222" name="Google Shape;222;p10"/>
          <p:cNvSpPr/>
          <p:nvPr/>
        </p:nvSpPr>
        <p:spPr>
          <a:xfrm>
            <a:off x="0" y="0"/>
            <a:ext cx="12191695"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3" name="Google Shape;223;p10"/>
          <p:cNvSpPr/>
          <p:nvPr/>
        </p:nvSpPr>
        <p:spPr>
          <a:xfrm>
            <a:off x="0" y="0"/>
            <a:ext cx="109728" cy="6858000"/>
          </a:xfrm>
          <a:prstGeom prst="rect">
            <a:avLst/>
          </a:prstGeom>
          <a:solidFill>
            <a:srgbClr val="1093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4" name="Google Shape;224;p10"/>
          <p:cNvSpPr txBox="1"/>
          <p:nvPr/>
        </p:nvSpPr>
        <p:spPr>
          <a:xfrm>
            <a:off x="566928" y="265176"/>
            <a:ext cx="10058400" cy="228600"/>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1" lang="en-US" sz="1000">
                <a:solidFill>
                  <a:srgbClr val="1093A8"/>
                </a:solidFill>
                <a:latin typeface="Arial"/>
                <a:ea typeface="Arial"/>
                <a:cs typeface="Arial"/>
                <a:sym typeface="Arial"/>
              </a:rPr>
              <a:t>FOOD-101 · EXPERIMENT</a:t>
            </a:r>
            <a:endParaRPr/>
          </a:p>
        </p:txBody>
      </p:sp>
      <p:sp>
        <p:nvSpPr>
          <p:cNvPr id="225" name="Google Shape;225;p10"/>
          <p:cNvSpPr txBox="1"/>
          <p:nvPr/>
        </p:nvSpPr>
        <p:spPr>
          <a:xfrm>
            <a:off x="566928" y="667512"/>
            <a:ext cx="10972800" cy="594360"/>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1" lang="en-US" sz="2800">
                <a:solidFill>
                  <a:srgbClr val="122A48"/>
                </a:solidFill>
                <a:latin typeface="Arial"/>
                <a:ea typeface="Arial"/>
                <a:cs typeface="Arial"/>
                <a:sym typeface="Arial"/>
              </a:rPr>
              <a:t>Deep model: ResNet-50 transfer learning</a:t>
            </a:r>
            <a:endParaRPr/>
          </a:p>
        </p:txBody>
      </p:sp>
      <p:sp>
        <p:nvSpPr>
          <p:cNvPr id="226" name="Google Shape;226;p10"/>
          <p:cNvSpPr/>
          <p:nvPr/>
        </p:nvSpPr>
        <p:spPr>
          <a:xfrm>
            <a:off x="566928" y="1344168"/>
            <a:ext cx="11009376" cy="16459"/>
          </a:xfrm>
          <a:prstGeom prst="rect">
            <a:avLst/>
          </a:prstGeom>
          <a:solidFill>
            <a:srgbClr val="D5E1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7" name="Google Shape;227;p10"/>
          <p:cNvSpPr txBox="1"/>
          <p:nvPr/>
        </p:nvSpPr>
        <p:spPr>
          <a:xfrm>
            <a:off x="11018520" y="6483096"/>
            <a:ext cx="566928" cy="228600"/>
          </a:xfrm>
          <a:prstGeom prst="rect">
            <a:avLst/>
          </a:prstGeom>
          <a:noFill/>
          <a:ln>
            <a:noFill/>
          </a:ln>
        </p:spPr>
        <p:txBody>
          <a:bodyPr anchorCtr="0" anchor="t" bIns="12700" lIns="12700" spcFirstLastPara="1" rIns="12700" wrap="square" tIns="12700">
            <a:spAutoFit/>
          </a:bodyPr>
          <a:lstStyle/>
          <a:p>
            <a:pPr indent="0" lvl="0" marL="0" marR="0" rtl="0" algn="r">
              <a:spcBef>
                <a:spcPts val="0"/>
              </a:spcBef>
              <a:spcAft>
                <a:spcPts val="0"/>
              </a:spcAft>
              <a:buNone/>
            </a:pPr>
            <a:r>
              <a:rPr b="0" lang="en-US" sz="1000">
                <a:solidFill>
                  <a:srgbClr val="697787"/>
                </a:solidFill>
                <a:latin typeface="Arial"/>
                <a:ea typeface="Arial"/>
                <a:cs typeface="Arial"/>
                <a:sym typeface="Arial"/>
              </a:rPr>
              <a:t>8</a:t>
            </a:r>
            <a:endParaRPr/>
          </a:p>
        </p:txBody>
      </p:sp>
      <p:sp>
        <p:nvSpPr>
          <p:cNvPr id="228" name="Google Shape;228;p10"/>
          <p:cNvSpPr txBox="1"/>
          <p:nvPr/>
        </p:nvSpPr>
        <p:spPr>
          <a:xfrm>
            <a:off x="731520" y="1572768"/>
            <a:ext cx="10698480" cy="384048"/>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1" lang="en-US" sz="1700">
                <a:solidFill>
                  <a:srgbClr val="263748"/>
                </a:solidFill>
                <a:latin typeface="Arial"/>
                <a:ea typeface="Arial"/>
                <a:cs typeface="Arial"/>
                <a:sym typeface="Arial"/>
              </a:rPr>
              <a:t>ImageNet-pretrained ResNet-50 → new 21-class classifier · 224 × 224 RGB input</a:t>
            </a:r>
            <a:endParaRPr/>
          </a:p>
        </p:txBody>
      </p:sp>
      <p:sp>
        <p:nvSpPr>
          <p:cNvPr id="229" name="Google Shape;229;p10"/>
          <p:cNvSpPr/>
          <p:nvPr/>
        </p:nvSpPr>
        <p:spPr>
          <a:xfrm>
            <a:off x="795528" y="2121408"/>
            <a:ext cx="3739896" cy="438912"/>
          </a:xfrm>
          <a:prstGeom prst="rect">
            <a:avLst/>
          </a:prstGeom>
          <a:solidFill>
            <a:srgbClr val="122A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0" name="Google Shape;230;p10"/>
          <p:cNvSpPr txBox="1"/>
          <p:nvPr/>
        </p:nvSpPr>
        <p:spPr>
          <a:xfrm>
            <a:off x="905256" y="2194560"/>
            <a:ext cx="3575303" cy="274320"/>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1" lang="en-US" sz="1300">
                <a:solidFill>
                  <a:srgbClr val="FFFFFF"/>
                </a:solidFill>
                <a:latin typeface="Arial"/>
                <a:ea typeface="Arial"/>
                <a:cs typeface="Arial"/>
                <a:sym typeface="Arial"/>
              </a:rPr>
              <a:t>Network block</a:t>
            </a:r>
            <a:endParaRPr/>
          </a:p>
        </p:txBody>
      </p:sp>
      <p:sp>
        <p:nvSpPr>
          <p:cNvPr id="231" name="Google Shape;231;p10"/>
          <p:cNvSpPr/>
          <p:nvPr/>
        </p:nvSpPr>
        <p:spPr>
          <a:xfrm>
            <a:off x="4572000" y="2121408"/>
            <a:ext cx="2157984" cy="438912"/>
          </a:xfrm>
          <a:prstGeom prst="rect">
            <a:avLst/>
          </a:prstGeom>
          <a:solidFill>
            <a:srgbClr val="122A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2" name="Google Shape;232;p10"/>
          <p:cNvSpPr txBox="1"/>
          <p:nvPr/>
        </p:nvSpPr>
        <p:spPr>
          <a:xfrm>
            <a:off x="4681728" y="2194560"/>
            <a:ext cx="1993391" cy="274320"/>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1" lang="en-US" sz="1300">
                <a:solidFill>
                  <a:srgbClr val="FFFFFF"/>
                </a:solidFill>
                <a:latin typeface="Arial"/>
                <a:ea typeface="Arial"/>
                <a:cs typeface="Arial"/>
                <a:sym typeface="Arial"/>
              </a:rPr>
              <a:t>Parameters</a:t>
            </a:r>
            <a:endParaRPr/>
          </a:p>
        </p:txBody>
      </p:sp>
      <p:sp>
        <p:nvSpPr>
          <p:cNvPr id="233" name="Google Shape;233;p10"/>
          <p:cNvSpPr/>
          <p:nvPr/>
        </p:nvSpPr>
        <p:spPr>
          <a:xfrm>
            <a:off x="6766560" y="2121408"/>
            <a:ext cx="2340864" cy="438912"/>
          </a:xfrm>
          <a:prstGeom prst="rect">
            <a:avLst/>
          </a:prstGeom>
          <a:solidFill>
            <a:srgbClr val="122A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4" name="Google Shape;234;p10"/>
          <p:cNvSpPr txBox="1"/>
          <p:nvPr/>
        </p:nvSpPr>
        <p:spPr>
          <a:xfrm>
            <a:off x="6876288" y="2194560"/>
            <a:ext cx="2176272" cy="274320"/>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1" lang="en-US" sz="1300">
                <a:solidFill>
                  <a:srgbClr val="FFFFFF"/>
                </a:solidFill>
                <a:latin typeface="Arial"/>
                <a:ea typeface="Arial"/>
                <a:cs typeface="Arial"/>
                <a:sym typeface="Arial"/>
              </a:rPr>
              <a:t>Stage 1</a:t>
            </a:r>
            <a:endParaRPr/>
          </a:p>
        </p:txBody>
      </p:sp>
      <p:sp>
        <p:nvSpPr>
          <p:cNvPr id="235" name="Google Shape;235;p10"/>
          <p:cNvSpPr/>
          <p:nvPr/>
        </p:nvSpPr>
        <p:spPr>
          <a:xfrm>
            <a:off x="9144000" y="2121408"/>
            <a:ext cx="2176272" cy="438912"/>
          </a:xfrm>
          <a:prstGeom prst="rect">
            <a:avLst/>
          </a:prstGeom>
          <a:solidFill>
            <a:srgbClr val="122A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6" name="Google Shape;236;p10"/>
          <p:cNvSpPr txBox="1"/>
          <p:nvPr/>
        </p:nvSpPr>
        <p:spPr>
          <a:xfrm>
            <a:off x="9253728" y="2194560"/>
            <a:ext cx="2011679" cy="274320"/>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1" lang="en-US" sz="1300">
                <a:solidFill>
                  <a:srgbClr val="FFFFFF"/>
                </a:solidFill>
                <a:latin typeface="Arial"/>
                <a:ea typeface="Arial"/>
                <a:cs typeface="Arial"/>
                <a:sym typeface="Arial"/>
              </a:rPr>
              <a:t>Stage 2</a:t>
            </a:r>
            <a:endParaRPr/>
          </a:p>
        </p:txBody>
      </p:sp>
      <p:sp>
        <p:nvSpPr>
          <p:cNvPr id="237" name="Google Shape;237;p10"/>
          <p:cNvSpPr/>
          <p:nvPr/>
        </p:nvSpPr>
        <p:spPr>
          <a:xfrm>
            <a:off x="795528" y="2560320"/>
            <a:ext cx="3739896" cy="420624"/>
          </a:xfrm>
          <a:prstGeom prst="rect">
            <a:avLst/>
          </a:prstGeom>
          <a:solidFill>
            <a:srgbClr val="EEF5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8" name="Google Shape;238;p10"/>
          <p:cNvSpPr txBox="1"/>
          <p:nvPr/>
        </p:nvSpPr>
        <p:spPr>
          <a:xfrm>
            <a:off x="905256" y="2624327"/>
            <a:ext cx="3593591" cy="283464"/>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1" lang="en-US" sz="1300">
                <a:solidFill>
                  <a:srgbClr val="263748"/>
                </a:solidFill>
                <a:latin typeface="Arial"/>
                <a:ea typeface="Arial"/>
                <a:cs typeface="Arial"/>
                <a:sym typeface="Arial"/>
              </a:rPr>
              <a:t>conv1 + bn1</a:t>
            </a:r>
            <a:endParaRPr/>
          </a:p>
        </p:txBody>
      </p:sp>
      <p:sp>
        <p:nvSpPr>
          <p:cNvPr id="239" name="Google Shape;239;p10"/>
          <p:cNvSpPr/>
          <p:nvPr/>
        </p:nvSpPr>
        <p:spPr>
          <a:xfrm>
            <a:off x="4572000" y="2560320"/>
            <a:ext cx="2157984" cy="420624"/>
          </a:xfrm>
          <a:prstGeom prst="rect">
            <a:avLst/>
          </a:prstGeom>
          <a:solidFill>
            <a:srgbClr val="EEF5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0" name="Google Shape;240;p10"/>
          <p:cNvSpPr txBox="1"/>
          <p:nvPr/>
        </p:nvSpPr>
        <p:spPr>
          <a:xfrm>
            <a:off x="4681728" y="2624327"/>
            <a:ext cx="2011679" cy="283464"/>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0" lang="en-US" sz="1300">
                <a:solidFill>
                  <a:srgbClr val="263748"/>
                </a:solidFill>
                <a:latin typeface="Arial"/>
                <a:ea typeface="Arial"/>
                <a:cs typeface="Arial"/>
                <a:sym typeface="Arial"/>
              </a:rPr>
              <a:t>9,536</a:t>
            </a:r>
            <a:endParaRPr/>
          </a:p>
        </p:txBody>
      </p:sp>
      <p:sp>
        <p:nvSpPr>
          <p:cNvPr id="241" name="Google Shape;241;p10"/>
          <p:cNvSpPr/>
          <p:nvPr/>
        </p:nvSpPr>
        <p:spPr>
          <a:xfrm>
            <a:off x="6766560" y="2560320"/>
            <a:ext cx="2340864" cy="420624"/>
          </a:xfrm>
          <a:prstGeom prst="rect">
            <a:avLst/>
          </a:prstGeom>
          <a:solidFill>
            <a:srgbClr val="EEF5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2" name="Google Shape;242;p10"/>
          <p:cNvSpPr txBox="1"/>
          <p:nvPr/>
        </p:nvSpPr>
        <p:spPr>
          <a:xfrm>
            <a:off x="6876288" y="2624327"/>
            <a:ext cx="2194560" cy="283464"/>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0" lang="en-US" sz="1300">
                <a:solidFill>
                  <a:srgbClr val="263748"/>
                </a:solidFill>
                <a:latin typeface="Arial"/>
                <a:ea typeface="Arial"/>
                <a:cs typeface="Arial"/>
                <a:sym typeface="Arial"/>
              </a:rPr>
              <a:t>Frozen</a:t>
            </a:r>
            <a:endParaRPr/>
          </a:p>
        </p:txBody>
      </p:sp>
      <p:sp>
        <p:nvSpPr>
          <p:cNvPr id="243" name="Google Shape;243;p10"/>
          <p:cNvSpPr/>
          <p:nvPr/>
        </p:nvSpPr>
        <p:spPr>
          <a:xfrm>
            <a:off x="9144000" y="2560320"/>
            <a:ext cx="2176272" cy="420624"/>
          </a:xfrm>
          <a:prstGeom prst="rect">
            <a:avLst/>
          </a:prstGeom>
          <a:solidFill>
            <a:srgbClr val="EEF5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4" name="Google Shape;244;p10"/>
          <p:cNvSpPr txBox="1"/>
          <p:nvPr/>
        </p:nvSpPr>
        <p:spPr>
          <a:xfrm>
            <a:off x="9253728" y="2624327"/>
            <a:ext cx="2029967" cy="283464"/>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0" lang="en-US" sz="1300">
                <a:solidFill>
                  <a:srgbClr val="263748"/>
                </a:solidFill>
                <a:latin typeface="Arial"/>
                <a:ea typeface="Arial"/>
                <a:cs typeface="Arial"/>
                <a:sym typeface="Arial"/>
              </a:rPr>
              <a:t>Frozen</a:t>
            </a:r>
            <a:endParaRPr/>
          </a:p>
        </p:txBody>
      </p:sp>
      <p:sp>
        <p:nvSpPr>
          <p:cNvPr id="245" name="Google Shape;245;p10"/>
          <p:cNvSpPr/>
          <p:nvPr/>
        </p:nvSpPr>
        <p:spPr>
          <a:xfrm>
            <a:off x="795528" y="2999232"/>
            <a:ext cx="3739896" cy="42062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6" name="Google Shape;246;p10"/>
          <p:cNvSpPr txBox="1"/>
          <p:nvPr/>
        </p:nvSpPr>
        <p:spPr>
          <a:xfrm>
            <a:off x="905256" y="3063239"/>
            <a:ext cx="3593591" cy="283464"/>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1" lang="en-US" sz="1300">
                <a:solidFill>
                  <a:srgbClr val="263748"/>
                </a:solidFill>
                <a:latin typeface="Arial"/>
                <a:ea typeface="Arial"/>
                <a:cs typeface="Arial"/>
                <a:sym typeface="Arial"/>
              </a:rPr>
              <a:t>layer1</a:t>
            </a:r>
            <a:endParaRPr/>
          </a:p>
        </p:txBody>
      </p:sp>
      <p:sp>
        <p:nvSpPr>
          <p:cNvPr id="247" name="Google Shape;247;p10"/>
          <p:cNvSpPr/>
          <p:nvPr/>
        </p:nvSpPr>
        <p:spPr>
          <a:xfrm>
            <a:off x="4572000" y="2999232"/>
            <a:ext cx="2157984" cy="42062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8" name="Google Shape;248;p10"/>
          <p:cNvSpPr txBox="1"/>
          <p:nvPr/>
        </p:nvSpPr>
        <p:spPr>
          <a:xfrm>
            <a:off x="4681728" y="3063239"/>
            <a:ext cx="2011679" cy="283464"/>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0" lang="en-US" sz="1300">
                <a:solidFill>
                  <a:srgbClr val="263748"/>
                </a:solidFill>
                <a:latin typeface="Arial"/>
                <a:ea typeface="Arial"/>
                <a:cs typeface="Arial"/>
                <a:sym typeface="Arial"/>
              </a:rPr>
              <a:t>215,808</a:t>
            </a:r>
            <a:endParaRPr/>
          </a:p>
        </p:txBody>
      </p:sp>
      <p:sp>
        <p:nvSpPr>
          <p:cNvPr id="249" name="Google Shape;249;p10"/>
          <p:cNvSpPr/>
          <p:nvPr/>
        </p:nvSpPr>
        <p:spPr>
          <a:xfrm>
            <a:off x="6766560" y="2999232"/>
            <a:ext cx="2340864" cy="42062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0" name="Google Shape;250;p10"/>
          <p:cNvSpPr txBox="1"/>
          <p:nvPr/>
        </p:nvSpPr>
        <p:spPr>
          <a:xfrm>
            <a:off x="6876288" y="3063239"/>
            <a:ext cx="2194560" cy="283464"/>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0" lang="en-US" sz="1300">
                <a:solidFill>
                  <a:srgbClr val="263748"/>
                </a:solidFill>
                <a:latin typeface="Arial"/>
                <a:ea typeface="Arial"/>
                <a:cs typeface="Arial"/>
                <a:sym typeface="Arial"/>
              </a:rPr>
              <a:t>Frozen</a:t>
            </a:r>
            <a:endParaRPr/>
          </a:p>
        </p:txBody>
      </p:sp>
      <p:sp>
        <p:nvSpPr>
          <p:cNvPr id="251" name="Google Shape;251;p10"/>
          <p:cNvSpPr/>
          <p:nvPr/>
        </p:nvSpPr>
        <p:spPr>
          <a:xfrm>
            <a:off x="9144000" y="2999232"/>
            <a:ext cx="2176272" cy="42062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2" name="Google Shape;252;p10"/>
          <p:cNvSpPr txBox="1"/>
          <p:nvPr/>
        </p:nvSpPr>
        <p:spPr>
          <a:xfrm>
            <a:off x="9253728" y="3063239"/>
            <a:ext cx="2029967" cy="283464"/>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0" lang="en-US" sz="1300">
                <a:solidFill>
                  <a:srgbClr val="263748"/>
                </a:solidFill>
                <a:latin typeface="Arial"/>
                <a:ea typeface="Arial"/>
                <a:cs typeface="Arial"/>
                <a:sym typeface="Arial"/>
              </a:rPr>
              <a:t>Frozen</a:t>
            </a:r>
            <a:endParaRPr/>
          </a:p>
        </p:txBody>
      </p:sp>
      <p:sp>
        <p:nvSpPr>
          <p:cNvPr id="253" name="Google Shape;253;p10"/>
          <p:cNvSpPr/>
          <p:nvPr/>
        </p:nvSpPr>
        <p:spPr>
          <a:xfrm>
            <a:off x="795528" y="3438144"/>
            <a:ext cx="3739896" cy="420624"/>
          </a:xfrm>
          <a:prstGeom prst="rect">
            <a:avLst/>
          </a:prstGeom>
          <a:solidFill>
            <a:srgbClr val="EEF5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4" name="Google Shape;254;p10"/>
          <p:cNvSpPr txBox="1"/>
          <p:nvPr/>
        </p:nvSpPr>
        <p:spPr>
          <a:xfrm>
            <a:off x="905256" y="3502151"/>
            <a:ext cx="3593591" cy="283464"/>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1" lang="en-US" sz="1300">
                <a:solidFill>
                  <a:srgbClr val="263748"/>
                </a:solidFill>
                <a:latin typeface="Arial"/>
                <a:ea typeface="Arial"/>
                <a:cs typeface="Arial"/>
                <a:sym typeface="Arial"/>
              </a:rPr>
              <a:t>layer2</a:t>
            </a:r>
            <a:endParaRPr/>
          </a:p>
        </p:txBody>
      </p:sp>
      <p:sp>
        <p:nvSpPr>
          <p:cNvPr id="255" name="Google Shape;255;p10"/>
          <p:cNvSpPr/>
          <p:nvPr/>
        </p:nvSpPr>
        <p:spPr>
          <a:xfrm>
            <a:off x="4572000" y="3438144"/>
            <a:ext cx="2157984" cy="420624"/>
          </a:xfrm>
          <a:prstGeom prst="rect">
            <a:avLst/>
          </a:prstGeom>
          <a:solidFill>
            <a:srgbClr val="EEF5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6" name="Google Shape;256;p10"/>
          <p:cNvSpPr txBox="1"/>
          <p:nvPr/>
        </p:nvSpPr>
        <p:spPr>
          <a:xfrm>
            <a:off x="4681728" y="3502151"/>
            <a:ext cx="2011679" cy="283464"/>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0" lang="en-US" sz="1300">
                <a:solidFill>
                  <a:srgbClr val="263748"/>
                </a:solidFill>
                <a:latin typeface="Arial"/>
                <a:ea typeface="Arial"/>
                <a:cs typeface="Arial"/>
                <a:sym typeface="Arial"/>
              </a:rPr>
              <a:t>1,219,584</a:t>
            </a:r>
            <a:endParaRPr/>
          </a:p>
        </p:txBody>
      </p:sp>
      <p:sp>
        <p:nvSpPr>
          <p:cNvPr id="257" name="Google Shape;257;p10"/>
          <p:cNvSpPr/>
          <p:nvPr/>
        </p:nvSpPr>
        <p:spPr>
          <a:xfrm>
            <a:off x="6766560" y="3438144"/>
            <a:ext cx="2340864" cy="420624"/>
          </a:xfrm>
          <a:prstGeom prst="rect">
            <a:avLst/>
          </a:prstGeom>
          <a:solidFill>
            <a:srgbClr val="EEF5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8" name="Google Shape;258;p10"/>
          <p:cNvSpPr txBox="1"/>
          <p:nvPr/>
        </p:nvSpPr>
        <p:spPr>
          <a:xfrm>
            <a:off x="6876288" y="3502151"/>
            <a:ext cx="2194560" cy="283464"/>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0" lang="en-US" sz="1300">
                <a:solidFill>
                  <a:srgbClr val="263748"/>
                </a:solidFill>
                <a:latin typeface="Arial"/>
                <a:ea typeface="Arial"/>
                <a:cs typeface="Arial"/>
                <a:sym typeface="Arial"/>
              </a:rPr>
              <a:t>Frozen</a:t>
            </a:r>
            <a:endParaRPr/>
          </a:p>
        </p:txBody>
      </p:sp>
      <p:sp>
        <p:nvSpPr>
          <p:cNvPr id="259" name="Google Shape;259;p10"/>
          <p:cNvSpPr/>
          <p:nvPr/>
        </p:nvSpPr>
        <p:spPr>
          <a:xfrm>
            <a:off x="9144000" y="3438144"/>
            <a:ext cx="2176272" cy="420624"/>
          </a:xfrm>
          <a:prstGeom prst="rect">
            <a:avLst/>
          </a:prstGeom>
          <a:solidFill>
            <a:srgbClr val="EEF5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0" name="Google Shape;260;p10"/>
          <p:cNvSpPr txBox="1"/>
          <p:nvPr/>
        </p:nvSpPr>
        <p:spPr>
          <a:xfrm>
            <a:off x="9253728" y="3502151"/>
            <a:ext cx="2029967" cy="283464"/>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0" lang="en-US" sz="1300">
                <a:solidFill>
                  <a:srgbClr val="263748"/>
                </a:solidFill>
                <a:latin typeface="Arial"/>
                <a:ea typeface="Arial"/>
                <a:cs typeface="Arial"/>
                <a:sym typeface="Arial"/>
              </a:rPr>
              <a:t>Frozen</a:t>
            </a:r>
            <a:endParaRPr/>
          </a:p>
        </p:txBody>
      </p:sp>
      <p:sp>
        <p:nvSpPr>
          <p:cNvPr id="261" name="Google Shape;261;p10"/>
          <p:cNvSpPr/>
          <p:nvPr/>
        </p:nvSpPr>
        <p:spPr>
          <a:xfrm>
            <a:off x="795528" y="3877056"/>
            <a:ext cx="3739896" cy="42062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2" name="Google Shape;262;p10"/>
          <p:cNvSpPr txBox="1"/>
          <p:nvPr/>
        </p:nvSpPr>
        <p:spPr>
          <a:xfrm>
            <a:off x="905256" y="3941064"/>
            <a:ext cx="3593591" cy="283464"/>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1" lang="en-US" sz="1300">
                <a:solidFill>
                  <a:srgbClr val="263748"/>
                </a:solidFill>
                <a:latin typeface="Arial"/>
                <a:ea typeface="Arial"/>
                <a:cs typeface="Arial"/>
                <a:sym typeface="Arial"/>
              </a:rPr>
              <a:t>layer3</a:t>
            </a:r>
            <a:endParaRPr/>
          </a:p>
        </p:txBody>
      </p:sp>
      <p:sp>
        <p:nvSpPr>
          <p:cNvPr id="263" name="Google Shape;263;p10"/>
          <p:cNvSpPr/>
          <p:nvPr/>
        </p:nvSpPr>
        <p:spPr>
          <a:xfrm>
            <a:off x="4572000" y="3877056"/>
            <a:ext cx="2157984" cy="42062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4" name="Google Shape;264;p10"/>
          <p:cNvSpPr txBox="1"/>
          <p:nvPr/>
        </p:nvSpPr>
        <p:spPr>
          <a:xfrm>
            <a:off x="4681728" y="3941064"/>
            <a:ext cx="2011679" cy="283464"/>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0" lang="en-US" sz="1300">
                <a:solidFill>
                  <a:srgbClr val="263748"/>
                </a:solidFill>
                <a:latin typeface="Arial"/>
                <a:ea typeface="Arial"/>
                <a:cs typeface="Arial"/>
                <a:sym typeface="Arial"/>
              </a:rPr>
              <a:t>7,098,368</a:t>
            </a:r>
            <a:endParaRPr/>
          </a:p>
        </p:txBody>
      </p:sp>
      <p:sp>
        <p:nvSpPr>
          <p:cNvPr id="265" name="Google Shape;265;p10"/>
          <p:cNvSpPr/>
          <p:nvPr/>
        </p:nvSpPr>
        <p:spPr>
          <a:xfrm>
            <a:off x="6766560" y="3877056"/>
            <a:ext cx="2340864" cy="42062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6" name="Google Shape;266;p10"/>
          <p:cNvSpPr txBox="1"/>
          <p:nvPr/>
        </p:nvSpPr>
        <p:spPr>
          <a:xfrm>
            <a:off x="6876288" y="3941064"/>
            <a:ext cx="2194560" cy="283464"/>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0" lang="en-US" sz="1300">
                <a:solidFill>
                  <a:srgbClr val="263748"/>
                </a:solidFill>
                <a:latin typeface="Arial"/>
                <a:ea typeface="Arial"/>
                <a:cs typeface="Arial"/>
                <a:sym typeface="Arial"/>
              </a:rPr>
              <a:t>Frozen</a:t>
            </a:r>
            <a:endParaRPr/>
          </a:p>
        </p:txBody>
      </p:sp>
      <p:sp>
        <p:nvSpPr>
          <p:cNvPr id="267" name="Google Shape;267;p10"/>
          <p:cNvSpPr/>
          <p:nvPr/>
        </p:nvSpPr>
        <p:spPr>
          <a:xfrm>
            <a:off x="9144000" y="3877056"/>
            <a:ext cx="2176272" cy="42062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8" name="Google Shape;268;p10"/>
          <p:cNvSpPr txBox="1"/>
          <p:nvPr/>
        </p:nvSpPr>
        <p:spPr>
          <a:xfrm>
            <a:off x="9253728" y="3941064"/>
            <a:ext cx="2029967" cy="283464"/>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0" lang="en-US" sz="1300">
                <a:solidFill>
                  <a:srgbClr val="263748"/>
                </a:solidFill>
                <a:latin typeface="Arial"/>
                <a:ea typeface="Arial"/>
                <a:cs typeface="Arial"/>
                <a:sym typeface="Arial"/>
              </a:rPr>
              <a:t>Frozen</a:t>
            </a:r>
            <a:endParaRPr/>
          </a:p>
        </p:txBody>
      </p:sp>
      <p:sp>
        <p:nvSpPr>
          <p:cNvPr id="269" name="Google Shape;269;p10"/>
          <p:cNvSpPr/>
          <p:nvPr/>
        </p:nvSpPr>
        <p:spPr>
          <a:xfrm>
            <a:off x="795528" y="4315968"/>
            <a:ext cx="3739896" cy="420624"/>
          </a:xfrm>
          <a:prstGeom prst="rect">
            <a:avLst/>
          </a:prstGeom>
          <a:solidFill>
            <a:srgbClr val="EEF5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0" name="Google Shape;270;p10"/>
          <p:cNvSpPr txBox="1"/>
          <p:nvPr/>
        </p:nvSpPr>
        <p:spPr>
          <a:xfrm>
            <a:off x="905256" y="4379976"/>
            <a:ext cx="3593591" cy="283464"/>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1" lang="en-US" sz="1300">
                <a:solidFill>
                  <a:srgbClr val="263748"/>
                </a:solidFill>
                <a:latin typeface="Arial"/>
                <a:ea typeface="Arial"/>
                <a:cs typeface="Arial"/>
                <a:sym typeface="Arial"/>
              </a:rPr>
              <a:t>layer4</a:t>
            </a:r>
            <a:endParaRPr/>
          </a:p>
        </p:txBody>
      </p:sp>
      <p:sp>
        <p:nvSpPr>
          <p:cNvPr id="271" name="Google Shape;271;p10"/>
          <p:cNvSpPr/>
          <p:nvPr/>
        </p:nvSpPr>
        <p:spPr>
          <a:xfrm>
            <a:off x="4572000" y="4315968"/>
            <a:ext cx="2157984" cy="420624"/>
          </a:xfrm>
          <a:prstGeom prst="rect">
            <a:avLst/>
          </a:prstGeom>
          <a:solidFill>
            <a:srgbClr val="EEF5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2" name="Google Shape;272;p10"/>
          <p:cNvSpPr txBox="1"/>
          <p:nvPr/>
        </p:nvSpPr>
        <p:spPr>
          <a:xfrm>
            <a:off x="4681728" y="4379976"/>
            <a:ext cx="2011679" cy="283464"/>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0" lang="en-US" sz="1300">
                <a:solidFill>
                  <a:srgbClr val="263748"/>
                </a:solidFill>
                <a:latin typeface="Arial"/>
                <a:ea typeface="Arial"/>
                <a:cs typeface="Arial"/>
                <a:sym typeface="Arial"/>
              </a:rPr>
              <a:t>14,964,736</a:t>
            </a:r>
            <a:endParaRPr/>
          </a:p>
        </p:txBody>
      </p:sp>
      <p:sp>
        <p:nvSpPr>
          <p:cNvPr id="273" name="Google Shape;273;p10"/>
          <p:cNvSpPr/>
          <p:nvPr/>
        </p:nvSpPr>
        <p:spPr>
          <a:xfrm>
            <a:off x="6766560" y="4315968"/>
            <a:ext cx="2340864" cy="420624"/>
          </a:xfrm>
          <a:prstGeom prst="rect">
            <a:avLst/>
          </a:prstGeom>
          <a:solidFill>
            <a:srgbClr val="EEF5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4" name="Google Shape;274;p10"/>
          <p:cNvSpPr txBox="1"/>
          <p:nvPr/>
        </p:nvSpPr>
        <p:spPr>
          <a:xfrm>
            <a:off x="6876288" y="4379976"/>
            <a:ext cx="2194560" cy="283464"/>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0" lang="en-US" sz="1300">
                <a:solidFill>
                  <a:srgbClr val="263748"/>
                </a:solidFill>
                <a:latin typeface="Arial"/>
                <a:ea typeface="Arial"/>
                <a:cs typeface="Arial"/>
                <a:sym typeface="Arial"/>
              </a:rPr>
              <a:t>Frozen</a:t>
            </a:r>
            <a:endParaRPr/>
          </a:p>
        </p:txBody>
      </p:sp>
      <p:sp>
        <p:nvSpPr>
          <p:cNvPr id="275" name="Google Shape;275;p10"/>
          <p:cNvSpPr/>
          <p:nvPr/>
        </p:nvSpPr>
        <p:spPr>
          <a:xfrm>
            <a:off x="9144000" y="4315968"/>
            <a:ext cx="2176272" cy="420624"/>
          </a:xfrm>
          <a:prstGeom prst="rect">
            <a:avLst/>
          </a:prstGeom>
          <a:solidFill>
            <a:srgbClr val="EEF5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6" name="Google Shape;276;p10"/>
          <p:cNvSpPr txBox="1"/>
          <p:nvPr/>
        </p:nvSpPr>
        <p:spPr>
          <a:xfrm>
            <a:off x="9253728" y="4379976"/>
            <a:ext cx="2029967" cy="283464"/>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1" lang="en-US" sz="1300">
                <a:solidFill>
                  <a:srgbClr val="1093A8"/>
                </a:solidFill>
                <a:latin typeface="Arial"/>
                <a:ea typeface="Arial"/>
                <a:cs typeface="Arial"/>
                <a:sym typeface="Arial"/>
              </a:rPr>
              <a:t>Trainable</a:t>
            </a:r>
            <a:endParaRPr/>
          </a:p>
        </p:txBody>
      </p:sp>
      <p:sp>
        <p:nvSpPr>
          <p:cNvPr id="277" name="Google Shape;277;p10"/>
          <p:cNvSpPr/>
          <p:nvPr/>
        </p:nvSpPr>
        <p:spPr>
          <a:xfrm>
            <a:off x="795528" y="4754879"/>
            <a:ext cx="3739896" cy="42062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8" name="Google Shape;278;p10"/>
          <p:cNvSpPr txBox="1"/>
          <p:nvPr/>
        </p:nvSpPr>
        <p:spPr>
          <a:xfrm>
            <a:off x="905256" y="4818888"/>
            <a:ext cx="3593591" cy="283464"/>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1" lang="en-US" sz="1300">
                <a:solidFill>
                  <a:srgbClr val="263748"/>
                </a:solidFill>
                <a:latin typeface="Arial"/>
                <a:ea typeface="Arial"/>
                <a:cs typeface="Arial"/>
                <a:sym typeface="Arial"/>
              </a:rPr>
              <a:t>fc (new head)</a:t>
            </a:r>
            <a:endParaRPr/>
          </a:p>
        </p:txBody>
      </p:sp>
      <p:sp>
        <p:nvSpPr>
          <p:cNvPr id="279" name="Google Shape;279;p10"/>
          <p:cNvSpPr/>
          <p:nvPr/>
        </p:nvSpPr>
        <p:spPr>
          <a:xfrm>
            <a:off x="4572000" y="4754879"/>
            <a:ext cx="2157984" cy="42062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0" name="Google Shape;280;p10"/>
          <p:cNvSpPr txBox="1"/>
          <p:nvPr/>
        </p:nvSpPr>
        <p:spPr>
          <a:xfrm>
            <a:off x="4681728" y="4818888"/>
            <a:ext cx="2011679" cy="283464"/>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0" lang="en-US" sz="1300">
                <a:solidFill>
                  <a:srgbClr val="263748"/>
                </a:solidFill>
                <a:latin typeface="Arial"/>
                <a:ea typeface="Arial"/>
                <a:cs typeface="Arial"/>
                <a:sym typeface="Arial"/>
              </a:rPr>
              <a:t>43,029</a:t>
            </a:r>
            <a:endParaRPr/>
          </a:p>
        </p:txBody>
      </p:sp>
      <p:sp>
        <p:nvSpPr>
          <p:cNvPr id="281" name="Google Shape;281;p10"/>
          <p:cNvSpPr/>
          <p:nvPr/>
        </p:nvSpPr>
        <p:spPr>
          <a:xfrm>
            <a:off x="6766560" y="4754879"/>
            <a:ext cx="2340864" cy="42062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2" name="Google Shape;282;p10"/>
          <p:cNvSpPr txBox="1"/>
          <p:nvPr/>
        </p:nvSpPr>
        <p:spPr>
          <a:xfrm>
            <a:off x="6876288" y="4818888"/>
            <a:ext cx="2194560" cy="283464"/>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0" lang="en-US" sz="1300">
                <a:solidFill>
                  <a:srgbClr val="1093A8"/>
                </a:solidFill>
                <a:latin typeface="Arial"/>
                <a:ea typeface="Arial"/>
                <a:cs typeface="Arial"/>
                <a:sym typeface="Arial"/>
              </a:rPr>
              <a:t>Trainable</a:t>
            </a:r>
            <a:endParaRPr/>
          </a:p>
        </p:txBody>
      </p:sp>
      <p:sp>
        <p:nvSpPr>
          <p:cNvPr id="283" name="Google Shape;283;p10"/>
          <p:cNvSpPr/>
          <p:nvPr/>
        </p:nvSpPr>
        <p:spPr>
          <a:xfrm>
            <a:off x="9144000" y="4754879"/>
            <a:ext cx="2176272" cy="42062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4" name="Google Shape;284;p10"/>
          <p:cNvSpPr txBox="1"/>
          <p:nvPr/>
        </p:nvSpPr>
        <p:spPr>
          <a:xfrm>
            <a:off x="9253728" y="4818888"/>
            <a:ext cx="2029967" cy="283464"/>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0" lang="en-US" sz="1300">
                <a:solidFill>
                  <a:srgbClr val="1093A8"/>
                </a:solidFill>
                <a:latin typeface="Arial"/>
                <a:ea typeface="Arial"/>
                <a:cs typeface="Arial"/>
                <a:sym typeface="Arial"/>
              </a:rPr>
              <a:t>Trainable</a:t>
            </a:r>
            <a:endParaRPr/>
          </a:p>
        </p:txBody>
      </p:sp>
      <p:sp>
        <p:nvSpPr>
          <p:cNvPr id="285" name="Google Shape;285;p10"/>
          <p:cNvSpPr txBox="1"/>
          <p:nvPr/>
        </p:nvSpPr>
        <p:spPr>
          <a:xfrm>
            <a:off x="822960" y="5504688"/>
            <a:ext cx="10698480" cy="548640"/>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1" lang="en-US" sz="1500">
                <a:solidFill>
                  <a:srgbClr val="122A48"/>
                </a:solidFill>
                <a:latin typeface="Arial"/>
                <a:ea typeface="Arial"/>
                <a:cs typeface="Arial"/>
                <a:sym typeface="Arial"/>
              </a:rPr>
              <a:t>Trainable parameters: Stage 1 = 43,029 (head only)   |   Stage 2 = 15,007,765 (layer4 + head)</a:t>
            </a:r>
            <a:endParaRPr/>
          </a:p>
        </p:txBody>
      </p:sp>
      <p:sp>
        <p:nvSpPr>
          <p:cNvPr id="286" name="Google Shape;286;p10"/>
          <p:cNvSpPr txBox="1"/>
          <p:nvPr/>
        </p:nvSpPr>
        <p:spPr>
          <a:xfrm>
            <a:off x="822960" y="6117336"/>
            <a:ext cx="10698480" cy="274320"/>
          </a:xfrm>
          <a:prstGeom prst="rect">
            <a:avLst/>
          </a:prstGeom>
          <a:noFill/>
          <a:ln>
            <a:noFill/>
          </a:ln>
        </p:spPr>
        <p:txBody>
          <a:bodyPr anchorCtr="0" anchor="t" bIns="12700" lIns="12700" spcFirstLastPara="1" rIns="12700" wrap="square" tIns="12700">
            <a:spAutoFit/>
          </a:bodyPr>
          <a:lstStyle/>
          <a:p>
            <a:pPr indent="0" lvl="0" marL="0" marR="0" rtl="0" algn="l">
              <a:spcBef>
                <a:spcPts val="0"/>
              </a:spcBef>
              <a:spcAft>
                <a:spcPts val="0"/>
              </a:spcAft>
              <a:buNone/>
            </a:pPr>
            <a:r>
              <a:rPr b="0" lang="en-US" sz="1200">
                <a:solidFill>
                  <a:srgbClr val="697787"/>
                </a:solidFill>
                <a:latin typeface="Arial"/>
                <a:ea typeface="Arial"/>
                <a:cs typeface="Arial"/>
                <a:sym typeface="Arial"/>
              </a:rPr>
              <a:t>Head LR 1×10⁻³  ·  Fine-tuning LR 1×10⁻⁴</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B"/>
        </a:solidFill>
      </p:bgPr>
    </p:bg>
    <p:spTree>
      <p:nvGrpSpPr>
        <p:cNvPr id="291" name="Shape 291"/>
        <p:cNvGrpSpPr/>
        <p:nvPr/>
      </p:nvGrpSpPr>
      <p:grpSpPr>
        <a:xfrm>
          <a:off x="0" y="0"/>
          <a:ext cx="0" cy="0"/>
          <a:chOff x="0" y="0"/>
          <a:chExt cx="0" cy="0"/>
        </a:xfrm>
      </p:grpSpPr>
      <p:sp>
        <p:nvSpPr>
          <p:cNvPr id="292" name="Google Shape;292;p11"/>
          <p:cNvSpPr/>
          <p:nvPr/>
        </p:nvSpPr>
        <p:spPr>
          <a:xfrm>
            <a:off x="0" y="0"/>
            <a:ext cx="109728" cy="6858000"/>
          </a:xfrm>
          <a:prstGeom prst="rect">
            <a:avLst/>
          </a:prstGeom>
          <a:solidFill>
            <a:srgbClr val="2B78E4"/>
          </a:solidFill>
          <a:ln cap="flat" cmpd="sng" w="12700">
            <a:solidFill>
              <a:srgbClr val="2B78E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 name="Google Shape;293;p11"/>
          <p:cNvSpPr/>
          <p:nvPr/>
        </p:nvSpPr>
        <p:spPr>
          <a:xfrm>
            <a:off x="566928" y="292608"/>
            <a:ext cx="9144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AE9A"/>
              </a:buClr>
              <a:buSzPts val="1000"/>
              <a:buFont typeface="Arial"/>
              <a:buNone/>
            </a:pPr>
            <a:r>
              <a:rPr b="1" lang="en-US" sz="1000">
                <a:solidFill>
                  <a:srgbClr val="0DAE9A"/>
                </a:solidFill>
                <a:latin typeface="Arial"/>
                <a:ea typeface="Arial"/>
                <a:cs typeface="Arial"/>
                <a:sym typeface="Arial"/>
              </a:rPr>
              <a:t>FOOD-101 · EXPERIMENT</a:t>
            </a:r>
            <a:endParaRPr sz="1000">
              <a:solidFill>
                <a:schemeClr val="dk1"/>
              </a:solidFill>
              <a:latin typeface="Calibri"/>
              <a:ea typeface="Calibri"/>
              <a:cs typeface="Calibri"/>
              <a:sym typeface="Calibri"/>
            </a:endParaRPr>
          </a:p>
        </p:txBody>
      </p:sp>
      <p:sp>
        <p:nvSpPr>
          <p:cNvPr id="294" name="Google Shape;294;p11"/>
          <p:cNvSpPr/>
          <p:nvPr/>
        </p:nvSpPr>
        <p:spPr>
          <a:xfrm>
            <a:off x="566928" y="713232"/>
            <a:ext cx="109728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01A2B"/>
              </a:buClr>
              <a:buSzPts val="2700"/>
              <a:buFont typeface="Arial"/>
              <a:buNone/>
            </a:pPr>
            <a:r>
              <a:rPr b="1" lang="en-US" sz="2700">
                <a:solidFill>
                  <a:srgbClr val="101A2B"/>
                </a:solidFill>
                <a:latin typeface="Arial"/>
                <a:ea typeface="Arial"/>
                <a:cs typeface="Arial"/>
                <a:sym typeface="Arial"/>
              </a:rPr>
              <a:t>Why residual networks and fine-tuning?</a:t>
            </a:r>
            <a:endParaRPr sz="2700">
              <a:solidFill>
                <a:schemeClr val="dk1"/>
              </a:solidFill>
              <a:latin typeface="Calibri"/>
              <a:ea typeface="Calibri"/>
              <a:cs typeface="Calibri"/>
              <a:sym typeface="Calibri"/>
            </a:endParaRPr>
          </a:p>
        </p:txBody>
      </p:sp>
      <p:cxnSp>
        <p:nvCxnSpPr>
          <p:cNvPr id="295" name="Google Shape;295;p11"/>
          <p:cNvCxnSpPr/>
          <p:nvPr/>
        </p:nvCxnSpPr>
        <p:spPr>
          <a:xfrm>
            <a:off x="566928" y="1353312"/>
            <a:ext cx="11018520" cy="0"/>
          </a:xfrm>
          <a:prstGeom prst="straightConnector1">
            <a:avLst/>
          </a:prstGeom>
          <a:noFill/>
          <a:ln cap="flat" cmpd="sng" w="12700">
            <a:solidFill>
              <a:srgbClr val="DEE5EF"/>
            </a:solidFill>
            <a:prstDash val="solid"/>
            <a:round/>
            <a:headEnd len="sm" w="sm" type="none"/>
            <a:tailEnd len="sm" w="sm" type="none"/>
          </a:ln>
        </p:spPr>
      </p:cxnSp>
      <p:sp>
        <p:nvSpPr>
          <p:cNvPr id="296" name="Google Shape;296;p11"/>
          <p:cNvSpPr/>
          <p:nvPr/>
        </p:nvSpPr>
        <p:spPr>
          <a:xfrm>
            <a:off x="11082528" y="6510528"/>
            <a:ext cx="502920" cy="16459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18198"/>
              </a:buClr>
              <a:buSzPts val="1000"/>
              <a:buFont typeface="Arial"/>
              <a:buNone/>
            </a:pPr>
            <a:r>
              <a:rPr lang="en-US" sz="1000">
                <a:solidFill>
                  <a:srgbClr val="718198"/>
                </a:solidFill>
                <a:latin typeface="Arial"/>
                <a:ea typeface="Arial"/>
                <a:cs typeface="Arial"/>
                <a:sym typeface="Arial"/>
              </a:rPr>
              <a:t>09</a:t>
            </a:r>
            <a:endParaRPr sz="1000">
              <a:solidFill>
                <a:schemeClr val="dk1"/>
              </a:solidFill>
              <a:latin typeface="Calibri"/>
              <a:ea typeface="Calibri"/>
              <a:cs typeface="Calibri"/>
              <a:sym typeface="Calibri"/>
            </a:endParaRPr>
          </a:p>
        </p:txBody>
      </p:sp>
      <p:sp>
        <p:nvSpPr>
          <p:cNvPr id="297" name="Google Shape;297;p11"/>
          <p:cNvSpPr/>
          <p:nvPr/>
        </p:nvSpPr>
        <p:spPr>
          <a:xfrm>
            <a:off x="822960" y="1792224"/>
            <a:ext cx="4754880" cy="3154680"/>
          </a:xfrm>
          <a:prstGeom prst="roundRect">
            <a:avLst>
              <a:gd fmla="val 4058" name="adj"/>
            </a:avLst>
          </a:prstGeom>
          <a:solidFill>
            <a:srgbClr val="FFFFFF"/>
          </a:solidFill>
          <a:ln cap="flat" cmpd="sng" w="12700">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11"/>
          <p:cNvSpPr/>
          <p:nvPr/>
        </p:nvSpPr>
        <p:spPr>
          <a:xfrm>
            <a:off x="1078992" y="2048256"/>
            <a:ext cx="41148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3148"/>
              </a:buClr>
              <a:buSzPts val="2300"/>
              <a:buFont typeface="Arial"/>
              <a:buNone/>
            </a:pPr>
            <a:r>
              <a:rPr b="1" lang="en-US" sz="2300">
                <a:solidFill>
                  <a:srgbClr val="203148"/>
                </a:solidFill>
                <a:latin typeface="Arial"/>
                <a:ea typeface="Arial"/>
                <a:cs typeface="Arial"/>
                <a:sym typeface="Arial"/>
              </a:rPr>
              <a:t>Residual connection</a:t>
            </a:r>
            <a:endParaRPr sz="2300">
              <a:solidFill>
                <a:schemeClr val="dk1"/>
              </a:solidFill>
              <a:latin typeface="Calibri"/>
              <a:ea typeface="Calibri"/>
              <a:cs typeface="Calibri"/>
              <a:sym typeface="Calibri"/>
            </a:endParaRPr>
          </a:p>
        </p:txBody>
      </p:sp>
      <p:sp>
        <p:nvSpPr>
          <p:cNvPr id="299" name="Google Shape;299;p11"/>
          <p:cNvSpPr/>
          <p:nvPr/>
        </p:nvSpPr>
        <p:spPr>
          <a:xfrm>
            <a:off x="1252728" y="2889504"/>
            <a:ext cx="1554480" cy="621792"/>
          </a:xfrm>
          <a:prstGeom prst="roundRect">
            <a:avLst>
              <a:gd fmla="val 20588" name="adj"/>
            </a:avLst>
          </a:prstGeom>
          <a:solidFill>
            <a:srgbClr val="E8F2FF"/>
          </a:solidFill>
          <a:ln cap="flat" cmpd="sng" w="12700">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11"/>
          <p:cNvSpPr/>
          <p:nvPr/>
        </p:nvSpPr>
        <p:spPr>
          <a:xfrm>
            <a:off x="1435608" y="3026664"/>
            <a:ext cx="11887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3148"/>
              </a:buClr>
              <a:buSzPts val="2000"/>
              <a:buFont typeface="Arial"/>
              <a:buNone/>
            </a:pPr>
            <a:r>
              <a:rPr b="1" lang="en-US" sz="2000">
                <a:solidFill>
                  <a:srgbClr val="203148"/>
                </a:solidFill>
                <a:latin typeface="Arial"/>
                <a:ea typeface="Arial"/>
                <a:cs typeface="Arial"/>
                <a:sym typeface="Arial"/>
              </a:rPr>
              <a:t>F(x)</a:t>
            </a:r>
            <a:endParaRPr sz="2000">
              <a:solidFill>
                <a:schemeClr val="dk1"/>
              </a:solidFill>
              <a:latin typeface="Calibri"/>
              <a:ea typeface="Calibri"/>
              <a:cs typeface="Calibri"/>
              <a:sym typeface="Calibri"/>
            </a:endParaRPr>
          </a:p>
        </p:txBody>
      </p:sp>
      <p:sp>
        <p:nvSpPr>
          <p:cNvPr id="301" name="Google Shape;301;p11"/>
          <p:cNvSpPr/>
          <p:nvPr/>
        </p:nvSpPr>
        <p:spPr>
          <a:xfrm>
            <a:off x="3429000" y="2889504"/>
            <a:ext cx="1554480" cy="621792"/>
          </a:xfrm>
          <a:prstGeom prst="roundRect">
            <a:avLst>
              <a:gd fmla="val 20588" name="adj"/>
            </a:avLst>
          </a:prstGeom>
          <a:solidFill>
            <a:srgbClr val="DDF4F0"/>
          </a:solidFill>
          <a:ln cap="flat" cmpd="sng" w="12700">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11"/>
          <p:cNvSpPr/>
          <p:nvPr/>
        </p:nvSpPr>
        <p:spPr>
          <a:xfrm>
            <a:off x="3520440" y="3026664"/>
            <a:ext cx="13716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3148"/>
              </a:buClr>
              <a:buSzPts val="1800"/>
              <a:buFont typeface="Arial"/>
              <a:buNone/>
            </a:pPr>
            <a:r>
              <a:rPr b="1" lang="en-US" sz="1800">
                <a:solidFill>
                  <a:srgbClr val="203148"/>
                </a:solidFill>
                <a:latin typeface="Arial"/>
                <a:ea typeface="Arial"/>
                <a:cs typeface="Arial"/>
                <a:sym typeface="Arial"/>
              </a:rPr>
              <a:t>F(x) + x</a:t>
            </a:r>
            <a:endParaRPr sz="1800">
              <a:solidFill>
                <a:schemeClr val="dk1"/>
              </a:solidFill>
              <a:latin typeface="Calibri"/>
              <a:ea typeface="Calibri"/>
              <a:cs typeface="Calibri"/>
              <a:sym typeface="Calibri"/>
            </a:endParaRPr>
          </a:p>
        </p:txBody>
      </p:sp>
      <p:cxnSp>
        <p:nvCxnSpPr>
          <p:cNvPr id="303" name="Google Shape;303;p11"/>
          <p:cNvCxnSpPr/>
          <p:nvPr/>
        </p:nvCxnSpPr>
        <p:spPr>
          <a:xfrm>
            <a:off x="2825496" y="3191256"/>
            <a:ext cx="576072" cy="0"/>
          </a:xfrm>
          <a:prstGeom prst="straightConnector1">
            <a:avLst/>
          </a:prstGeom>
          <a:noFill/>
          <a:ln cap="flat" cmpd="sng" w="25400">
            <a:solidFill>
              <a:srgbClr val="2B78E4"/>
            </a:solidFill>
            <a:prstDash val="solid"/>
            <a:round/>
            <a:headEnd len="sm" w="sm" type="none"/>
            <a:tailEnd len="med" w="med" type="triangle"/>
          </a:ln>
        </p:spPr>
      </p:cxnSp>
      <p:sp>
        <p:nvSpPr>
          <p:cNvPr id="304" name="Google Shape;304;p11"/>
          <p:cNvSpPr/>
          <p:nvPr/>
        </p:nvSpPr>
        <p:spPr>
          <a:xfrm>
            <a:off x="1106424" y="4041648"/>
            <a:ext cx="4151376"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18198"/>
              </a:buClr>
              <a:buSzPts val="1500"/>
              <a:buFont typeface="Arial"/>
              <a:buNone/>
            </a:pPr>
            <a:r>
              <a:rPr lang="en-US" sz="1500">
                <a:solidFill>
                  <a:srgbClr val="718198"/>
                </a:solidFill>
                <a:latin typeface="Arial"/>
                <a:ea typeface="Arial"/>
                <a:cs typeface="Arial"/>
                <a:sym typeface="Arial"/>
              </a:rPr>
              <a:t>Skip path preserves information and eases deep optimization.</a:t>
            </a:r>
            <a:endParaRPr sz="1500">
              <a:solidFill>
                <a:schemeClr val="dk1"/>
              </a:solidFill>
              <a:latin typeface="Calibri"/>
              <a:ea typeface="Calibri"/>
              <a:cs typeface="Calibri"/>
              <a:sym typeface="Calibri"/>
            </a:endParaRPr>
          </a:p>
        </p:txBody>
      </p:sp>
      <p:sp>
        <p:nvSpPr>
          <p:cNvPr id="305" name="Google Shape;305;p11"/>
          <p:cNvSpPr/>
          <p:nvPr/>
        </p:nvSpPr>
        <p:spPr>
          <a:xfrm>
            <a:off x="5861304" y="2039112"/>
            <a:ext cx="100584" cy="100584"/>
          </a:xfrm>
          <a:prstGeom prst="ellipse">
            <a:avLst/>
          </a:prstGeom>
          <a:solidFill>
            <a:srgbClr val="0DAE9A"/>
          </a:solidFill>
          <a:ln cap="flat" cmpd="sng" w="12700">
            <a:solidFill>
              <a:srgbClr val="0DAE9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6" name="Google Shape;306;p11"/>
          <p:cNvSpPr/>
          <p:nvPr/>
        </p:nvSpPr>
        <p:spPr>
          <a:xfrm>
            <a:off x="6117336" y="1929384"/>
            <a:ext cx="5111496" cy="7955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3148"/>
              </a:buClr>
              <a:buSzPts val="1700"/>
              <a:buFont typeface="Arial"/>
              <a:buNone/>
            </a:pPr>
            <a:r>
              <a:rPr lang="en-US" sz="1700">
                <a:solidFill>
                  <a:srgbClr val="203148"/>
                </a:solidFill>
                <a:latin typeface="Arial"/>
                <a:ea typeface="Arial"/>
                <a:cs typeface="Arial"/>
                <a:sym typeface="Arial"/>
              </a:rPr>
              <a:t>Early ImageNet filters capture reusable edges and textures.</a:t>
            </a:r>
            <a:endParaRPr sz="1700">
              <a:solidFill>
                <a:schemeClr val="dk1"/>
              </a:solidFill>
              <a:latin typeface="Calibri"/>
              <a:ea typeface="Calibri"/>
              <a:cs typeface="Calibri"/>
              <a:sym typeface="Calibri"/>
            </a:endParaRPr>
          </a:p>
        </p:txBody>
      </p:sp>
      <p:sp>
        <p:nvSpPr>
          <p:cNvPr id="307" name="Google Shape;307;p11"/>
          <p:cNvSpPr/>
          <p:nvPr/>
        </p:nvSpPr>
        <p:spPr>
          <a:xfrm>
            <a:off x="5861304" y="2898648"/>
            <a:ext cx="100584" cy="100584"/>
          </a:xfrm>
          <a:prstGeom prst="ellipse">
            <a:avLst/>
          </a:prstGeom>
          <a:solidFill>
            <a:srgbClr val="0DAE9A"/>
          </a:solidFill>
          <a:ln cap="flat" cmpd="sng" w="12700">
            <a:solidFill>
              <a:srgbClr val="0DAE9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11"/>
          <p:cNvSpPr/>
          <p:nvPr/>
        </p:nvSpPr>
        <p:spPr>
          <a:xfrm>
            <a:off x="6117336" y="2788920"/>
            <a:ext cx="5111496" cy="7955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3148"/>
              </a:buClr>
              <a:buSzPts val="1700"/>
              <a:buFont typeface="Arial"/>
              <a:buNone/>
            </a:pPr>
            <a:r>
              <a:rPr lang="en-US" sz="1700">
                <a:solidFill>
                  <a:srgbClr val="203148"/>
                </a:solidFill>
                <a:latin typeface="Arial"/>
                <a:ea typeface="Arial"/>
                <a:cs typeface="Arial"/>
                <a:sym typeface="Arial"/>
              </a:rPr>
              <a:t>Higher layers capture dish-specific patterns.</a:t>
            </a:r>
            <a:endParaRPr sz="1700">
              <a:solidFill>
                <a:schemeClr val="dk1"/>
              </a:solidFill>
              <a:latin typeface="Calibri"/>
              <a:ea typeface="Calibri"/>
              <a:cs typeface="Calibri"/>
              <a:sym typeface="Calibri"/>
            </a:endParaRPr>
          </a:p>
        </p:txBody>
      </p:sp>
      <p:sp>
        <p:nvSpPr>
          <p:cNvPr id="309" name="Google Shape;309;p11"/>
          <p:cNvSpPr/>
          <p:nvPr/>
        </p:nvSpPr>
        <p:spPr>
          <a:xfrm>
            <a:off x="5861304" y="3758184"/>
            <a:ext cx="100584" cy="100584"/>
          </a:xfrm>
          <a:prstGeom prst="ellipse">
            <a:avLst/>
          </a:prstGeom>
          <a:solidFill>
            <a:srgbClr val="0DAE9A"/>
          </a:solidFill>
          <a:ln cap="flat" cmpd="sng" w="12700">
            <a:solidFill>
              <a:srgbClr val="0DAE9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11"/>
          <p:cNvSpPr/>
          <p:nvPr/>
        </p:nvSpPr>
        <p:spPr>
          <a:xfrm>
            <a:off x="6117336" y="3648456"/>
            <a:ext cx="5111496" cy="7955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3148"/>
              </a:buClr>
              <a:buSzPts val="1700"/>
              <a:buFont typeface="Arial"/>
              <a:buNone/>
            </a:pPr>
            <a:r>
              <a:rPr lang="en-US" sz="1700">
                <a:solidFill>
                  <a:srgbClr val="203148"/>
                </a:solidFill>
                <a:latin typeface="Arial"/>
                <a:ea typeface="Arial"/>
                <a:cs typeface="Arial"/>
                <a:sym typeface="Arial"/>
              </a:rPr>
              <a:t>A smaller fine-tuning LR protects useful pretrained weights.</a:t>
            </a:r>
            <a:endParaRPr sz="1700">
              <a:solidFill>
                <a:schemeClr val="dk1"/>
              </a:solidFill>
              <a:latin typeface="Calibri"/>
              <a:ea typeface="Calibri"/>
              <a:cs typeface="Calibri"/>
              <a:sym typeface="Calibri"/>
            </a:endParaRPr>
          </a:p>
        </p:txBody>
      </p:sp>
      <p:sp>
        <p:nvSpPr>
          <p:cNvPr id="311" name="Google Shape;311;p11"/>
          <p:cNvSpPr/>
          <p:nvPr/>
        </p:nvSpPr>
        <p:spPr>
          <a:xfrm>
            <a:off x="5861304" y="4617720"/>
            <a:ext cx="100584" cy="100584"/>
          </a:xfrm>
          <a:prstGeom prst="ellipse">
            <a:avLst/>
          </a:prstGeom>
          <a:solidFill>
            <a:srgbClr val="0DAE9A"/>
          </a:solidFill>
          <a:ln cap="flat" cmpd="sng" w="12700">
            <a:solidFill>
              <a:srgbClr val="0DAE9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2" name="Google Shape;312;p11"/>
          <p:cNvSpPr/>
          <p:nvPr/>
        </p:nvSpPr>
        <p:spPr>
          <a:xfrm>
            <a:off x="6117336" y="4507992"/>
            <a:ext cx="5111496" cy="7955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3148"/>
              </a:buClr>
              <a:buSzPts val="1700"/>
              <a:buFont typeface="Arial"/>
              <a:buNone/>
            </a:pPr>
            <a:r>
              <a:rPr lang="en-US" sz="1700">
                <a:solidFill>
                  <a:srgbClr val="203148"/>
                </a:solidFill>
                <a:latin typeface="Arial"/>
                <a:ea typeface="Arial"/>
                <a:cs typeface="Arial"/>
                <a:sym typeface="Arial"/>
              </a:rPr>
              <a:t>~14k training images favor transfer learning over full training.</a:t>
            </a:r>
            <a:endParaRPr sz="17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B"/>
        </a:solidFill>
      </p:bgPr>
    </p:bg>
    <p:spTree>
      <p:nvGrpSpPr>
        <p:cNvPr id="317" name="Shape 317"/>
        <p:cNvGrpSpPr/>
        <p:nvPr/>
      </p:nvGrpSpPr>
      <p:grpSpPr>
        <a:xfrm>
          <a:off x="0" y="0"/>
          <a:ext cx="0" cy="0"/>
          <a:chOff x="0" y="0"/>
          <a:chExt cx="0" cy="0"/>
        </a:xfrm>
      </p:grpSpPr>
      <p:sp>
        <p:nvSpPr>
          <p:cNvPr id="318" name="Google Shape;318;p12"/>
          <p:cNvSpPr/>
          <p:nvPr/>
        </p:nvSpPr>
        <p:spPr>
          <a:xfrm>
            <a:off x="0" y="0"/>
            <a:ext cx="109728" cy="6858000"/>
          </a:xfrm>
          <a:prstGeom prst="rect">
            <a:avLst/>
          </a:prstGeom>
          <a:solidFill>
            <a:srgbClr val="2B78E4"/>
          </a:solidFill>
          <a:ln cap="flat" cmpd="sng" w="12700">
            <a:solidFill>
              <a:srgbClr val="2B78E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9" name="Google Shape;319;p12"/>
          <p:cNvSpPr/>
          <p:nvPr/>
        </p:nvSpPr>
        <p:spPr>
          <a:xfrm>
            <a:off x="566928" y="292608"/>
            <a:ext cx="9144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AE9A"/>
              </a:buClr>
              <a:buSzPts val="1000"/>
              <a:buFont typeface="Arial"/>
              <a:buNone/>
            </a:pPr>
            <a:r>
              <a:rPr b="1" lang="en-US" sz="1000">
                <a:solidFill>
                  <a:srgbClr val="0DAE9A"/>
                </a:solidFill>
                <a:latin typeface="Arial"/>
                <a:ea typeface="Arial"/>
                <a:cs typeface="Arial"/>
                <a:sym typeface="Arial"/>
              </a:rPr>
              <a:t>FOOD-101 · EXPERIMENT</a:t>
            </a:r>
            <a:endParaRPr sz="1000">
              <a:solidFill>
                <a:schemeClr val="dk1"/>
              </a:solidFill>
              <a:latin typeface="Calibri"/>
              <a:ea typeface="Calibri"/>
              <a:cs typeface="Calibri"/>
              <a:sym typeface="Calibri"/>
            </a:endParaRPr>
          </a:p>
        </p:txBody>
      </p:sp>
      <p:sp>
        <p:nvSpPr>
          <p:cNvPr id="320" name="Google Shape;320;p12"/>
          <p:cNvSpPr/>
          <p:nvPr/>
        </p:nvSpPr>
        <p:spPr>
          <a:xfrm>
            <a:off x="566928" y="713232"/>
            <a:ext cx="109728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01A2B"/>
              </a:buClr>
              <a:buSzPts val="2700"/>
              <a:buFont typeface="Arial"/>
              <a:buNone/>
            </a:pPr>
            <a:r>
              <a:rPr b="1" lang="en-US" sz="2700">
                <a:solidFill>
                  <a:srgbClr val="101A2B"/>
                </a:solidFill>
                <a:latin typeface="Arial"/>
                <a:ea typeface="Arial"/>
                <a:cs typeface="Arial"/>
                <a:sym typeface="Arial"/>
              </a:rPr>
              <a:t>Implementation and training pipeline</a:t>
            </a:r>
            <a:endParaRPr sz="2700">
              <a:solidFill>
                <a:schemeClr val="dk1"/>
              </a:solidFill>
              <a:latin typeface="Calibri"/>
              <a:ea typeface="Calibri"/>
              <a:cs typeface="Calibri"/>
              <a:sym typeface="Calibri"/>
            </a:endParaRPr>
          </a:p>
        </p:txBody>
      </p:sp>
      <p:cxnSp>
        <p:nvCxnSpPr>
          <p:cNvPr id="321" name="Google Shape;321;p12"/>
          <p:cNvCxnSpPr/>
          <p:nvPr/>
        </p:nvCxnSpPr>
        <p:spPr>
          <a:xfrm>
            <a:off x="566928" y="1353312"/>
            <a:ext cx="11018520" cy="0"/>
          </a:xfrm>
          <a:prstGeom prst="straightConnector1">
            <a:avLst/>
          </a:prstGeom>
          <a:noFill/>
          <a:ln cap="flat" cmpd="sng" w="12700">
            <a:solidFill>
              <a:srgbClr val="DEE5EF"/>
            </a:solidFill>
            <a:prstDash val="solid"/>
            <a:round/>
            <a:headEnd len="sm" w="sm" type="none"/>
            <a:tailEnd len="sm" w="sm" type="none"/>
          </a:ln>
        </p:spPr>
      </p:cxnSp>
      <p:sp>
        <p:nvSpPr>
          <p:cNvPr id="322" name="Google Shape;322;p12"/>
          <p:cNvSpPr/>
          <p:nvPr/>
        </p:nvSpPr>
        <p:spPr>
          <a:xfrm>
            <a:off x="11082528" y="6510528"/>
            <a:ext cx="502920" cy="16459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18198"/>
              </a:buClr>
              <a:buSzPts val="1000"/>
              <a:buFont typeface="Arial"/>
              <a:buNone/>
            </a:pPr>
            <a:r>
              <a:rPr lang="en-US" sz="1000">
                <a:solidFill>
                  <a:srgbClr val="718198"/>
                </a:solidFill>
                <a:latin typeface="Arial"/>
                <a:ea typeface="Arial"/>
                <a:cs typeface="Arial"/>
                <a:sym typeface="Arial"/>
              </a:rPr>
              <a:t>10</a:t>
            </a:r>
            <a:endParaRPr sz="1000">
              <a:solidFill>
                <a:schemeClr val="dk1"/>
              </a:solidFill>
              <a:latin typeface="Calibri"/>
              <a:ea typeface="Calibri"/>
              <a:cs typeface="Calibri"/>
              <a:sym typeface="Calibri"/>
            </a:endParaRPr>
          </a:p>
        </p:txBody>
      </p:sp>
      <p:sp>
        <p:nvSpPr>
          <p:cNvPr id="323" name="Google Shape;323;p12"/>
          <p:cNvSpPr/>
          <p:nvPr/>
        </p:nvSpPr>
        <p:spPr>
          <a:xfrm>
            <a:off x="457200" y="2267712"/>
            <a:ext cx="1536192" cy="822960"/>
          </a:xfrm>
          <a:prstGeom prst="roundRect">
            <a:avLst>
              <a:gd fmla="val 15556" name="adj"/>
            </a:avLst>
          </a:prstGeom>
          <a:solidFill>
            <a:srgbClr val="FFFFFF"/>
          </a:solidFill>
          <a:ln cap="flat" cmpd="sng" w="12700">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 name="Google Shape;324;p12"/>
          <p:cNvSpPr/>
          <p:nvPr/>
        </p:nvSpPr>
        <p:spPr>
          <a:xfrm>
            <a:off x="502920" y="2496312"/>
            <a:ext cx="1444752" cy="3566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3148"/>
              </a:buClr>
              <a:buSzPts val="1450"/>
              <a:buFont typeface="Arial"/>
              <a:buNone/>
            </a:pPr>
            <a:r>
              <a:rPr b="1" lang="en-US" sz="1450">
                <a:solidFill>
                  <a:srgbClr val="203148"/>
                </a:solidFill>
                <a:latin typeface="Arial"/>
                <a:ea typeface="Arial"/>
                <a:cs typeface="Arial"/>
                <a:sym typeface="Arial"/>
              </a:rPr>
              <a:t>Load + split</a:t>
            </a:r>
            <a:endParaRPr sz="1450">
              <a:solidFill>
                <a:schemeClr val="dk1"/>
              </a:solidFill>
              <a:latin typeface="Calibri"/>
              <a:ea typeface="Calibri"/>
              <a:cs typeface="Calibri"/>
              <a:sym typeface="Calibri"/>
            </a:endParaRPr>
          </a:p>
        </p:txBody>
      </p:sp>
      <p:cxnSp>
        <p:nvCxnSpPr>
          <p:cNvPr id="325" name="Google Shape;325;p12"/>
          <p:cNvCxnSpPr/>
          <p:nvPr/>
        </p:nvCxnSpPr>
        <p:spPr>
          <a:xfrm>
            <a:off x="2011680" y="2688336"/>
            <a:ext cx="91440" cy="0"/>
          </a:xfrm>
          <a:prstGeom prst="straightConnector1">
            <a:avLst/>
          </a:prstGeom>
          <a:noFill/>
          <a:ln cap="flat" cmpd="sng" w="25400">
            <a:solidFill>
              <a:srgbClr val="2B78E4"/>
            </a:solidFill>
            <a:prstDash val="solid"/>
            <a:round/>
            <a:headEnd len="sm" w="sm" type="none"/>
            <a:tailEnd len="med" w="med" type="triangle"/>
          </a:ln>
        </p:spPr>
      </p:cxnSp>
      <p:sp>
        <p:nvSpPr>
          <p:cNvPr id="326" name="Google Shape;326;p12"/>
          <p:cNvSpPr/>
          <p:nvPr/>
        </p:nvSpPr>
        <p:spPr>
          <a:xfrm>
            <a:off x="2121408" y="2267712"/>
            <a:ext cx="1536192" cy="822960"/>
          </a:xfrm>
          <a:prstGeom prst="roundRect">
            <a:avLst>
              <a:gd fmla="val 15556" name="adj"/>
            </a:avLst>
          </a:prstGeom>
          <a:solidFill>
            <a:srgbClr val="FFFFFF"/>
          </a:solidFill>
          <a:ln cap="flat" cmpd="sng" w="12700">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12"/>
          <p:cNvSpPr/>
          <p:nvPr/>
        </p:nvSpPr>
        <p:spPr>
          <a:xfrm>
            <a:off x="2167128" y="2496312"/>
            <a:ext cx="1444752" cy="3566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3148"/>
              </a:buClr>
              <a:buSzPts val="1450"/>
              <a:buFont typeface="Arial"/>
              <a:buNone/>
            </a:pPr>
            <a:r>
              <a:rPr b="1" lang="en-US" sz="1450">
                <a:solidFill>
                  <a:srgbClr val="203148"/>
                </a:solidFill>
                <a:latin typeface="Arial"/>
                <a:ea typeface="Arial"/>
                <a:cs typeface="Arial"/>
                <a:sym typeface="Arial"/>
              </a:rPr>
              <a:t>Augment</a:t>
            </a:r>
            <a:endParaRPr sz="1450">
              <a:solidFill>
                <a:schemeClr val="dk1"/>
              </a:solidFill>
              <a:latin typeface="Calibri"/>
              <a:ea typeface="Calibri"/>
              <a:cs typeface="Calibri"/>
              <a:sym typeface="Calibri"/>
            </a:endParaRPr>
          </a:p>
        </p:txBody>
      </p:sp>
      <p:cxnSp>
        <p:nvCxnSpPr>
          <p:cNvPr id="328" name="Google Shape;328;p12"/>
          <p:cNvCxnSpPr/>
          <p:nvPr/>
        </p:nvCxnSpPr>
        <p:spPr>
          <a:xfrm>
            <a:off x="3675888" y="2688336"/>
            <a:ext cx="91440" cy="0"/>
          </a:xfrm>
          <a:prstGeom prst="straightConnector1">
            <a:avLst/>
          </a:prstGeom>
          <a:noFill/>
          <a:ln cap="flat" cmpd="sng" w="25400">
            <a:solidFill>
              <a:srgbClr val="2B78E4"/>
            </a:solidFill>
            <a:prstDash val="solid"/>
            <a:round/>
            <a:headEnd len="sm" w="sm" type="none"/>
            <a:tailEnd len="med" w="med" type="triangle"/>
          </a:ln>
        </p:spPr>
      </p:cxnSp>
      <p:sp>
        <p:nvSpPr>
          <p:cNvPr id="329" name="Google Shape;329;p12"/>
          <p:cNvSpPr/>
          <p:nvPr/>
        </p:nvSpPr>
        <p:spPr>
          <a:xfrm>
            <a:off x="3785616" y="2267712"/>
            <a:ext cx="1536192" cy="822960"/>
          </a:xfrm>
          <a:prstGeom prst="roundRect">
            <a:avLst>
              <a:gd fmla="val 15556" name="adj"/>
            </a:avLst>
          </a:prstGeom>
          <a:solidFill>
            <a:srgbClr val="FFFFFF"/>
          </a:solidFill>
          <a:ln cap="flat" cmpd="sng" w="12700">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0" name="Google Shape;330;p12"/>
          <p:cNvSpPr/>
          <p:nvPr/>
        </p:nvSpPr>
        <p:spPr>
          <a:xfrm>
            <a:off x="3831336" y="2496312"/>
            <a:ext cx="1444752" cy="3566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3148"/>
              </a:buClr>
              <a:buSzPts val="1450"/>
              <a:buFont typeface="Arial"/>
              <a:buNone/>
            </a:pPr>
            <a:r>
              <a:rPr b="1" lang="en-US" sz="1450">
                <a:solidFill>
                  <a:srgbClr val="203148"/>
                </a:solidFill>
                <a:latin typeface="Arial"/>
                <a:ea typeface="Arial"/>
                <a:cs typeface="Arial"/>
                <a:sym typeface="Arial"/>
              </a:rPr>
              <a:t>Train</a:t>
            </a:r>
            <a:endParaRPr sz="1450">
              <a:solidFill>
                <a:schemeClr val="dk1"/>
              </a:solidFill>
              <a:latin typeface="Calibri"/>
              <a:ea typeface="Calibri"/>
              <a:cs typeface="Calibri"/>
              <a:sym typeface="Calibri"/>
            </a:endParaRPr>
          </a:p>
        </p:txBody>
      </p:sp>
      <p:cxnSp>
        <p:nvCxnSpPr>
          <p:cNvPr id="331" name="Google Shape;331;p12"/>
          <p:cNvCxnSpPr/>
          <p:nvPr/>
        </p:nvCxnSpPr>
        <p:spPr>
          <a:xfrm>
            <a:off x="5340096" y="2688336"/>
            <a:ext cx="91440" cy="0"/>
          </a:xfrm>
          <a:prstGeom prst="straightConnector1">
            <a:avLst/>
          </a:prstGeom>
          <a:noFill/>
          <a:ln cap="flat" cmpd="sng" w="25400">
            <a:solidFill>
              <a:srgbClr val="2B78E4"/>
            </a:solidFill>
            <a:prstDash val="solid"/>
            <a:round/>
            <a:headEnd len="sm" w="sm" type="none"/>
            <a:tailEnd len="med" w="med" type="triangle"/>
          </a:ln>
        </p:spPr>
      </p:cxnSp>
      <p:sp>
        <p:nvSpPr>
          <p:cNvPr id="332" name="Google Shape;332;p12"/>
          <p:cNvSpPr/>
          <p:nvPr/>
        </p:nvSpPr>
        <p:spPr>
          <a:xfrm>
            <a:off x="5449824" y="2267712"/>
            <a:ext cx="1536192" cy="822960"/>
          </a:xfrm>
          <a:prstGeom prst="roundRect">
            <a:avLst>
              <a:gd fmla="val 15556" name="adj"/>
            </a:avLst>
          </a:prstGeom>
          <a:solidFill>
            <a:srgbClr val="FFFFFF"/>
          </a:solidFill>
          <a:ln cap="flat" cmpd="sng" w="12700">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 name="Google Shape;333;p12"/>
          <p:cNvSpPr/>
          <p:nvPr/>
        </p:nvSpPr>
        <p:spPr>
          <a:xfrm>
            <a:off x="5495544" y="2496312"/>
            <a:ext cx="1444752" cy="3566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3148"/>
              </a:buClr>
              <a:buSzPts val="1450"/>
              <a:buFont typeface="Arial"/>
              <a:buNone/>
            </a:pPr>
            <a:r>
              <a:rPr b="1" lang="en-US" sz="1450">
                <a:solidFill>
                  <a:srgbClr val="203148"/>
                </a:solidFill>
                <a:latin typeface="Arial"/>
                <a:ea typeface="Arial"/>
                <a:cs typeface="Arial"/>
                <a:sym typeface="Arial"/>
              </a:rPr>
              <a:t>Validate</a:t>
            </a:r>
            <a:endParaRPr sz="1450">
              <a:solidFill>
                <a:schemeClr val="dk1"/>
              </a:solidFill>
              <a:latin typeface="Calibri"/>
              <a:ea typeface="Calibri"/>
              <a:cs typeface="Calibri"/>
              <a:sym typeface="Calibri"/>
            </a:endParaRPr>
          </a:p>
        </p:txBody>
      </p:sp>
      <p:cxnSp>
        <p:nvCxnSpPr>
          <p:cNvPr id="334" name="Google Shape;334;p12"/>
          <p:cNvCxnSpPr/>
          <p:nvPr/>
        </p:nvCxnSpPr>
        <p:spPr>
          <a:xfrm>
            <a:off x="7004304" y="2688336"/>
            <a:ext cx="91440" cy="0"/>
          </a:xfrm>
          <a:prstGeom prst="straightConnector1">
            <a:avLst/>
          </a:prstGeom>
          <a:noFill/>
          <a:ln cap="flat" cmpd="sng" w="25400">
            <a:solidFill>
              <a:srgbClr val="2B78E4"/>
            </a:solidFill>
            <a:prstDash val="solid"/>
            <a:round/>
            <a:headEnd len="sm" w="sm" type="none"/>
            <a:tailEnd len="med" w="med" type="triangle"/>
          </a:ln>
        </p:spPr>
      </p:cxnSp>
      <p:sp>
        <p:nvSpPr>
          <p:cNvPr id="335" name="Google Shape;335;p12"/>
          <p:cNvSpPr/>
          <p:nvPr/>
        </p:nvSpPr>
        <p:spPr>
          <a:xfrm>
            <a:off x="7114032" y="2267712"/>
            <a:ext cx="1536192" cy="822960"/>
          </a:xfrm>
          <a:prstGeom prst="roundRect">
            <a:avLst>
              <a:gd fmla="val 15556" name="adj"/>
            </a:avLst>
          </a:prstGeom>
          <a:solidFill>
            <a:srgbClr val="FFFFFF"/>
          </a:solidFill>
          <a:ln cap="flat" cmpd="sng" w="12700">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6" name="Google Shape;336;p12"/>
          <p:cNvSpPr/>
          <p:nvPr/>
        </p:nvSpPr>
        <p:spPr>
          <a:xfrm>
            <a:off x="7159752" y="2496312"/>
            <a:ext cx="1444752" cy="3566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3148"/>
              </a:buClr>
              <a:buSzPts val="1450"/>
              <a:buFont typeface="Arial"/>
              <a:buNone/>
            </a:pPr>
            <a:r>
              <a:rPr b="1" lang="en-US" sz="1450">
                <a:solidFill>
                  <a:srgbClr val="203148"/>
                </a:solidFill>
                <a:latin typeface="Arial"/>
                <a:ea typeface="Arial"/>
                <a:cs typeface="Arial"/>
                <a:sym typeface="Arial"/>
              </a:rPr>
              <a:t>Early stop</a:t>
            </a:r>
            <a:endParaRPr sz="1450">
              <a:solidFill>
                <a:schemeClr val="dk1"/>
              </a:solidFill>
              <a:latin typeface="Calibri"/>
              <a:ea typeface="Calibri"/>
              <a:cs typeface="Calibri"/>
              <a:sym typeface="Calibri"/>
            </a:endParaRPr>
          </a:p>
        </p:txBody>
      </p:sp>
      <p:cxnSp>
        <p:nvCxnSpPr>
          <p:cNvPr id="337" name="Google Shape;337;p12"/>
          <p:cNvCxnSpPr/>
          <p:nvPr/>
        </p:nvCxnSpPr>
        <p:spPr>
          <a:xfrm>
            <a:off x="8668512" y="2688336"/>
            <a:ext cx="91440" cy="0"/>
          </a:xfrm>
          <a:prstGeom prst="straightConnector1">
            <a:avLst/>
          </a:prstGeom>
          <a:noFill/>
          <a:ln cap="flat" cmpd="sng" w="25400">
            <a:solidFill>
              <a:srgbClr val="2B78E4"/>
            </a:solidFill>
            <a:prstDash val="solid"/>
            <a:round/>
            <a:headEnd len="sm" w="sm" type="none"/>
            <a:tailEnd len="med" w="med" type="triangle"/>
          </a:ln>
        </p:spPr>
      </p:cxnSp>
      <p:sp>
        <p:nvSpPr>
          <p:cNvPr id="338" name="Google Shape;338;p12"/>
          <p:cNvSpPr/>
          <p:nvPr/>
        </p:nvSpPr>
        <p:spPr>
          <a:xfrm>
            <a:off x="8778240" y="2267712"/>
            <a:ext cx="1536192" cy="822960"/>
          </a:xfrm>
          <a:prstGeom prst="roundRect">
            <a:avLst>
              <a:gd fmla="val 15556" name="adj"/>
            </a:avLst>
          </a:prstGeom>
          <a:solidFill>
            <a:srgbClr val="FFFFFF"/>
          </a:solidFill>
          <a:ln cap="flat" cmpd="sng" w="12700">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9" name="Google Shape;339;p12"/>
          <p:cNvSpPr/>
          <p:nvPr/>
        </p:nvSpPr>
        <p:spPr>
          <a:xfrm>
            <a:off x="8823960" y="2496312"/>
            <a:ext cx="1444752" cy="3566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3148"/>
              </a:buClr>
              <a:buSzPts val="1450"/>
              <a:buFont typeface="Arial"/>
              <a:buNone/>
            </a:pPr>
            <a:r>
              <a:rPr b="1" lang="en-US" sz="1450">
                <a:solidFill>
                  <a:srgbClr val="203148"/>
                </a:solidFill>
                <a:latin typeface="Arial"/>
                <a:ea typeface="Arial"/>
                <a:cs typeface="Arial"/>
                <a:sym typeface="Arial"/>
              </a:rPr>
              <a:t>Restore best</a:t>
            </a:r>
            <a:endParaRPr sz="1450">
              <a:solidFill>
                <a:schemeClr val="dk1"/>
              </a:solidFill>
              <a:latin typeface="Calibri"/>
              <a:ea typeface="Calibri"/>
              <a:cs typeface="Calibri"/>
              <a:sym typeface="Calibri"/>
            </a:endParaRPr>
          </a:p>
        </p:txBody>
      </p:sp>
      <p:cxnSp>
        <p:nvCxnSpPr>
          <p:cNvPr id="340" name="Google Shape;340;p12"/>
          <p:cNvCxnSpPr/>
          <p:nvPr/>
        </p:nvCxnSpPr>
        <p:spPr>
          <a:xfrm>
            <a:off x="10332720" y="2688336"/>
            <a:ext cx="91440" cy="0"/>
          </a:xfrm>
          <a:prstGeom prst="straightConnector1">
            <a:avLst/>
          </a:prstGeom>
          <a:noFill/>
          <a:ln cap="flat" cmpd="sng" w="25400">
            <a:solidFill>
              <a:srgbClr val="2B78E4"/>
            </a:solidFill>
            <a:prstDash val="solid"/>
            <a:round/>
            <a:headEnd len="sm" w="sm" type="none"/>
            <a:tailEnd len="med" w="med" type="triangle"/>
          </a:ln>
        </p:spPr>
      </p:cxnSp>
      <p:sp>
        <p:nvSpPr>
          <p:cNvPr id="341" name="Google Shape;341;p12"/>
          <p:cNvSpPr/>
          <p:nvPr/>
        </p:nvSpPr>
        <p:spPr>
          <a:xfrm>
            <a:off x="10442448" y="2267712"/>
            <a:ext cx="1536192" cy="822960"/>
          </a:xfrm>
          <a:prstGeom prst="roundRect">
            <a:avLst>
              <a:gd fmla="val 15556" name="adj"/>
            </a:avLst>
          </a:prstGeom>
          <a:solidFill>
            <a:srgbClr val="DDF4F0"/>
          </a:solidFill>
          <a:ln cap="flat" cmpd="sng" w="12700">
            <a:solidFill>
              <a:srgbClr val="DEE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2" name="Google Shape;342;p12"/>
          <p:cNvSpPr/>
          <p:nvPr/>
        </p:nvSpPr>
        <p:spPr>
          <a:xfrm>
            <a:off x="10488168" y="2496312"/>
            <a:ext cx="1444752" cy="3566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3148"/>
              </a:buClr>
              <a:buSzPts val="1450"/>
              <a:buFont typeface="Arial"/>
              <a:buNone/>
            </a:pPr>
            <a:r>
              <a:rPr b="1" lang="en-US" sz="1450">
                <a:solidFill>
                  <a:srgbClr val="203148"/>
                </a:solidFill>
                <a:latin typeface="Arial"/>
                <a:ea typeface="Arial"/>
                <a:cs typeface="Arial"/>
                <a:sym typeface="Arial"/>
              </a:rPr>
              <a:t>Test once</a:t>
            </a:r>
            <a:endParaRPr sz="1450">
              <a:solidFill>
                <a:schemeClr val="dk1"/>
              </a:solidFill>
              <a:latin typeface="Calibri"/>
              <a:ea typeface="Calibri"/>
              <a:cs typeface="Calibri"/>
              <a:sym typeface="Calibri"/>
            </a:endParaRPr>
          </a:p>
        </p:txBody>
      </p:sp>
      <p:sp>
        <p:nvSpPr>
          <p:cNvPr id="343" name="Google Shape;343;p12"/>
          <p:cNvSpPr/>
          <p:nvPr/>
        </p:nvSpPr>
        <p:spPr>
          <a:xfrm>
            <a:off x="758952" y="3895344"/>
            <a:ext cx="10881360" cy="1353312"/>
          </a:xfrm>
          <a:prstGeom prst="roundRect">
            <a:avLst>
              <a:gd fmla="val 9459" name="adj"/>
            </a:avLst>
          </a:prstGeom>
          <a:solidFill>
            <a:srgbClr val="E8F2FF"/>
          </a:solidFill>
          <a:ln cap="flat" cmpd="sng" w="12700">
            <a:solidFill>
              <a:srgbClr val="E8F2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4" name="Google Shape;344;p12"/>
          <p:cNvSpPr/>
          <p:nvPr/>
        </p:nvSpPr>
        <p:spPr>
          <a:xfrm>
            <a:off x="1024128" y="4187952"/>
            <a:ext cx="10296144" cy="4846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78E4"/>
              </a:buClr>
              <a:buSzPts val="2000"/>
              <a:buFont typeface="Arial"/>
              <a:buNone/>
            </a:pPr>
            <a:r>
              <a:rPr b="1" lang="en-US" sz="2000">
                <a:solidFill>
                  <a:srgbClr val="2B78E4"/>
                </a:solidFill>
                <a:latin typeface="Arial"/>
                <a:ea typeface="Arial"/>
                <a:cs typeface="Arial"/>
                <a:sym typeface="Arial"/>
              </a:rPr>
              <a:t>Augmentation: random resized crop  ·  horizontal flip  ·  color jitter</a:t>
            </a:r>
            <a:endParaRPr sz="2000">
              <a:solidFill>
                <a:schemeClr val="dk1"/>
              </a:solidFill>
              <a:latin typeface="Calibri"/>
              <a:ea typeface="Calibri"/>
              <a:cs typeface="Calibri"/>
              <a:sym typeface="Calibri"/>
            </a:endParaRPr>
          </a:p>
        </p:txBody>
      </p:sp>
      <p:sp>
        <p:nvSpPr>
          <p:cNvPr id="345" name="Google Shape;345;p12"/>
          <p:cNvSpPr/>
          <p:nvPr/>
        </p:nvSpPr>
        <p:spPr>
          <a:xfrm>
            <a:off x="1005840" y="5532120"/>
            <a:ext cx="10241280" cy="3931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18198"/>
              </a:buClr>
              <a:buSzPts val="1600"/>
              <a:buFont typeface="Arial"/>
              <a:buNone/>
            </a:pPr>
            <a:r>
              <a:rPr lang="en-US" sz="1600">
                <a:solidFill>
                  <a:srgbClr val="718198"/>
                </a:solidFill>
                <a:latin typeface="Arial"/>
                <a:ea typeface="Arial"/>
                <a:cs typeface="Arial"/>
                <a:sym typeface="Arial"/>
              </a:rPr>
              <a:t>PyTorch / CUDA  ·  RTX 3060 Laptop GPU  ·  early-stopping patience: 5</a:t>
            </a:r>
            <a:endParaRPr sz="16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9" name="Shape 349"/>
        <p:cNvGrpSpPr/>
        <p:nvPr/>
      </p:nvGrpSpPr>
      <p:grpSpPr>
        <a:xfrm>
          <a:off x="0" y="0"/>
          <a:ext cx="0" cy="0"/>
          <a:chOff x="0" y="0"/>
          <a:chExt cx="0" cy="0"/>
        </a:xfrm>
      </p:grpSpPr>
      <p:sp>
        <p:nvSpPr>
          <p:cNvPr id="350" name="Google Shape;350;p13"/>
          <p:cNvSpPr/>
          <p:nvPr/>
        </p:nvSpPr>
        <p:spPr>
          <a:xfrm>
            <a:off x="566928" y="548640"/>
            <a:ext cx="1051560" cy="41148"/>
          </a:xfrm>
          <a:prstGeom prst="rect">
            <a:avLst/>
          </a:prstGeom>
          <a:solidFill>
            <a:srgbClr val="0DAE9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1" name="Google Shape;351;p13"/>
          <p:cNvSpPr txBox="1"/>
          <p:nvPr/>
        </p:nvSpPr>
        <p:spPr>
          <a:xfrm>
            <a:off x="566928" y="274320"/>
            <a:ext cx="10058400" cy="21945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00">
                <a:solidFill>
                  <a:srgbClr val="0DAE9A"/>
                </a:solidFill>
                <a:latin typeface="Arial"/>
                <a:ea typeface="Arial"/>
                <a:cs typeface="Arial"/>
                <a:sym typeface="Arial"/>
              </a:rPr>
              <a:t>FOOD-101 · EXPERIMENT</a:t>
            </a:r>
            <a:endParaRPr/>
          </a:p>
        </p:txBody>
      </p:sp>
      <p:sp>
        <p:nvSpPr>
          <p:cNvPr id="352" name="Google Shape;352;p13"/>
          <p:cNvSpPr txBox="1"/>
          <p:nvPr/>
        </p:nvSpPr>
        <p:spPr>
          <a:xfrm>
            <a:off x="566928" y="694944"/>
            <a:ext cx="10972800" cy="5669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2700">
                <a:solidFill>
                  <a:srgbClr val="101A2B"/>
                </a:solidFill>
                <a:latin typeface="Arial"/>
                <a:ea typeface="Arial"/>
                <a:cs typeface="Arial"/>
                <a:sym typeface="Arial"/>
              </a:rPr>
              <a:t>Learning curves: transfer learning vs. scratch CNN</a:t>
            </a:r>
            <a:endParaRPr/>
          </a:p>
        </p:txBody>
      </p:sp>
      <p:sp>
        <p:nvSpPr>
          <p:cNvPr id="353" name="Google Shape;353;p13"/>
          <p:cNvSpPr txBox="1"/>
          <p:nvPr/>
        </p:nvSpPr>
        <p:spPr>
          <a:xfrm>
            <a:off x="11018520" y="6492240"/>
            <a:ext cx="594360" cy="18288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00">
                <a:solidFill>
                  <a:srgbClr val="718198"/>
                </a:solidFill>
                <a:latin typeface="Arial"/>
                <a:ea typeface="Arial"/>
                <a:cs typeface="Arial"/>
                <a:sym typeface="Arial"/>
              </a:rPr>
              <a:t>11</a:t>
            </a:r>
            <a:endParaRPr/>
          </a:p>
        </p:txBody>
      </p:sp>
      <p:sp>
        <p:nvSpPr>
          <p:cNvPr id="354" name="Google Shape;354;p13"/>
          <p:cNvSpPr txBox="1"/>
          <p:nvPr/>
        </p:nvSpPr>
        <p:spPr>
          <a:xfrm>
            <a:off x="731520" y="1435608"/>
            <a:ext cx="5120640" cy="32918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600">
                <a:solidFill>
                  <a:srgbClr val="101A2B"/>
                </a:solidFill>
                <a:latin typeface="Arial"/>
                <a:ea typeface="Arial"/>
                <a:cs typeface="Arial"/>
                <a:sym typeface="Arial"/>
              </a:rPr>
              <a:t>Scratch CNN · C3 (best configuration)</a:t>
            </a:r>
            <a:endParaRPr/>
          </a:p>
        </p:txBody>
      </p:sp>
      <p:sp>
        <p:nvSpPr>
          <p:cNvPr id="355" name="Google Shape;355;p13"/>
          <p:cNvSpPr txBox="1"/>
          <p:nvPr/>
        </p:nvSpPr>
        <p:spPr>
          <a:xfrm>
            <a:off x="6382512" y="1435608"/>
            <a:ext cx="5120640" cy="32918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600">
                <a:solidFill>
                  <a:srgbClr val="101A2B"/>
                </a:solidFill>
                <a:latin typeface="Arial"/>
                <a:ea typeface="Arial"/>
                <a:cs typeface="Arial"/>
                <a:sym typeface="Arial"/>
              </a:rPr>
              <a:t>ResNet-50 · R2 (layer4 fine-tuned)</a:t>
            </a:r>
            <a:endParaRPr/>
          </a:p>
        </p:txBody>
      </p:sp>
      <p:pic>
        <p:nvPicPr>
          <p:cNvPr descr="curves_cnn_3.png" id="356" name="Google Shape;356;p13"/>
          <p:cNvPicPr preferRelativeResize="0"/>
          <p:nvPr/>
        </p:nvPicPr>
        <p:blipFill rotWithShape="1">
          <a:blip r:embed="rId3">
            <a:alphaModFix/>
          </a:blip>
          <a:srcRect b="0" l="0" r="0" t="0"/>
          <a:stretch/>
        </p:blipFill>
        <p:spPr>
          <a:xfrm>
            <a:off x="658368" y="2622804"/>
            <a:ext cx="5440680" cy="1813560"/>
          </a:xfrm>
          <a:prstGeom prst="rect">
            <a:avLst/>
          </a:prstGeom>
          <a:noFill/>
          <a:ln>
            <a:noFill/>
          </a:ln>
        </p:spPr>
      </p:pic>
      <p:pic>
        <p:nvPicPr>
          <p:cNvPr descr="curves_resnet_2.png" id="357" name="Google Shape;357;p13"/>
          <p:cNvPicPr preferRelativeResize="0"/>
          <p:nvPr/>
        </p:nvPicPr>
        <p:blipFill rotWithShape="1">
          <a:blip r:embed="rId4">
            <a:alphaModFix/>
          </a:blip>
          <a:srcRect b="0" l="0" r="0" t="0"/>
          <a:stretch/>
        </p:blipFill>
        <p:spPr>
          <a:xfrm>
            <a:off x="6144768" y="2622804"/>
            <a:ext cx="5440680" cy="1813560"/>
          </a:xfrm>
          <a:prstGeom prst="rect">
            <a:avLst/>
          </a:prstGeom>
          <a:noFill/>
          <a:ln>
            <a:noFill/>
          </a:ln>
        </p:spPr>
      </p:pic>
      <p:sp>
        <p:nvSpPr>
          <p:cNvPr id="358" name="Google Shape;358;p13"/>
          <p:cNvSpPr/>
          <p:nvPr/>
        </p:nvSpPr>
        <p:spPr>
          <a:xfrm>
            <a:off x="658368" y="6117336"/>
            <a:ext cx="10817352" cy="420624"/>
          </a:xfrm>
          <a:prstGeom prst="roundRect">
            <a:avLst>
              <a:gd fmla="val 15000" name="adj"/>
            </a:avLst>
          </a:prstGeom>
          <a:solidFill>
            <a:srgbClr val="EDF5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9" name="Google Shape;359;p13"/>
          <p:cNvSpPr txBox="1"/>
          <p:nvPr/>
        </p:nvSpPr>
        <p:spPr>
          <a:xfrm>
            <a:off x="822960" y="6190488"/>
            <a:ext cx="10469880" cy="2651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200">
                <a:solidFill>
                  <a:srgbClr val="203148"/>
                </a:solidFill>
                <a:latin typeface="Arial"/>
                <a:ea typeface="Arial"/>
                <a:cs typeface="Arial"/>
                <a:sym typeface="Arial"/>
              </a:rPr>
              <a:t>CNN best validation 58.0% (epoch 25)  |  ResNet best validation 83.9% (epoch 12); layer4 unfreezes after epoch 5.</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3" name="Shape 363"/>
        <p:cNvGrpSpPr/>
        <p:nvPr/>
      </p:nvGrpSpPr>
      <p:grpSpPr>
        <a:xfrm>
          <a:off x="0" y="0"/>
          <a:ext cx="0" cy="0"/>
          <a:chOff x="0" y="0"/>
          <a:chExt cx="0" cy="0"/>
        </a:xfrm>
      </p:grpSpPr>
      <p:sp>
        <p:nvSpPr>
          <p:cNvPr id="364" name="Google Shape;364;p14"/>
          <p:cNvSpPr/>
          <p:nvPr/>
        </p:nvSpPr>
        <p:spPr>
          <a:xfrm>
            <a:off x="566928" y="548640"/>
            <a:ext cx="1051560" cy="41148"/>
          </a:xfrm>
          <a:prstGeom prst="rect">
            <a:avLst/>
          </a:prstGeom>
          <a:solidFill>
            <a:srgbClr val="0DAE9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5" name="Google Shape;365;p14"/>
          <p:cNvSpPr txBox="1"/>
          <p:nvPr/>
        </p:nvSpPr>
        <p:spPr>
          <a:xfrm>
            <a:off x="566928" y="274320"/>
            <a:ext cx="10058400" cy="21945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00">
                <a:solidFill>
                  <a:srgbClr val="0DAE9A"/>
                </a:solidFill>
                <a:latin typeface="Arial"/>
                <a:ea typeface="Arial"/>
                <a:cs typeface="Arial"/>
                <a:sym typeface="Arial"/>
              </a:rPr>
              <a:t>FOOD-101 · EXPERIMENT</a:t>
            </a:r>
            <a:endParaRPr/>
          </a:p>
        </p:txBody>
      </p:sp>
      <p:sp>
        <p:nvSpPr>
          <p:cNvPr id="366" name="Google Shape;366;p14"/>
          <p:cNvSpPr txBox="1"/>
          <p:nvPr/>
        </p:nvSpPr>
        <p:spPr>
          <a:xfrm>
            <a:off x="566928" y="694944"/>
            <a:ext cx="10972800" cy="5669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2700">
                <a:solidFill>
                  <a:srgbClr val="101A2B"/>
                </a:solidFill>
                <a:latin typeface="Arial"/>
                <a:ea typeface="Arial"/>
                <a:cs typeface="Arial"/>
                <a:sym typeface="Arial"/>
              </a:rPr>
              <a:t>Hyperparameter experiments: what helped?</a:t>
            </a:r>
            <a:endParaRPr/>
          </a:p>
        </p:txBody>
      </p:sp>
      <p:sp>
        <p:nvSpPr>
          <p:cNvPr id="367" name="Google Shape;367;p14"/>
          <p:cNvSpPr txBox="1"/>
          <p:nvPr/>
        </p:nvSpPr>
        <p:spPr>
          <a:xfrm>
            <a:off x="11018520" y="6492240"/>
            <a:ext cx="594360" cy="18288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00">
                <a:solidFill>
                  <a:srgbClr val="718198"/>
                </a:solidFill>
                <a:latin typeface="Arial"/>
                <a:ea typeface="Arial"/>
                <a:cs typeface="Arial"/>
                <a:sym typeface="Arial"/>
              </a:rPr>
              <a:t>12</a:t>
            </a:r>
            <a:endParaRPr/>
          </a:p>
        </p:txBody>
      </p:sp>
      <p:sp>
        <p:nvSpPr>
          <p:cNvPr id="368" name="Google Shape;368;p14"/>
          <p:cNvSpPr txBox="1"/>
          <p:nvPr/>
        </p:nvSpPr>
        <p:spPr>
          <a:xfrm>
            <a:off x="658368" y="1408176"/>
            <a:ext cx="5623560" cy="32918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600">
                <a:solidFill>
                  <a:srgbClr val="101A2B"/>
                </a:solidFill>
                <a:latin typeface="Arial"/>
                <a:ea typeface="Arial"/>
                <a:cs typeface="Arial"/>
                <a:sym typeface="Arial"/>
              </a:rPr>
              <a:t>Scratch CNN · five configurations</a:t>
            </a:r>
            <a:endParaRPr/>
          </a:p>
        </p:txBody>
      </p:sp>
      <p:sp>
        <p:nvSpPr>
          <p:cNvPr id="369" name="Google Shape;369;p14"/>
          <p:cNvSpPr/>
          <p:nvPr/>
        </p:nvSpPr>
        <p:spPr>
          <a:xfrm>
            <a:off x="667512" y="1810512"/>
            <a:ext cx="690372" cy="502920"/>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0" name="Google Shape;370;p14"/>
          <p:cNvSpPr txBox="1"/>
          <p:nvPr/>
        </p:nvSpPr>
        <p:spPr>
          <a:xfrm>
            <a:off x="731520" y="1869948"/>
            <a:ext cx="594360" cy="4297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100">
                <a:solidFill>
                  <a:srgbClr val="FFFFFF"/>
                </a:solidFill>
                <a:latin typeface="Arial"/>
                <a:ea typeface="Arial"/>
                <a:cs typeface="Arial"/>
                <a:sym typeface="Arial"/>
              </a:rPr>
              <a:t>Run</a:t>
            </a:r>
            <a:endParaRPr/>
          </a:p>
        </p:txBody>
      </p:sp>
      <p:sp>
        <p:nvSpPr>
          <p:cNvPr id="371" name="Google Shape;371;p14"/>
          <p:cNvSpPr/>
          <p:nvPr/>
        </p:nvSpPr>
        <p:spPr>
          <a:xfrm>
            <a:off x="1380744" y="1810512"/>
            <a:ext cx="1138428" cy="502920"/>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2" name="Google Shape;372;p14"/>
          <p:cNvSpPr txBox="1"/>
          <p:nvPr/>
        </p:nvSpPr>
        <p:spPr>
          <a:xfrm>
            <a:off x="1444752" y="1869948"/>
            <a:ext cx="1042416" cy="4297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100">
                <a:solidFill>
                  <a:srgbClr val="FFFFFF"/>
                </a:solidFill>
                <a:latin typeface="Arial"/>
                <a:ea typeface="Arial"/>
                <a:cs typeface="Arial"/>
                <a:sym typeface="Arial"/>
              </a:rPr>
              <a:t>Dropout</a:t>
            </a:r>
            <a:endParaRPr/>
          </a:p>
        </p:txBody>
      </p:sp>
      <p:sp>
        <p:nvSpPr>
          <p:cNvPr id="373" name="Google Shape;373;p14"/>
          <p:cNvSpPr/>
          <p:nvPr/>
        </p:nvSpPr>
        <p:spPr>
          <a:xfrm>
            <a:off x="2542032" y="1810512"/>
            <a:ext cx="1303020" cy="502920"/>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4" name="Google Shape;374;p14"/>
          <p:cNvSpPr txBox="1"/>
          <p:nvPr/>
        </p:nvSpPr>
        <p:spPr>
          <a:xfrm>
            <a:off x="2606040" y="1869948"/>
            <a:ext cx="1207007" cy="4297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100">
                <a:solidFill>
                  <a:srgbClr val="FFFFFF"/>
                </a:solidFill>
                <a:latin typeface="Arial"/>
                <a:ea typeface="Arial"/>
                <a:cs typeface="Arial"/>
                <a:sym typeface="Arial"/>
              </a:rPr>
              <a:t>Augment</a:t>
            </a:r>
            <a:endParaRPr/>
          </a:p>
        </p:txBody>
      </p:sp>
      <p:sp>
        <p:nvSpPr>
          <p:cNvPr id="375" name="Google Shape;375;p14"/>
          <p:cNvSpPr/>
          <p:nvPr/>
        </p:nvSpPr>
        <p:spPr>
          <a:xfrm>
            <a:off x="3867912" y="1810512"/>
            <a:ext cx="1303020" cy="502920"/>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6" name="Google Shape;376;p14"/>
          <p:cNvSpPr txBox="1"/>
          <p:nvPr/>
        </p:nvSpPr>
        <p:spPr>
          <a:xfrm>
            <a:off x="3931920" y="1869948"/>
            <a:ext cx="1207007" cy="4297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100">
                <a:solidFill>
                  <a:srgbClr val="FFFFFF"/>
                </a:solidFill>
                <a:latin typeface="Arial"/>
                <a:ea typeface="Arial"/>
                <a:cs typeface="Arial"/>
                <a:sym typeface="Arial"/>
              </a:rPr>
              <a:t>Val Acc</a:t>
            </a:r>
            <a:endParaRPr/>
          </a:p>
        </p:txBody>
      </p:sp>
      <p:sp>
        <p:nvSpPr>
          <p:cNvPr id="377" name="Google Shape;377;p14"/>
          <p:cNvSpPr/>
          <p:nvPr/>
        </p:nvSpPr>
        <p:spPr>
          <a:xfrm>
            <a:off x="5193792" y="1810512"/>
            <a:ext cx="1110996" cy="502920"/>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8" name="Google Shape;378;p14"/>
          <p:cNvSpPr txBox="1"/>
          <p:nvPr/>
        </p:nvSpPr>
        <p:spPr>
          <a:xfrm>
            <a:off x="5257800" y="1869948"/>
            <a:ext cx="1014983" cy="4297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100">
                <a:solidFill>
                  <a:srgbClr val="FFFFFF"/>
                </a:solidFill>
                <a:latin typeface="Arial"/>
                <a:ea typeface="Arial"/>
                <a:cs typeface="Arial"/>
                <a:sym typeface="Arial"/>
              </a:rPr>
              <a:t>Best Ep</a:t>
            </a:r>
            <a:endParaRPr/>
          </a:p>
        </p:txBody>
      </p:sp>
      <p:sp>
        <p:nvSpPr>
          <p:cNvPr id="379" name="Google Shape;379;p14"/>
          <p:cNvSpPr/>
          <p:nvPr/>
        </p:nvSpPr>
        <p:spPr>
          <a:xfrm>
            <a:off x="667512" y="2313432"/>
            <a:ext cx="690372" cy="489204"/>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0" name="Google Shape;380;p14"/>
          <p:cNvSpPr txBox="1"/>
          <p:nvPr/>
        </p:nvSpPr>
        <p:spPr>
          <a:xfrm>
            <a:off x="717804" y="2359152"/>
            <a:ext cx="630936" cy="42062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70">
                <a:solidFill>
                  <a:srgbClr val="203148"/>
                </a:solidFill>
                <a:latin typeface="Arial"/>
                <a:ea typeface="Arial"/>
                <a:cs typeface="Arial"/>
                <a:sym typeface="Arial"/>
              </a:rPr>
              <a:t>C1</a:t>
            </a:r>
            <a:endParaRPr/>
          </a:p>
        </p:txBody>
      </p:sp>
      <p:sp>
        <p:nvSpPr>
          <p:cNvPr id="381" name="Google Shape;381;p14"/>
          <p:cNvSpPr/>
          <p:nvPr/>
        </p:nvSpPr>
        <p:spPr>
          <a:xfrm>
            <a:off x="1380744" y="2313432"/>
            <a:ext cx="1138428" cy="489204"/>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2" name="Google Shape;382;p14"/>
          <p:cNvSpPr txBox="1"/>
          <p:nvPr/>
        </p:nvSpPr>
        <p:spPr>
          <a:xfrm>
            <a:off x="1431036" y="2359152"/>
            <a:ext cx="1078992" cy="42062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0.5</a:t>
            </a:r>
            <a:endParaRPr/>
          </a:p>
        </p:txBody>
      </p:sp>
      <p:sp>
        <p:nvSpPr>
          <p:cNvPr id="383" name="Google Shape;383;p14"/>
          <p:cNvSpPr/>
          <p:nvPr/>
        </p:nvSpPr>
        <p:spPr>
          <a:xfrm>
            <a:off x="2542032" y="2313432"/>
            <a:ext cx="1303020" cy="489204"/>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4" name="Google Shape;384;p14"/>
          <p:cNvSpPr txBox="1"/>
          <p:nvPr/>
        </p:nvSpPr>
        <p:spPr>
          <a:xfrm>
            <a:off x="2592324" y="2359152"/>
            <a:ext cx="1243584" cy="42062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Yes</a:t>
            </a:r>
            <a:endParaRPr/>
          </a:p>
        </p:txBody>
      </p:sp>
      <p:sp>
        <p:nvSpPr>
          <p:cNvPr id="385" name="Google Shape;385;p14"/>
          <p:cNvSpPr/>
          <p:nvPr/>
        </p:nvSpPr>
        <p:spPr>
          <a:xfrm>
            <a:off x="3867912" y="2313432"/>
            <a:ext cx="1303020" cy="489204"/>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6" name="Google Shape;386;p14"/>
          <p:cNvSpPr txBox="1"/>
          <p:nvPr/>
        </p:nvSpPr>
        <p:spPr>
          <a:xfrm>
            <a:off x="3918204" y="2359152"/>
            <a:ext cx="1243584" cy="42062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57.1%</a:t>
            </a:r>
            <a:endParaRPr/>
          </a:p>
        </p:txBody>
      </p:sp>
      <p:sp>
        <p:nvSpPr>
          <p:cNvPr id="387" name="Google Shape;387;p14"/>
          <p:cNvSpPr/>
          <p:nvPr/>
        </p:nvSpPr>
        <p:spPr>
          <a:xfrm>
            <a:off x="5193792" y="2313432"/>
            <a:ext cx="1110996" cy="489204"/>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8" name="Google Shape;388;p14"/>
          <p:cNvSpPr txBox="1"/>
          <p:nvPr/>
        </p:nvSpPr>
        <p:spPr>
          <a:xfrm>
            <a:off x="5244084" y="2359152"/>
            <a:ext cx="1051560" cy="42062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29</a:t>
            </a:r>
            <a:endParaRPr/>
          </a:p>
        </p:txBody>
      </p:sp>
      <p:sp>
        <p:nvSpPr>
          <p:cNvPr id="389" name="Google Shape;389;p14"/>
          <p:cNvSpPr/>
          <p:nvPr/>
        </p:nvSpPr>
        <p:spPr>
          <a:xfrm>
            <a:off x="667512" y="2816352"/>
            <a:ext cx="690372" cy="48920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0" name="Google Shape;390;p14"/>
          <p:cNvSpPr txBox="1"/>
          <p:nvPr/>
        </p:nvSpPr>
        <p:spPr>
          <a:xfrm>
            <a:off x="717804" y="2862072"/>
            <a:ext cx="630936" cy="42062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70">
                <a:solidFill>
                  <a:srgbClr val="203148"/>
                </a:solidFill>
                <a:latin typeface="Arial"/>
                <a:ea typeface="Arial"/>
                <a:cs typeface="Arial"/>
                <a:sym typeface="Arial"/>
              </a:rPr>
              <a:t>C2</a:t>
            </a:r>
            <a:endParaRPr/>
          </a:p>
        </p:txBody>
      </p:sp>
      <p:sp>
        <p:nvSpPr>
          <p:cNvPr id="391" name="Google Shape;391;p14"/>
          <p:cNvSpPr/>
          <p:nvPr/>
        </p:nvSpPr>
        <p:spPr>
          <a:xfrm>
            <a:off x="1380744" y="2816352"/>
            <a:ext cx="1138428" cy="48920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2" name="Google Shape;392;p14"/>
          <p:cNvSpPr txBox="1"/>
          <p:nvPr/>
        </p:nvSpPr>
        <p:spPr>
          <a:xfrm>
            <a:off x="1431036" y="2862072"/>
            <a:ext cx="1078992" cy="42062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0.5</a:t>
            </a:r>
            <a:endParaRPr/>
          </a:p>
        </p:txBody>
      </p:sp>
      <p:sp>
        <p:nvSpPr>
          <p:cNvPr id="393" name="Google Shape;393;p14"/>
          <p:cNvSpPr/>
          <p:nvPr/>
        </p:nvSpPr>
        <p:spPr>
          <a:xfrm>
            <a:off x="2542032" y="2816352"/>
            <a:ext cx="1303020" cy="48920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4" name="Google Shape;394;p14"/>
          <p:cNvSpPr txBox="1"/>
          <p:nvPr/>
        </p:nvSpPr>
        <p:spPr>
          <a:xfrm>
            <a:off x="2592324" y="2862072"/>
            <a:ext cx="1243584" cy="42062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No</a:t>
            </a:r>
            <a:endParaRPr/>
          </a:p>
        </p:txBody>
      </p:sp>
      <p:sp>
        <p:nvSpPr>
          <p:cNvPr id="395" name="Google Shape;395;p14"/>
          <p:cNvSpPr/>
          <p:nvPr/>
        </p:nvSpPr>
        <p:spPr>
          <a:xfrm>
            <a:off x="3867912" y="2816352"/>
            <a:ext cx="1303020" cy="48920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6" name="Google Shape;396;p14"/>
          <p:cNvSpPr txBox="1"/>
          <p:nvPr/>
        </p:nvSpPr>
        <p:spPr>
          <a:xfrm>
            <a:off x="3918204" y="2862072"/>
            <a:ext cx="1243584" cy="42062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50.9%</a:t>
            </a:r>
            <a:endParaRPr/>
          </a:p>
        </p:txBody>
      </p:sp>
      <p:sp>
        <p:nvSpPr>
          <p:cNvPr id="397" name="Google Shape;397;p14"/>
          <p:cNvSpPr/>
          <p:nvPr/>
        </p:nvSpPr>
        <p:spPr>
          <a:xfrm>
            <a:off x="5193792" y="2816352"/>
            <a:ext cx="1110996" cy="48920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8" name="Google Shape;398;p14"/>
          <p:cNvSpPr txBox="1"/>
          <p:nvPr/>
        </p:nvSpPr>
        <p:spPr>
          <a:xfrm>
            <a:off x="5244084" y="2862072"/>
            <a:ext cx="1051560" cy="42062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11</a:t>
            </a:r>
            <a:endParaRPr/>
          </a:p>
        </p:txBody>
      </p:sp>
      <p:sp>
        <p:nvSpPr>
          <p:cNvPr id="399" name="Google Shape;399;p14"/>
          <p:cNvSpPr/>
          <p:nvPr/>
        </p:nvSpPr>
        <p:spPr>
          <a:xfrm>
            <a:off x="667512" y="3319272"/>
            <a:ext cx="690372" cy="489204"/>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0" name="Google Shape;400;p14"/>
          <p:cNvSpPr txBox="1"/>
          <p:nvPr/>
        </p:nvSpPr>
        <p:spPr>
          <a:xfrm>
            <a:off x="717804" y="3364991"/>
            <a:ext cx="630936" cy="42062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70">
                <a:solidFill>
                  <a:srgbClr val="0DAE9A"/>
                </a:solidFill>
                <a:latin typeface="Arial"/>
                <a:ea typeface="Arial"/>
                <a:cs typeface="Arial"/>
                <a:sym typeface="Arial"/>
              </a:rPr>
              <a:t>C3</a:t>
            </a:r>
            <a:endParaRPr/>
          </a:p>
        </p:txBody>
      </p:sp>
      <p:sp>
        <p:nvSpPr>
          <p:cNvPr id="401" name="Google Shape;401;p14"/>
          <p:cNvSpPr/>
          <p:nvPr/>
        </p:nvSpPr>
        <p:spPr>
          <a:xfrm>
            <a:off x="1380744" y="3319272"/>
            <a:ext cx="1138428" cy="489204"/>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2" name="Google Shape;402;p14"/>
          <p:cNvSpPr txBox="1"/>
          <p:nvPr/>
        </p:nvSpPr>
        <p:spPr>
          <a:xfrm>
            <a:off x="1431036" y="3364991"/>
            <a:ext cx="1078992" cy="42062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0.0</a:t>
            </a:r>
            <a:endParaRPr/>
          </a:p>
        </p:txBody>
      </p:sp>
      <p:sp>
        <p:nvSpPr>
          <p:cNvPr id="403" name="Google Shape;403;p14"/>
          <p:cNvSpPr/>
          <p:nvPr/>
        </p:nvSpPr>
        <p:spPr>
          <a:xfrm>
            <a:off x="2542032" y="3319272"/>
            <a:ext cx="1303020" cy="489204"/>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4" name="Google Shape;404;p14"/>
          <p:cNvSpPr txBox="1"/>
          <p:nvPr/>
        </p:nvSpPr>
        <p:spPr>
          <a:xfrm>
            <a:off x="2592324" y="3364991"/>
            <a:ext cx="1243584" cy="42062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Yes</a:t>
            </a:r>
            <a:endParaRPr/>
          </a:p>
        </p:txBody>
      </p:sp>
      <p:sp>
        <p:nvSpPr>
          <p:cNvPr id="405" name="Google Shape;405;p14"/>
          <p:cNvSpPr/>
          <p:nvPr/>
        </p:nvSpPr>
        <p:spPr>
          <a:xfrm>
            <a:off x="3867912" y="3319272"/>
            <a:ext cx="1303020" cy="489204"/>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6" name="Google Shape;406;p14"/>
          <p:cNvSpPr txBox="1"/>
          <p:nvPr/>
        </p:nvSpPr>
        <p:spPr>
          <a:xfrm>
            <a:off x="3918204" y="3364991"/>
            <a:ext cx="1243584" cy="42062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58.0%</a:t>
            </a:r>
            <a:endParaRPr/>
          </a:p>
        </p:txBody>
      </p:sp>
      <p:sp>
        <p:nvSpPr>
          <p:cNvPr id="407" name="Google Shape;407;p14"/>
          <p:cNvSpPr/>
          <p:nvPr/>
        </p:nvSpPr>
        <p:spPr>
          <a:xfrm>
            <a:off x="5193792" y="3319272"/>
            <a:ext cx="1110996" cy="489204"/>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8" name="Google Shape;408;p14"/>
          <p:cNvSpPr txBox="1"/>
          <p:nvPr/>
        </p:nvSpPr>
        <p:spPr>
          <a:xfrm>
            <a:off x="5244084" y="3364991"/>
            <a:ext cx="1051560" cy="42062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25</a:t>
            </a:r>
            <a:endParaRPr/>
          </a:p>
        </p:txBody>
      </p:sp>
      <p:sp>
        <p:nvSpPr>
          <p:cNvPr id="409" name="Google Shape;409;p14"/>
          <p:cNvSpPr/>
          <p:nvPr/>
        </p:nvSpPr>
        <p:spPr>
          <a:xfrm>
            <a:off x="667512" y="3822191"/>
            <a:ext cx="690372" cy="48920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0" name="Google Shape;410;p14"/>
          <p:cNvSpPr txBox="1"/>
          <p:nvPr/>
        </p:nvSpPr>
        <p:spPr>
          <a:xfrm>
            <a:off x="717804" y="3867911"/>
            <a:ext cx="630936" cy="42062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70">
                <a:solidFill>
                  <a:srgbClr val="203148"/>
                </a:solidFill>
                <a:latin typeface="Arial"/>
                <a:ea typeface="Arial"/>
                <a:cs typeface="Arial"/>
                <a:sym typeface="Arial"/>
              </a:rPr>
              <a:t>C4</a:t>
            </a:r>
            <a:endParaRPr/>
          </a:p>
        </p:txBody>
      </p:sp>
      <p:sp>
        <p:nvSpPr>
          <p:cNvPr id="411" name="Google Shape;411;p14"/>
          <p:cNvSpPr/>
          <p:nvPr/>
        </p:nvSpPr>
        <p:spPr>
          <a:xfrm>
            <a:off x="1380744" y="3822191"/>
            <a:ext cx="1138428" cy="48920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2" name="Google Shape;412;p14"/>
          <p:cNvSpPr txBox="1"/>
          <p:nvPr/>
        </p:nvSpPr>
        <p:spPr>
          <a:xfrm>
            <a:off x="1431036" y="3867911"/>
            <a:ext cx="1078992" cy="42062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0.0</a:t>
            </a:r>
            <a:endParaRPr/>
          </a:p>
        </p:txBody>
      </p:sp>
      <p:sp>
        <p:nvSpPr>
          <p:cNvPr id="413" name="Google Shape;413;p14"/>
          <p:cNvSpPr/>
          <p:nvPr/>
        </p:nvSpPr>
        <p:spPr>
          <a:xfrm>
            <a:off x="2542032" y="3822191"/>
            <a:ext cx="1303020" cy="48920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4" name="Google Shape;414;p14"/>
          <p:cNvSpPr txBox="1"/>
          <p:nvPr/>
        </p:nvSpPr>
        <p:spPr>
          <a:xfrm>
            <a:off x="2592324" y="3867911"/>
            <a:ext cx="1243584" cy="42062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No</a:t>
            </a:r>
            <a:endParaRPr/>
          </a:p>
        </p:txBody>
      </p:sp>
      <p:sp>
        <p:nvSpPr>
          <p:cNvPr id="415" name="Google Shape;415;p14"/>
          <p:cNvSpPr/>
          <p:nvPr/>
        </p:nvSpPr>
        <p:spPr>
          <a:xfrm>
            <a:off x="3867912" y="3822191"/>
            <a:ext cx="1303020" cy="48920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6" name="Google Shape;416;p14"/>
          <p:cNvSpPr txBox="1"/>
          <p:nvPr/>
        </p:nvSpPr>
        <p:spPr>
          <a:xfrm>
            <a:off x="3918204" y="3867911"/>
            <a:ext cx="1243584" cy="42062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49.1%</a:t>
            </a:r>
            <a:endParaRPr/>
          </a:p>
        </p:txBody>
      </p:sp>
      <p:sp>
        <p:nvSpPr>
          <p:cNvPr id="417" name="Google Shape;417;p14"/>
          <p:cNvSpPr/>
          <p:nvPr/>
        </p:nvSpPr>
        <p:spPr>
          <a:xfrm>
            <a:off x="5193792" y="3822191"/>
            <a:ext cx="1110996" cy="48920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8" name="Google Shape;418;p14"/>
          <p:cNvSpPr txBox="1"/>
          <p:nvPr/>
        </p:nvSpPr>
        <p:spPr>
          <a:xfrm>
            <a:off x="5244084" y="3867911"/>
            <a:ext cx="1051560" cy="42062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10</a:t>
            </a:r>
            <a:endParaRPr/>
          </a:p>
        </p:txBody>
      </p:sp>
      <p:sp>
        <p:nvSpPr>
          <p:cNvPr id="419" name="Google Shape;419;p14"/>
          <p:cNvSpPr/>
          <p:nvPr/>
        </p:nvSpPr>
        <p:spPr>
          <a:xfrm>
            <a:off x="667512" y="4325112"/>
            <a:ext cx="690372" cy="489204"/>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0" name="Google Shape;420;p14"/>
          <p:cNvSpPr txBox="1"/>
          <p:nvPr/>
        </p:nvSpPr>
        <p:spPr>
          <a:xfrm>
            <a:off x="717804" y="4370832"/>
            <a:ext cx="630936" cy="42062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70">
                <a:solidFill>
                  <a:srgbClr val="203148"/>
                </a:solidFill>
                <a:latin typeface="Arial"/>
                <a:ea typeface="Arial"/>
                <a:cs typeface="Arial"/>
                <a:sym typeface="Arial"/>
              </a:rPr>
              <a:t>C5</a:t>
            </a:r>
            <a:endParaRPr/>
          </a:p>
        </p:txBody>
      </p:sp>
      <p:sp>
        <p:nvSpPr>
          <p:cNvPr id="421" name="Google Shape;421;p14"/>
          <p:cNvSpPr/>
          <p:nvPr/>
        </p:nvSpPr>
        <p:spPr>
          <a:xfrm>
            <a:off x="1380744" y="4325112"/>
            <a:ext cx="1138428" cy="489204"/>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2" name="Google Shape;422;p14"/>
          <p:cNvSpPr txBox="1"/>
          <p:nvPr/>
        </p:nvSpPr>
        <p:spPr>
          <a:xfrm>
            <a:off x="1431036" y="4370832"/>
            <a:ext cx="1078992" cy="42062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0.3</a:t>
            </a:r>
            <a:endParaRPr/>
          </a:p>
        </p:txBody>
      </p:sp>
      <p:sp>
        <p:nvSpPr>
          <p:cNvPr id="423" name="Google Shape;423;p14"/>
          <p:cNvSpPr/>
          <p:nvPr/>
        </p:nvSpPr>
        <p:spPr>
          <a:xfrm>
            <a:off x="2542032" y="4325112"/>
            <a:ext cx="1303020" cy="489204"/>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4" name="Google Shape;424;p14"/>
          <p:cNvSpPr txBox="1"/>
          <p:nvPr/>
        </p:nvSpPr>
        <p:spPr>
          <a:xfrm>
            <a:off x="2592324" y="4370832"/>
            <a:ext cx="1243584" cy="42062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Yes</a:t>
            </a:r>
            <a:endParaRPr/>
          </a:p>
        </p:txBody>
      </p:sp>
      <p:sp>
        <p:nvSpPr>
          <p:cNvPr id="425" name="Google Shape;425;p14"/>
          <p:cNvSpPr/>
          <p:nvPr/>
        </p:nvSpPr>
        <p:spPr>
          <a:xfrm>
            <a:off x="3867912" y="4325112"/>
            <a:ext cx="1303020" cy="489204"/>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6" name="Google Shape;426;p14"/>
          <p:cNvSpPr txBox="1"/>
          <p:nvPr/>
        </p:nvSpPr>
        <p:spPr>
          <a:xfrm>
            <a:off x="3918204" y="4370832"/>
            <a:ext cx="1243584" cy="42062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56.8%</a:t>
            </a:r>
            <a:endParaRPr/>
          </a:p>
        </p:txBody>
      </p:sp>
      <p:sp>
        <p:nvSpPr>
          <p:cNvPr id="427" name="Google Shape;427;p14"/>
          <p:cNvSpPr/>
          <p:nvPr/>
        </p:nvSpPr>
        <p:spPr>
          <a:xfrm>
            <a:off x="5193792" y="4325112"/>
            <a:ext cx="1110996" cy="489204"/>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8" name="Google Shape;428;p14"/>
          <p:cNvSpPr txBox="1"/>
          <p:nvPr/>
        </p:nvSpPr>
        <p:spPr>
          <a:xfrm>
            <a:off x="5244084" y="4370832"/>
            <a:ext cx="1051560" cy="42062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25</a:t>
            </a:r>
            <a:endParaRPr/>
          </a:p>
        </p:txBody>
      </p:sp>
      <p:sp>
        <p:nvSpPr>
          <p:cNvPr id="429" name="Google Shape;429;p14"/>
          <p:cNvSpPr txBox="1"/>
          <p:nvPr/>
        </p:nvSpPr>
        <p:spPr>
          <a:xfrm>
            <a:off x="6601968" y="1408176"/>
            <a:ext cx="4983480" cy="32918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600">
                <a:solidFill>
                  <a:srgbClr val="101A2B"/>
                </a:solidFill>
                <a:latin typeface="Arial"/>
                <a:ea typeface="Arial"/>
                <a:cs typeface="Arial"/>
                <a:sym typeface="Arial"/>
              </a:rPr>
              <a:t>ResNet-50 · six configurations</a:t>
            </a:r>
            <a:endParaRPr/>
          </a:p>
        </p:txBody>
      </p:sp>
      <p:sp>
        <p:nvSpPr>
          <p:cNvPr id="430" name="Google Shape;430;p14"/>
          <p:cNvSpPr/>
          <p:nvPr/>
        </p:nvSpPr>
        <p:spPr>
          <a:xfrm>
            <a:off x="6601968" y="1810512"/>
            <a:ext cx="690372" cy="420624"/>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1" name="Google Shape;431;p14"/>
          <p:cNvSpPr txBox="1"/>
          <p:nvPr/>
        </p:nvSpPr>
        <p:spPr>
          <a:xfrm>
            <a:off x="6665976" y="1869948"/>
            <a:ext cx="594360" cy="34747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100">
                <a:solidFill>
                  <a:srgbClr val="FFFFFF"/>
                </a:solidFill>
                <a:latin typeface="Arial"/>
                <a:ea typeface="Arial"/>
                <a:cs typeface="Arial"/>
                <a:sym typeface="Arial"/>
              </a:rPr>
              <a:t>Run</a:t>
            </a:r>
            <a:endParaRPr/>
          </a:p>
        </p:txBody>
      </p:sp>
      <p:sp>
        <p:nvSpPr>
          <p:cNvPr id="432" name="Google Shape;432;p14"/>
          <p:cNvSpPr/>
          <p:nvPr/>
        </p:nvSpPr>
        <p:spPr>
          <a:xfrm>
            <a:off x="7315200" y="1810512"/>
            <a:ext cx="1394460" cy="420624"/>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3" name="Google Shape;433;p14"/>
          <p:cNvSpPr txBox="1"/>
          <p:nvPr/>
        </p:nvSpPr>
        <p:spPr>
          <a:xfrm>
            <a:off x="7379208" y="1869948"/>
            <a:ext cx="1298448" cy="34747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100">
                <a:solidFill>
                  <a:srgbClr val="FFFFFF"/>
                </a:solidFill>
                <a:latin typeface="Arial"/>
                <a:ea typeface="Arial"/>
                <a:cs typeface="Arial"/>
                <a:sym typeface="Arial"/>
              </a:rPr>
              <a:t>Val Acc</a:t>
            </a:r>
            <a:endParaRPr/>
          </a:p>
        </p:txBody>
      </p:sp>
      <p:sp>
        <p:nvSpPr>
          <p:cNvPr id="434" name="Google Shape;434;p14"/>
          <p:cNvSpPr/>
          <p:nvPr/>
        </p:nvSpPr>
        <p:spPr>
          <a:xfrm>
            <a:off x="8732520" y="1810512"/>
            <a:ext cx="1559052" cy="420624"/>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5" name="Google Shape;435;p14"/>
          <p:cNvSpPr txBox="1"/>
          <p:nvPr/>
        </p:nvSpPr>
        <p:spPr>
          <a:xfrm>
            <a:off x="8796528" y="1869948"/>
            <a:ext cx="1463040" cy="34747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100">
                <a:solidFill>
                  <a:srgbClr val="FFFFFF"/>
                </a:solidFill>
                <a:latin typeface="Arial"/>
                <a:ea typeface="Arial"/>
                <a:cs typeface="Arial"/>
                <a:sym typeface="Arial"/>
              </a:rPr>
              <a:t>Gap</a:t>
            </a:r>
            <a:endParaRPr/>
          </a:p>
        </p:txBody>
      </p:sp>
      <p:sp>
        <p:nvSpPr>
          <p:cNvPr id="436" name="Google Shape;436;p14"/>
          <p:cNvSpPr/>
          <p:nvPr/>
        </p:nvSpPr>
        <p:spPr>
          <a:xfrm>
            <a:off x="10314432" y="1810512"/>
            <a:ext cx="1257300" cy="420624"/>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7" name="Google Shape;437;p14"/>
          <p:cNvSpPr txBox="1"/>
          <p:nvPr/>
        </p:nvSpPr>
        <p:spPr>
          <a:xfrm>
            <a:off x="10378440" y="1869948"/>
            <a:ext cx="1161288" cy="34747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100">
                <a:solidFill>
                  <a:srgbClr val="FFFFFF"/>
                </a:solidFill>
                <a:latin typeface="Arial"/>
                <a:ea typeface="Arial"/>
                <a:cs typeface="Arial"/>
                <a:sym typeface="Arial"/>
              </a:rPr>
              <a:t>Best Ep</a:t>
            </a:r>
            <a:endParaRPr/>
          </a:p>
        </p:txBody>
      </p:sp>
      <p:sp>
        <p:nvSpPr>
          <p:cNvPr id="438" name="Google Shape;438;p14"/>
          <p:cNvSpPr/>
          <p:nvPr/>
        </p:nvSpPr>
        <p:spPr>
          <a:xfrm>
            <a:off x="6601968" y="2231136"/>
            <a:ext cx="690372" cy="406908"/>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9" name="Google Shape;439;p14"/>
          <p:cNvSpPr txBox="1"/>
          <p:nvPr/>
        </p:nvSpPr>
        <p:spPr>
          <a:xfrm>
            <a:off x="6652259" y="2276856"/>
            <a:ext cx="630936" cy="3383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70">
                <a:solidFill>
                  <a:srgbClr val="203148"/>
                </a:solidFill>
                <a:latin typeface="Arial"/>
                <a:ea typeface="Arial"/>
                <a:cs typeface="Arial"/>
                <a:sym typeface="Arial"/>
              </a:rPr>
              <a:t>R1</a:t>
            </a:r>
            <a:endParaRPr/>
          </a:p>
        </p:txBody>
      </p:sp>
      <p:sp>
        <p:nvSpPr>
          <p:cNvPr id="440" name="Google Shape;440;p14"/>
          <p:cNvSpPr/>
          <p:nvPr/>
        </p:nvSpPr>
        <p:spPr>
          <a:xfrm>
            <a:off x="7315200" y="2231136"/>
            <a:ext cx="1394460" cy="406908"/>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1" name="Google Shape;441;p14"/>
          <p:cNvSpPr txBox="1"/>
          <p:nvPr/>
        </p:nvSpPr>
        <p:spPr>
          <a:xfrm>
            <a:off x="7365492" y="2276856"/>
            <a:ext cx="1335024" cy="3383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71.3%</a:t>
            </a:r>
            <a:endParaRPr/>
          </a:p>
        </p:txBody>
      </p:sp>
      <p:sp>
        <p:nvSpPr>
          <p:cNvPr id="442" name="Google Shape;442;p14"/>
          <p:cNvSpPr/>
          <p:nvPr/>
        </p:nvSpPr>
        <p:spPr>
          <a:xfrm>
            <a:off x="8732520" y="2231136"/>
            <a:ext cx="1559052" cy="406908"/>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3" name="Google Shape;443;p14"/>
          <p:cNvSpPr txBox="1"/>
          <p:nvPr/>
        </p:nvSpPr>
        <p:spPr>
          <a:xfrm>
            <a:off x="8782812" y="2276856"/>
            <a:ext cx="1499616" cy="3383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-6.5 pp</a:t>
            </a:r>
            <a:endParaRPr/>
          </a:p>
        </p:txBody>
      </p:sp>
      <p:sp>
        <p:nvSpPr>
          <p:cNvPr id="444" name="Google Shape;444;p14"/>
          <p:cNvSpPr/>
          <p:nvPr/>
        </p:nvSpPr>
        <p:spPr>
          <a:xfrm>
            <a:off x="10314432" y="2231136"/>
            <a:ext cx="1257300" cy="406908"/>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5" name="Google Shape;445;p14"/>
          <p:cNvSpPr txBox="1"/>
          <p:nvPr/>
        </p:nvSpPr>
        <p:spPr>
          <a:xfrm>
            <a:off x="10364724" y="2276856"/>
            <a:ext cx="1197863" cy="3383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9</a:t>
            </a:r>
            <a:endParaRPr/>
          </a:p>
        </p:txBody>
      </p:sp>
      <p:sp>
        <p:nvSpPr>
          <p:cNvPr id="446" name="Google Shape;446;p14"/>
          <p:cNvSpPr/>
          <p:nvPr/>
        </p:nvSpPr>
        <p:spPr>
          <a:xfrm>
            <a:off x="6601968" y="2651760"/>
            <a:ext cx="690372" cy="406908"/>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7" name="Google Shape;447;p14"/>
          <p:cNvSpPr txBox="1"/>
          <p:nvPr/>
        </p:nvSpPr>
        <p:spPr>
          <a:xfrm>
            <a:off x="6652259" y="2697479"/>
            <a:ext cx="630936" cy="3383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70">
                <a:solidFill>
                  <a:srgbClr val="0DAE9A"/>
                </a:solidFill>
                <a:latin typeface="Arial"/>
                <a:ea typeface="Arial"/>
                <a:cs typeface="Arial"/>
                <a:sym typeface="Arial"/>
              </a:rPr>
              <a:t>R2</a:t>
            </a:r>
            <a:endParaRPr/>
          </a:p>
        </p:txBody>
      </p:sp>
      <p:sp>
        <p:nvSpPr>
          <p:cNvPr id="448" name="Google Shape;448;p14"/>
          <p:cNvSpPr/>
          <p:nvPr/>
        </p:nvSpPr>
        <p:spPr>
          <a:xfrm>
            <a:off x="7315200" y="2651760"/>
            <a:ext cx="1394460" cy="406908"/>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9" name="Google Shape;449;p14"/>
          <p:cNvSpPr txBox="1"/>
          <p:nvPr/>
        </p:nvSpPr>
        <p:spPr>
          <a:xfrm>
            <a:off x="7365492" y="2697479"/>
            <a:ext cx="1335024" cy="3383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83.9%</a:t>
            </a:r>
            <a:endParaRPr/>
          </a:p>
        </p:txBody>
      </p:sp>
      <p:sp>
        <p:nvSpPr>
          <p:cNvPr id="450" name="Google Shape;450;p14"/>
          <p:cNvSpPr/>
          <p:nvPr/>
        </p:nvSpPr>
        <p:spPr>
          <a:xfrm>
            <a:off x="8732520" y="2651760"/>
            <a:ext cx="1559052" cy="406908"/>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1" name="Google Shape;451;p14"/>
          <p:cNvSpPr txBox="1"/>
          <p:nvPr/>
        </p:nvSpPr>
        <p:spPr>
          <a:xfrm>
            <a:off x="8782812" y="2697479"/>
            <a:ext cx="1499616" cy="3383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+9.2 pp</a:t>
            </a:r>
            <a:endParaRPr/>
          </a:p>
        </p:txBody>
      </p:sp>
      <p:sp>
        <p:nvSpPr>
          <p:cNvPr id="452" name="Google Shape;452;p14"/>
          <p:cNvSpPr/>
          <p:nvPr/>
        </p:nvSpPr>
        <p:spPr>
          <a:xfrm>
            <a:off x="10314432" y="2651760"/>
            <a:ext cx="1257300" cy="406908"/>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3" name="Google Shape;453;p14"/>
          <p:cNvSpPr txBox="1"/>
          <p:nvPr/>
        </p:nvSpPr>
        <p:spPr>
          <a:xfrm>
            <a:off x="10364724" y="2697479"/>
            <a:ext cx="1197863" cy="3383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12</a:t>
            </a:r>
            <a:endParaRPr/>
          </a:p>
        </p:txBody>
      </p:sp>
      <p:sp>
        <p:nvSpPr>
          <p:cNvPr id="454" name="Google Shape;454;p14"/>
          <p:cNvSpPr/>
          <p:nvPr/>
        </p:nvSpPr>
        <p:spPr>
          <a:xfrm>
            <a:off x="6601968" y="3072384"/>
            <a:ext cx="690372" cy="406908"/>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5" name="Google Shape;455;p14"/>
          <p:cNvSpPr txBox="1"/>
          <p:nvPr/>
        </p:nvSpPr>
        <p:spPr>
          <a:xfrm>
            <a:off x="6652259" y="3118104"/>
            <a:ext cx="630936" cy="3383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70">
                <a:solidFill>
                  <a:srgbClr val="0DAE9A"/>
                </a:solidFill>
                <a:latin typeface="Arial"/>
                <a:ea typeface="Arial"/>
                <a:cs typeface="Arial"/>
                <a:sym typeface="Arial"/>
              </a:rPr>
              <a:t>R3</a:t>
            </a:r>
            <a:endParaRPr/>
          </a:p>
        </p:txBody>
      </p:sp>
      <p:sp>
        <p:nvSpPr>
          <p:cNvPr id="456" name="Google Shape;456;p14"/>
          <p:cNvSpPr/>
          <p:nvPr/>
        </p:nvSpPr>
        <p:spPr>
          <a:xfrm>
            <a:off x="7315200" y="3072384"/>
            <a:ext cx="1394460" cy="406908"/>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7" name="Google Shape;457;p14"/>
          <p:cNvSpPr txBox="1"/>
          <p:nvPr/>
        </p:nvSpPr>
        <p:spPr>
          <a:xfrm>
            <a:off x="7365492" y="3118104"/>
            <a:ext cx="1335024" cy="3383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83.9%</a:t>
            </a:r>
            <a:endParaRPr/>
          </a:p>
        </p:txBody>
      </p:sp>
      <p:sp>
        <p:nvSpPr>
          <p:cNvPr id="458" name="Google Shape;458;p14"/>
          <p:cNvSpPr/>
          <p:nvPr/>
        </p:nvSpPr>
        <p:spPr>
          <a:xfrm>
            <a:off x="8732520" y="3072384"/>
            <a:ext cx="1559052" cy="406908"/>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9" name="Google Shape;459;p14"/>
          <p:cNvSpPr txBox="1"/>
          <p:nvPr/>
        </p:nvSpPr>
        <p:spPr>
          <a:xfrm>
            <a:off x="8782812" y="3118104"/>
            <a:ext cx="1499616" cy="3383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+6.7 pp</a:t>
            </a:r>
            <a:endParaRPr/>
          </a:p>
        </p:txBody>
      </p:sp>
      <p:sp>
        <p:nvSpPr>
          <p:cNvPr id="460" name="Google Shape;460;p14"/>
          <p:cNvSpPr/>
          <p:nvPr/>
        </p:nvSpPr>
        <p:spPr>
          <a:xfrm>
            <a:off x="10314432" y="3072384"/>
            <a:ext cx="1257300" cy="406908"/>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1" name="Google Shape;461;p14"/>
          <p:cNvSpPr txBox="1"/>
          <p:nvPr/>
        </p:nvSpPr>
        <p:spPr>
          <a:xfrm>
            <a:off x="10364724" y="3118104"/>
            <a:ext cx="1197863" cy="3383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11</a:t>
            </a:r>
            <a:endParaRPr/>
          </a:p>
        </p:txBody>
      </p:sp>
      <p:sp>
        <p:nvSpPr>
          <p:cNvPr id="462" name="Google Shape;462;p14"/>
          <p:cNvSpPr/>
          <p:nvPr/>
        </p:nvSpPr>
        <p:spPr>
          <a:xfrm>
            <a:off x="6601968" y="3493008"/>
            <a:ext cx="690372" cy="40690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3" name="Google Shape;463;p14"/>
          <p:cNvSpPr txBox="1"/>
          <p:nvPr/>
        </p:nvSpPr>
        <p:spPr>
          <a:xfrm>
            <a:off x="6652259" y="3538728"/>
            <a:ext cx="630936" cy="3383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70">
                <a:solidFill>
                  <a:srgbClr val="203148"/>
                </a:solidFill>
                <a:latin typeface="Arial"/>
                <a:ea typeface="Arial"/>
                <a:cs typeface="Arial"/>
                <a:sym typeface="Arial"/>
              </a:rPr>
              <a:t>R4</a:t>
            </a:r>
            <a:endParaRPr/>
          </a:p>
        </p:txBody>
      </p:sp>
      <p:sp>
        <p:nvSpPr>
          <p:cNvPr id="464" name="Google Shape;464;p14"/>
          <p:cNvSpPr/>
          <p:nvPr/>
        </p:nvSpPr>
        <p:spPr>
          <a:xfrm>
            <a:off x="7315200" y="3493008"/>
            <a:ext cx="1394460" cy="40690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5" name="Google Shape;465;p14"/>
          <p:cNvSpPr txBox="1"/>
          <p:nvPr/>
        </p:nvSpPr>
        <p:spPr>
          <a:xfrm>
            <a:off x="7365492" y="3538728"/>
            <a:ext cx="1335024" cy="3383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81.5%</a:t>
            </a:r>
            <a:endParaRPr/>
          </a:p>
        </p:txBody>
      </p:sp>
      <p:sp>
        <p:nvSpPr>
          <p:cNvPr id="466" name="Google Shape;466;p14"/>
          <p:cNvSpPr/>
          <p:nvPr/>
        </p:nvSpPr>
        <p:spPr>
          <a:xfrm>
            <a:off x="8732520" y="3493008"/>
            <a:ext cx="1559052" cy="40690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7" name="Google Shape;467;p14"/>
          <p:cNvSpPr txBox="1"/>
          <p:nvPr/>
        </p:nvSpPr>
        <p:spPr>
          <a:xfrm>
            <a:off x="8782812" y="3538728"/>
            <a:ext cx="1499616" cy="3383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+16.5 pp</a:t>
            </a:r>
            <a:endParaRPr/>
          </a:p>
        </p:txBody>
      </p:sp>
      <p:sp>
        <p:nvSpPr>
          <p:cNvPr id="468" name="Google Shape;468;p14"/>
          <p:cNvSpPr/>
          <p:nvPr/>
        </p:nvSpPr>
        <p:spPr>
          <a:xfrm>
            <a:off x="10314432" y="3493008"/>
            <a:ext cx="1257300" cy="40690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9" name="Google Shape;469;p14"/>
          <p:cNvSpPr txBox="1"/>
          <p:nvPr/>
        </p:nvSpPr>
        <p:spPr>
          <a:xfrm>
            <a:off x="10364724" y="3538728"/>
            <a:ext cx="1197863" cy="3383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13</a:t>
            </a:r>
            <a:endParaRPr/>
          </a:p>
        </p:txBody>
      </p:sp>
      <p:sp>
        <p:nvSpPr>
          <p:cNvPr id="470" name="Google Shape;470;p14"/>
          <p:cNvSpPr/>
          <p:nvPr/>
        </p:nvSpPr>
        <p:spPr>
          <a:xfrm>
            <a:off x="6601968" y="3913632"/>
            <a:ext cx="690372" cy="406908"/>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1" name="Google Shape;471;p14"/>
          <p:cNvSpPr txBox="1"/>
          <p:nvPr/>
        </p:nvSpPr>
        <p:spPr>
          <a:xfrm>
            <a:off x="6652259" y="3959352"/>
            <a:ext cx="630936" cy="3383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70">
                <a:solidFill>
                  <a:srgbClr val="203148"/>
                </a:solidFill>
                <a:latin typeface="Arial"/>
                <a:ea typeface="Arial"/>
                <a:cs typeface="Arial"/>
                <a:sym typeface="Arial"/>
              </a:rPr>
              <a:t>R5</a:t>
            </a:r>
            <a:endParaRPr/>
          </a:p>
        </p:txBody>
      </p:sp>
      <p:sp>
        <p:nvSpPr>
          <p:cNvPr id="472" name="Google Shape;472;p14"/>
          <p:cNvSpPr/>
          <p:nvPr/>
        </p:nvSpPr>
        <p:spPr>
          <a:xfrm>
            <a:off x="7315200" y="3913632"/>
            <a:ext cx="1394460" cy="406908"/>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3" name="Google Shape;473;p14"/>
          <p:cNvSpPr txBox="1"/>
          <p:nvPr/>
        </p:nvSpPr>
        <p:spPr>
          <a:xfrm>
            <a:off x="7365492" y="3959352"/>
            <a:ext cx="1335024" cy="3383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83.2%</a:t>
            </a:r>
            <a:endParaRPr/>
          </a:p>
        </p:txBody>
      </p:sp>
      <p:sp>
        <p:nvSpPr>
          <p:cNvPr id="474" name="Google Shape;474;p14"/>
          <p:cNvSpPr/>
          <p:nvPr/>
        </p:nvSpPr>
        <p:spPr>
          <a:xfrm>
            <a:off x="8732520" y="3913632"/>
            <a:ext cx="1559052" cy="406908"/>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5" name="Google Shape;475;p14"/>
          <p:cNvSpPr txBox="1"/>
          <p:nvPr/>
        </p:nvSpPr>
        <p:spPr>
          <a:xfrm>
            <a:off x="8782812" y="3959352"/>
            <a:ext cx="1499616" cy="3383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+12.1 pp</a:t>
            </a:r>
            <a:endParaRPr/>
          </a:p>
        </p:txBody>
      </p:sp>
      <p:sp>
        <p:nvSpPr>
          <p:cNvPr id="476" name="Google Shape;476;p14"/>
          <p:cNvSpPr/>
          <p:nvPr/>
        </p:nvSpPr>
        <p:spPr>
          <a:xfrm>
            <a:off x="10314432" y="3913632"/>
            <a:ext cx="1257300" cy="406908"/>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7" name="Google Shape;477;p14"/>
          <p:cNvSpPr txBox="1"/>
          <p:nvPr/>
        </p:nvSpPr>
        <p:spPr>
          <a:xfrm>
            <a:off x="10364724" y="3959352"/>
            <a:ext cx="1197863" cy="3383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20</a:t>
            </a:r>
            <a:endParaRPr/>
          </a:p>
        </p:txBody>
      </p:sp>
      <p:sp>
        <p:nvSpPr>
          <p:cNvPr id="478" name="Google Shape;478;p14"/>
          <p:cNvSpPr/>
          <p:nvPr/>
        </p:nvSpPr>
        <p:spPr>
          <a:xfrm>
            <a:off x="6601968" y="4334256"/>
            <a:ext cx="690372" cy="40690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9" name="Google Shape;479;p14"/>
          <p:cNvSpPr txBox="1"/>
          <p:nvPr/>
        </p:nvSpPr>
        <p:spPr>
          <a:xfrm>
            <a:off x="6652259" y="4379976"/>
            <a:ext cx="630936" cy="3383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70">
                <a:solidFill>
                  <a:srgbClr val="203148"/>
                </a:solidFill>
                <a:latin typeface="Arial"/>
                <a:ea typeface="Arial"/>
                <a:cs typeface="Arial"/>
                <a:sym typeface="Arial"/>
              </a:rPr>
              <a:t>R6</a:t>
            </a:r>
            <a:endParaRPr/>
          </a:p>
        </p:txBody>
      </p:sp>
      <p:sp>
        <p:nvSpPr>
          <p:cNvPr id="480" name="Google Shape;480;p14"/>
          <p:cNvSpPr/>
          <p:nvPr/>
        </p:nvSpPr>
        <p:spPr>
          <a:xfrm>
            <a:off x="7315200" y="4334256"/>
            <a:ext cx="1394460" cy="40690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1" name="Google Shape;481;p14"/>
          <p:cNvSpPr txBox="1"/>
          <p:nvPr/>
        </p:nvSpPr>
        <p:spPr>
          <a:xfrm>
            <a:off x="7365492" y="4379976"/>
            <a:ext cx="1335024" cy="3383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82.6%</a:t>
            </a:r>
            <a:endParaRPr/>
          </a:p>
        </p:txBody>
      </p:sp>
      <p:sp>
        <p:nvSpPr>
          <p:cNvPr id="482" name="Google Shape;482;p14"/>
          <p:cNvSpPr/>
          <p:nvPr/>
        </p:nvSpPr>
        <p:spPr>
          <a:xfrm>
            <a:off x="8732520" y="4334256"/>
            <a:ext cx="1559052" cy="40690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3" name="Google Shape;483;p14"/>
          <p:cNvSpPr txBox="1"/>
          <p:nvPr/>
        </p:nvSpPr>
        <p:spPr>
          <a:xfrm>
            <a:off x="8782812" y="4379976"/>
            <a:ext cx="1499616" cy="3383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+12.8 pp</a:t>
            </a:r>
            <a:endParaRPr/>
          </a:p>
        </p:txBody>
      </p:sp>
      <p:sp>
        <p:nvSpPr>
          <p:cNvPr id="484" name="Google Shape;484;p14"/>
          <p:cNvSpPr/>
          <p:nvPr/>
        </p:nvSpPr>
        <p:spPr>
          <a:xfrm>
            <a:off x="10314432" y="4334256"/>
            <a:ext cx="1257300" cy="40690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5" name="Google Shape;485;p14"/>
          <p:cNvSpPr txBox="1"/>
          <p:nvPr/>
        </p:nvSpPr>
        <p:spPr>
          <a:xfrm>
            <a:off x="10364724" y="4379976"/>
            <a:ext cx="1197863" cy="3383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70">
                <a:solidFill>
                  <a:srgbClr val="203148"/>
                </a:solidFill>
                <a:latin typeface="Arial"/>
                <a:ea typeface="Arial"/>
                <a:cs typeface="Arial"/>
                <a:sym typeface="Arial"/>
              </a:rPr>
              <a:t>13</a:t>
            </a:r>
            <a:endParaRPr/>
          </a:p>
        </p:txBody>
      </p:sp>
      <p:sp>
        <p:nvSpPr>
          <p:cNvPr id="486" name="Google Shape;486;p14"/>
          <p:cNvSpPr/>
          <p:nvPr/>
        </p:nvSpPr>
        <p:spPr>
          <a:xfrm>
            <a:off x="658368" y="6117336"/>
            <a:ext cx="10817352" cy="420624"/>
          </a:xfrm>
          <a:prstGeom prst="roundRect">
            <a:avLst>
              <a:gd fmla="val 15000" name="adj"/>
            </a:avLst>
          </a:prstGeom>
          <a:solidFill>
            <a:srgbClr val="EDF5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7" name="Google Shape;487;p14"/>
          <p:cNvSpPr txBox="1"/>
          <p:nvPr/>
        </p:nvSpPr>
        <p:spPr>
          <a:xfrm>
            <a:off x="822960" y="6190488"/>
            <a:ext cx="10469880" cy="2651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200">
                <a:solidFill>
                  <a:srgbClr val="203148"/>
                </a:solidFill>
                <a:latin typeface="Arial"/>
                <a:ea typeface="Arial"/>
                <a:cs typeface="Arial"/>
                <a:sym typeface="Arial"/>
              </a:rPr>
              <a:t>CNN: augmentation improved generalization; C3 led at 58.0%. ResNet: R2 and R3 tied at 83.9%; no augmentation overfit.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1" name="Shape 491"/>
        <p:cNvGrpSpPr/>
        <p:nvPr/>
      </p:nvGrpSpPr>
      <p:grpSpPr>
        <a:xfrm>
          <a:off x="0" y="0"/>
          <a:ext cx="0" cy="0"/>
          <a:chOff x="0" y="0"/>
          <a:chExt cx="0" cy="0"/>
        </a:xfrm>
      </p:grpSpPr>
      <p:sp>
        <p:nvSpPr>
          <p:cNvPr id="492" name="Google Shape;492;p15"/>
          <p:cNvSpPr/>
          <p:nvPr/>
        </p:nvSpPr>
        <p:spPr>
          <a:xfrm>
            <a:off x="566928" y="548640"/>
            <a:ext cx="1051560" cy="41148"/>
          </a:xfrm>
          <a:prstGeom prst="rect">
            <a:avLst/>
          </a:prstGeom>
          <a:solidFill>
            <a:srgbClr val="0DAE9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3" name="Google Shape;493;p15"/>
          <p:cNvSpPr txBox="1"/>
          <p:nvPr/>
        </p:nvSpPr>
        <p:spPr>
          <a:xfrm>
            <a:off x="566928" y="274320"/>
            <a:ext cx="10058400" cy="21945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00">
                <a:solidFill>
                  <a:srgbClr val="0DAE9A"/>
                </a:solidFill>
                <a:latin typeface="Arial"/>
                <a:ea typeface="Arial"/>
                <a:cs typeface="Arial"/>
                <a:sym typeface="Arial"/>
              </a:rPr>
              <a:t>FOOD-101 · EXPERIMENT</a:t>
            </a:r>
            <a:endParaRPr/>
          </a:p>
        </p:txBody>
      </p:sp>
      <p:sp>
        <p:nvSpPr>
          <p:cNvPr id="494" name="Google Shape;494;p15"/>
          <p:cNvSpPr txBox="1"/>
          <p:nvPr/>
        </p:nvSpPr>
        <p:spPr>
          <a:xfrm>
            <a:off x="566928" y="694944"/>
            <a:ext cx="10972800" cy="5669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2700">
                <a:solidFill>
                  <a:srgbClr val="101A2B"/>
                </a:solidFill>
                <a:latin typeface="Arial"/>
                <a:ea typeface="Arial"/>
                <a:cs typeface="Arial"/>
                <a:sym typeface="Arial"/>
              </a:rPr>
              <a:t>Test results: ImageNet pretraining makes the difference</a:t>
            </a:r>
            <a:endParaRPr/>
          </a:p>
        </p:txBody>
      </p:sp>
      <p:sp>
        <p:nvSpPr>
          <p:cNvPr id="495" name="Google Shape;495;p15"/>
          <p:cNvSpPr txBox="1"/>
          <p:nvPr/>
        </p:nvSpPr>
        <p:spPr>
          <a:xfrm>
            <a:off x="11018520" y="6492240"/>
            <a:ext cx="594360" cy="18288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00">
                <a:solidFill>
                  <a:srgbClr val="718198"/>
                </a:solidFill>
                <a:latin typeface="Arial"/>
                <a:ea typeface="Arial"/>
                <a:cs typeface="Arial"/>
                <a:sym typeface="Arial"/>
              </a:rPr>
              <a:t>13</a:t>
            </a:r>
            <a:endParaRPr/>
          </a:p>
        </p:txBody>
      </p:sp>
      <p:sp>
        <p:nvSpPr>
          <p:cNvPr id="496" name="Google Shape;496;p15"/>
          <p:cNvSpPr/>
          <p:nvPr/>
        </p:nvSpPr>
        <p:spPr>
          <a:xfrm>
            <a:off x="685800" y="1508760"/>
            <a:ext cx="3401568" cy="1051560"/>
          </a:xfrm>
          <a:prstGeom prst="roundRect">
            <a:avLst>
              <a:gd fmla="val 18000" name="adj"/>
            </a:avLst>
          </a:prstGeom>
          <a:solidFill>
            <a:srgbClr val="EDF5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7" name="Google Shape;497;p15"/>
          <p:cNvSpPr txBox="1"/>
          <p:nvPr/>
        </p:nvSpPr>
        <p:spPr>
          <a:xfrm>
            <a:off x="832104" y="1636776"/>
            <a:ext cx="3108960" cy="2103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100">
                <a:solidFill>
                  <a:srgbClr val="718198"/>
                </a:solidFill>
                <a:latin typeface="Arial"/>
                <a:ea typeface="Arial"/>
                <a:cs typeface="Arial"/>
                <a:sym typeface="Arial"/>
              </a:rPr>
              <a:t>SCRATCH CNN · C3</a:t>
            </a:r>
            <a:endParaRPr/>
          </a:p>
        </p:txBody>
      </p:sp>
      <p:sp>
        <p:nvSpPr>
          <p:cNvPr id="498" name="Google Shape;498;p15"/>
          <p:cNvSpPr txBox="1"/>
          <p:nvPr/>
        </p:nvSpPr>
        <p:spPr>
          <a:xfrm>
            <a:off x="832104" y="1920240"/>
            <a:ext cx="3108960" cy="48463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2700">
                <a:solidFill>
                  <a:srgbClr val="2B78E4"/>
                </a:solidFill>
                <a:latin typeface="Arial"/>
                <a:ea typeface="Arial"/>
                <a:cs typeface="Arial"/>
                <a:sym typeface="Arial"/>
              </a:rPr>
              <a:t>62.7%</a:t>
            </a:r>
            <a:endParaRPr/>
          </a:p>
        </p:txBody>
      </p:sp>
      <p:sp>
        <p:nvSpPr>
          <p:cNvPr id="499" name="Google Shape;499;p15"/>
          <p:cNvSpPr/>
          <p:nvPr/>
        </p:nvSpPr>
        <p:spPr>
          <a:xfrm>
            <a:off x="4407408" y="1508760"/>
            <a:ext cx="3401568" cy="1051560"/>
          </a:xfrm>
          <a:prstGeom prst="roundRect">
            <a:avLst>
              <a:gd fmla="val 18000" name="adj"/>
            </a:avLst>
          </a:prstGeom>
          <a:solidFill>
            <a:srgbClr val="EDF5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0" name="Google Shape;500;p15"/>
          <p:cNvSpPr txBox="1"/>
          <p:nvPr/>
        </p:nvSpPr>
        <p:spPr>
          <a:xfrm>
            <a:off x="4553712" y="1636776"/>
            <a:ext cx="3108960" cy="2103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100">
                <a:solidFill>
                  <a:srgbClr val="718198"/>
                </a:solidFill>
                <a:latin typeface="Arial"/>
                <a:ea typeface="Arial"/>
                <a:cs typeface="Arial"/>
                <a:sym typeface="Arial"/>
              </a:rPr>
              <a:t>RESNET-50 · R3</a:t>
            </a:r>
            <a:endParaRPr/>
          </a:p>
        </p:txBody>
      </p:sp>
      <p:sp>
        <p:nvSpPr>
          <p:cNvPr id="501" name="Google Shape;501;p15"/>
          <p:cNvSpPr txBox="1"/>
          <p:nvPr/>
        </p:nvSpPr>
        <p:spPr>
          <a:xfrm>
            <a:off x="4553712" y="1920240"/>
            <a:ext cx="3108960" cy="48463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2700">
                <a:solidFill>
                  <a:srgbClr val="0DAE9A"/>
                </a:solidFill>
                <a:latin typeface="Arial"/>
                <a:ea typeface="Arial"/>
                <a:cs typeface="Arial"/>
                <a:sym typeface="Arial"/>
              </a:rPr>
              <a:t>86.9%</a:t>
            </a:r>
            <a:endParaRPr/>
          </a:p>
        </p:txBody>
      </p:sp>
      <p:sp>
        <p:nvSpPr>
          <p:cNvPr id="502" name="Google Shape;502;p15"/>
          <p:cNvSpPr/>
          <p:nvPr/>
        </p:nvSpPr>
        <p:spPr>
          <a:xfrm>
            <a:off x="8119872" y="1508760"/>
            <a:ext cx="3401568" cy="1051560"/>
          </a:xfrm>
          <a:prstGeom prst="roundRect">
            <a:avLst>
              <a:gd fmla="val 18000" name="adj"/>
            </a:avLst>
          </a:prstGeom>
          <a:solidFill>
            <a:srgbClr val="EDF5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3" name="Google Shape;503;p15"/>
          <p:cNvSpPr txBox="1"/>
          <p:nvPr/>
        </p:nvSpPr>
        <p:spPr>
          <a:xfrm>
            <a:off x="8266176" y="1636776"/>
            <a:ext cx="3108960" cy="2103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100">
                <a:solidFill>
                  <a:srgbClr val="718198"/>
                </a:solidFill>
                <a:latin typeface="Arial"/>
                <a:ea typeface="Arial"/>
                <a:cs typeface="Arial"/>
                <a:sym typeface="Arial"/>
              </a:rPr>
              <a:t>TEST IMPROVEMENT</a:t>
            </a:r>
            <a:endParaRPr/>
          </a:p>
        </p:txBody>
      </p:sp>
      <p:sp>
        <p:nvSpPr>
          <p:cNvPr id="504" name="Google Shape;504;p15"/>
          <p:cNvSpPr txBox="1"/>
          <p:nvPr/>
        </p:nvSpPr>
        <p:spPr>
          <a:xfrm>
            <a:off x="8266176" y="1920240"/>
            <a:ext cx="3108960" cy="48463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2700">
                <a:solidFill>
                  <a:srgbClr val="0DAE9A"/>
                </a:solidFill>
                <a:latin typeface="Arial"/>
                <a:ea typeface="Arial"/>
                <a:cs typeface="Arial"/>
                <a:sym typeface="Arial"/>
              </a:rPr>
              <a:t>+24.2 pp</a:t>
            </a:r>
            <a:endParaRPr/>
          </a:p>
        </p:txBody>
      </p:sp>
      <p:sp>
        <p:nvSpPr>
          <p:cNvPr id="505" name="Google Shape;505;p15"/>
          <p:cNvSpPr txBox="1"/>
          <p:nvPr/>
        </p:nvSpPr>
        <p:spPr>
          <a:xfrm>
            <a:off x="704088" y="2898648"/>
            <a:ext cx="10789920" cy="32918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600">
                <a:solidFill>
                  <a:srgbClr val="101A2B"/>
                </a:solidFill>
                <a:latin typeface="Arial"/>
                <a:ea typeface="Arial"/>
                <a:cs typeface="Arial"/>
                <a:sym typeface="Arial"/>
              </a:rPr>
              <a:t>Both models evaluated once on 5,250 held-out images across 21 classes</a:t>
            </a:r>
            <a:endParaRPr/>
          </a:p>
        </p:txBody>
      </p:sp>
      <p:sp>
        <p:nvSpPr>
          <p:cNvPr id="506" name="Google Shape;506;p15"/>
          <p:cNvSpPr/>
          <p:nvPr/>
        </p:nvSpPr>
        <p:spPr>
          <a:xfrm>
            <a:off x="713232" y="3383280"/>
            <a:ext cx="3771900" cy="576072"/>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7" name="Google Shape;507;p15"/>
          <p:cNvSpPr txBox="1"/>
          <p:nvPr/>
        </p:nvSpPr>
        <p:spPr>
          <a:xfrm>
            <a:off x="777240" y="3442716"/>
            <a:ext cx="3675888"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500">
                <a:solidFill>
                  <a:srgbClr val="FFFFFF"/>
                </a:solidFill>
                <a:latin typeface="Arial"/>
                <a:ea typeface="Arial"/>
                <a:cs typeface="Arial"/>
                <a:sym typeface="Arial"/>
              </a:rPr>
              <a:t>Model</a:t>
            </a:r>
            <a:endParaRPr/>
          </a:p>
        </p:txBody>
      </p:sp>
      <p:sp>
        <p:nvSpPr>
          <p:cNvPr id="508" name="Google Shape;508;p15"/>
          <p:cNvSpPr/>
          <p:nvPr/>
        </p:nvSpPr>
        <p:spPr>
          <a:xfrm>
            <a:off x="4507992" y="3383280"/>
            <a:ext cx="1485900" cy="576072"/>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9" name="Google Shape;509;p15"/>
          <p:cNvSpPr txBox="1"/>
          <p:nvPr/>
        </p:nvSpPr>
        <p:spPr>
          <a:xfrm>
            <a:off x="4572000" y="3442716"/>
            <a:ext cx="1389888"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500">
                <a:solidFill>
                  <a:srgbClr val="FFFFFF"/>
                </a:solidFill>
                <a:latin typeface="Arial"/>
                <a:ea typeface="Arial"/>
                <a:cs typeface="Arial"/>
                <a:sym typeface="Arial"/>
              </a:rPr>
              <a:t>Classes</a:t>
            </a:r>
            <a:endParaRPr/>
          </a:p>
        </p:txBody>
      </p:sp>
      <p:sp>
        <p:nvSpPr>
          <p:cNvPr id="510" name="Google Shape;510;p15"/>
          <p:cNvSpPr/>
          <p:nvPr/>
        </p:nvSpPr>
        <p:spPr>
          <a:xfrm>
            <a:off x="6016752" y="3383280"/>
            <a:ext cx="2354580" cy="576072"/>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1" name="Google Shape;511;p15"/>
          <p:cNvSpPr txBox="1"/>
          <p:nvPr/>
        </p:nvSpPr>
        <p:spPr>
          <a:xfrm>
            <a:off x="6080760" y="3442716"/>
            <a:ext cx="2258568"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500">
                <a:solidFill>
                  <a:srgbClr val="FFFFFF"/>
                </a:solidFill>
                <a:latin typeface="Arial"/>
                <a:ea typeface="Arial"/>
                <a:cs typeface="Arial"/>
                <a:sym typeface="Arial"/>
              </a:rPr>
              <a:t>Test accuracy</a:t>
            </a:r>
            <a:endParaRPr/>
          </a:p>
        </p:txBody>
      </p:sp>
      <p:sp>
        <p:nvSpPr>
          <p:cNvPr id="512" name="Google Shape;512;p15"/>
          <p:cNvSpPr/>
          <p:nvPr/>
        </p:nvSpPr>
        <p:spPr>
          <a:xfrm>
            <a:off x="8394192" y="3383280"/>
            <a:ext cx="2948940" cy="576072"/>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3" name="Google Shape;513;p15"/>
          <p:cNvSpPr txBox="1"/>
          <p:nvPr/>
        </p:nvSpPr>
        <p:spPr>
          <a:xfrm>
            <a:off x="8458200" y="3442716"/>
            <a:ext cx="2852928"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500">
                <a:solidFill>
                  <a:srgbClr val="FFFFFF"/>
                </a:solidFill>
                <a:latin typeface="Arial"/>
                <a:ea typeface="Arial"/>
                <a:cs typeface="Arial"/>
                <a:sym typeface="Arial"/>
              </a:rPr>
              <a:t>Correct predictions</a:t>
            </a:r>
            <a:endParaRPr/>
          </a:p>
        </p:txBody>
      </p:sp>
      <p:sp>
        <p:nvSpPr>
          <p:cNvPr id="514" name="Google Shape;514;p15"/>
          <p:cNvSpPr/>
          <p:nvPr/>
        </p:nvSpPr>
        <p:spPr>
          <a:xfrm>
            <a:off x="713232" y="3959352"/>
            <a:ext cx="3771900" cy="562356"/>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5" name="Google Shape;515;p15"/>
          <p:cNvSpPr txBox="1"/>
          <p:nvPr/>
        </p:nvSpPr>
        <p:spPr>
          <a:xfrm>
            <a:off x="763524" y="4005072"/>
            <a:ext cx="3712464" cy="4937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470">
                <a:solidFill>
                  <a:srgbClr val="203148"/>
                </a:solidFill>
                <a:latin typeface="Arial"/>
                <a:ea typeface="Arial"/>
                <a:cs typeface="Arial"/>
                <a:sym typeface="Arial"/>
              </a:rPr>
              <a:t>Random chance</a:t>
            </a:r>
            <a:endParaRPr/>
          </a:p>
        </p:txBody>
      </p:sp>
      <p:sp>
        <p:nvSpPr>
          <p:cNvPr id="516" name="Google Shape;516;p15"/>
          <p:cNvSpPr/>
          <p:nvPr/>
        </p:nvSpPr>
        <p:spPr>
          <a:xfrm>
            <a:off x="4507992" y="3959352"/>
            <a:ext cx="1485900" cy="562356"/>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7" name="Google Shape;517;p15"/>
          <p:cNvSpPr txBox="1"/>
          <p:nvPr/>
        </p:nvSpPr>
        <p:spPr>
          <a:xfrm>
            <a:off x="4558284" y="4005072"/>
            <a:ext cx="1426463" cy="4937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470">
                <a:solidFill>
                  <a:srgbClr val="203148"/>
                </a:solidFill>
                <a:latin typeface="Arial"/>
                <a:ea typeface="Arial"/>
                <a:cs typeface="Arial"/>
                <a:sym typeface="Arial"/>
              </a:rPr>
              <a:t>21</a:t>
            </a:r>
            <a:endParaRPr/>
          </a:p>
        </p:txBody>
      </p:sp>
      <p:sp>
        <p:nvSpPr>
          <p:cNvPr id="518" name="Google Shape;518;p15"/>
          <p:cNvSpPr/>
          <p:nvPr/>
        </p:nvSpPr>
        <p:spPr>
          <a:xfrm>
            <a:off x="6016752" y="3959352"/>
            <a:ext cx="2354580" cy="562356"/>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9" name="Google Shape;519;p15"/>
          <p:cNvSpPr txBox="1"/>
          <p:nvPr/>
        </p:nvSpPr>
        <p:spPr>
          <a:xfrm>
            <a:off x="6067044" y="4005072"/>
            <a:ext cx="2295144" cy="4937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470">
                <a:solidFill>
                  <a:srgbClr val="203148"/>
                </a:solidFill>
                <a:latin typeface="Arial"/>
                <a:ea typeface="Arial"/>
                <a:cs typeface="Arial"/>
                <a:sym typeface="Arial"/>
              </a:rPr>
              <a:t>4.8%</a:t>
            </a:r>
            <a:endParaRPr/>
          </a:p>
        </p:txBody>
      </p:sp>
      <p:sp>
        <p:nvSpPr>
          <p:cNvPr id="520" name="Google Shape;520;p15"/>
          <p:cNvSpPr/>
          <p:nvPr/>
        </p:nvSpPr>
        <p:spPr>
          <a:xfrm>
            <a:off x="8394192" y="3959352"/>
            <a:ext cx="2948940" cy="562356"/>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1" name="Google Shape;521;p15"/>
          <p:cNvSpPr txBox="1"/>
          <p:nvPr/>
        </p:nvSpPr>
        <p:spPr>
          <a:xfrm>
            <a:off x="8444484" y="4005072"/>
            <a:ext cx="2889504" cy="4937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470">
                <a:solidFill>
                  <a:srgbClr val="203148"/>
                </a:solidFill>
                <a:latin typeface="Arial"/>
                <a:ea typeface="Arial"/>
                <a:cs typeface="Arial"/>
                <a:sym typeface="Arial"/>
              </a:rPr>
              <a:t>—</a:t>
            </a:r>
            <a:endParaRPr/>
          </a:p>
        </p:txBody>
      </p:sp>
      <p:sp>
        <p:nvSpPr>
          <p:cNvPr id="522" name="Google Shape;522;p15"/>
          <p:cNvSpPr/>
          <p:nvPr/>
        </p:nvSpPr>
        <p:spPr>
          <a:xfrm>
            <a:off x="713232" y="4535424"/>
            <a:ext cx="3771900" cy="56235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3" name="Google Shape;523;p15"/>
          <p:cNvSpPr txBox="1"/>
          <p:nvPr/>
        </p:nvSpPr>
        <p:spPr>
          <a:xfrm>
            <a:off x="763524" y="4581144"/>
            <a:ext cx="3712464" cy="4937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470">
                <a:solidFill>
                  <a:srgbClr val="203148"/>
                </a:solidFill>
                <a:latin typeface="Arial"/>
                <a:ea typeface="Arial"/>
                <a:cs typeface="Arial"/>
                <a:sym typeface="Arial"/>
              </a:rPr>
              <a:t>Scratch CNN (C3)</a:t>
            </a:r>
            <a:endParaRPr/>
          </a:p>
        </p:txBody>
      </p:sp>
      <p:sp>
        <p:nvSpPr>
          <p:cNvPr id="524" name="Google Shape;524;p15"/>
          <p:cNvSpPr/>
          <p:nvPr/>
        </p:nvSpPr>
        <p:spPr>
          <a:xfrm>
            <a:off x="4507992" y="4535424"/>
            <a:ext cx="1485900" cy="56235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5" name="Google Shape;525;p15"/>
          <p:cNvSpPr txBox="1"/>
          <p:nvPr/>
        </p:nvSpPr>
        <p:spPr>
          <a:xfrm>
            <a:off x="4558284" y="4581144"/>
            <a:ext cx="1426463" cy="4937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470">
                <a:solidFill>
                  <a:srgbClr val="203148"/>
                </a:solidFill>
                <a:latin typeface="Arial"/>
                <a:ea typeface="Arial"/>
                <a:cs typeface="Arial"/>
                <a:sym typeface="Arial"/>
              </a:rPr>
              <a:t>21</a:t>
            </a:r>
            <a:endParaRPr/>
          </a:p>
        </p:txBody>
      </p:sp>
      <p:sp>
        <p:nvSpPr>
          <p:cNvPr id="526" name="Google Shape;526;p15"/>
          <p:cNvSpPr/>
          <p:nvPr/>
        </p:nvSpPr>
        <p:spPr>
          <a:xfrm>
            <a:off x="6016752" y="4535424"/>
            <a:ext cx="2354580" cy="56235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7" name="Google Shape;527;p15"/>
          <p:cNvSpPr txBox="1"/>
          <p:nvPr/>
        </p:nvSpPr>
        <p:spPr>
          <a:xfrm>
            <a:off x="6067044" y="4581144"/>
            <a:ext cx="2295144" cy="4937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470">
                <a:solidFill>
                  <a:srgbClr val="203148"/>
                </a:solidFill>
                <a:latin typeface="Arial"/>
                <a:ea typeface="Arial"/>
                <a:cs typeface="Arial"/>
                <a:sym typeface="Arial"/>
              </a:rPr>
              <a:t>62.7%</a:t>
            </a:r>
            <a:endParaRPr/>
          </a:p>
        </p:txBody>
      </p:sp>
      <p:sp>
        <p:nvSpPr>
          <p:cNvPr id="528" name="Google Shape;528;p15"/>
          <p:cNvSpPr/>
          <p:nvPr/>
        </p:nvSpPr>
        <p:spPr>
          <a:xfrm>
            <a:off x="8394192" y="4535424"/>
            <a:ext cx="2948940" cy="56235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9" name="Google Shape;529;p15"/>
          <p:cNvSpPr txBox="1"/>
          <p:nvPr/>
        </p:nvSpPr>
        <p:spPr>
          <a:xfrm>
            <a:off x="8444484" y="4581144"/>
            <a:ext cx="2889504" cy="4937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470">
                <a:solidFill>
                  <a:srgbClr val="203148"/>
                </a:solidFill>
                <a:latin typeface="Arial"/>
                <a:ea typeface="Arial"/>
                <a:cs typeface="Arial"/>
                <a:sym typeface="Arial"/>
              </a:rPr>
              <a:t>3,292 / 5,250</a:t>
            </a:r>
            <a:endParaRPr/>
          </a:p>
        </p:txBody>
      </p:sp>
      <p:sp>
        <p:nvSpPr>
          <p:cNvPr id="530" name="Google Shape;530;p15"/>
          <p:cNvSpPr/>
          <p:nvPr/>
        </p:nvSpPr>
        <p:spPr>
          <a:xfrm>
            <a:off x="713232" y="5111496"/>
            <a:ext cx="3771900" cy="562356"/>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1" name="Google Shape;531;p15"/>
          <p:cNvSpPr txBox="1"/>
          <p:nvPr/>
        </p:nvSpPr>
        <p:spPr>
          <a:xfrm>
            <a:off x="763524" y="5157216"/>
            <a:ext cx="3712464" cy="4937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470">
                <a:solidFill>
                  <a:srgbClr val="0DAE9A"/>
                </a:solidFill>
                <a:latin typeface="Arial"/>
                <a:ea typeface="Arial"/>
                <a:cs typeface="Arial"/>
                <a:sym typeface="Arial"/>
              </a:rPr>
              <a:t>Fine-tuned ResNet-50 (R3)</a:t>
            </a:r>
            <a:endParaRPr/>
          </a:p>
        </p:txBody>
      </p:sp>
      <p:sp>
        <p:nvSpPr>
          <p:cNvPr id="532" name="Google Shape;532;p15"/>
          <p:cNvSpPr/>
          <p:nvPr/>
        </p:nvSpPr>
        <p:spPr>
          <a:xfrm>
            <a:off x="4507992" y="5111496"/>
            <a:ext cx="1485900" cy="562356"/>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3" name="Google Shape;533;p15"/>
          <p:cNvSpPr txBox="1"/>
          <p:nvPr/>
        </p:nvSpPr>
        <p:spPr>
          <a:xfrm>
            <a:off x="4558284" y="5157216"/>
            <a:ext cx="1426463" cy="4937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470">
                <a:solidFill>
                  <a:srgbClr val="203148"/>
                </a:solidFill>
                <a:latin typeface="Arial"/>
                <a:ea typeface="Arial"/>
                <a:cs typeface="Arial"/>
                <a:sym typeface="Arial"/>
              </a:rPr>
              <a:t>21</a:t>
            </a:r>
            <a:endParaRPr/>
          </a:p>
        </p:txBody>
      </p:sp>
      <p:sp>
        <p:nvSpPr>
          <p:cNvPr id="534" name="Google Shape;534;p15"/>
          <p:cNvSpPr/>
          <p:nvPr/>
        </p:nvSpPr>
        <p:spPr>
          <a:xfrm>
            <a:off x="6016752" y="5111496"/>
            <a:ext cx="2354580" cy="562356"/>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5" name="Google Shape;535;p15"/>
          <p:cNvSpPr txBox="1"/>
          <p:nvPr/>
        </p:nvSpPr>
        <p:spPr>
          <a:xfrm>
            <a:off x="6067044" y="5157216"/>
            <a:ext cx="2295144" cy="4937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470">
                <a:solidFill>
                  <a:srgbClr val="203148"/>
                </a:solidFill>
                <a:latin typeface="Arial"/>
                <a:ea typeface="Arial"/>
                <a:cs typeface="Arial"/>
                <a:sym typeface="Arial"/>
              </a:rPr>
              <a:t>86.9%</a:t>
            </a:r>
            <a:endParaRPr/>
          </a:p>
        </p:txBody>
      </p:sp>
      <p:sp>
        <p:nvSpPr>
          <p:cNvPr id="536" name="Google Shape;536;p15"/>
          <p:cNvSpPr/>
          <p:nvPr/>
        </p:nvSpPr>
        <p:spPr>
          <a:xfrm>
            <a:off x="8394192" y="5111496"/>
            <a:ext cx="2948940" cy="562356"/>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7" name="Google Shape;537;p15"/>
          <p:cNvSpPr txBox="1"/>
          <p:nvPr/>
        </p:nvSpPr>
        <p:spPr>
          <a:xfrm>
            <a:off x="8444484" y="5157216"/>
            <a:ext cx="2889504" cy="4937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470">
                <a:solidFill>
                  <a:srgbClr val="203148"/>
                </a:solidFill>
                <a:latin typeface="Arial"/>
                <a:ea typeface="Arial"/>
                <a:cs typeface="Arial"/>
                <a:sym typeface="Arial"/>
              </a:rPr>
              <a:t>4,560 / 5,250</a:t>
            </a:r>
            <a:endParaRPr/>
          </a:p>
        </p:txBody>
      </p:sp>
      <p:sp>
        <p:nvSpPr>
          <p:cNvPr id="538" name="Google Shape;538;p15"/>
          <p:cNvSpPr/>
          <p:nvPr/>
        </p:nvSpPr>
        <p:spPr>
          <a:xfrm>
            <a:off x="658368" y="6117336"/>
            <a:ext cx="10817352" cy="420624"/>
          </a:xfrm>
          <a:prstGeom prst="roundRect">
            <a:avLst>
              <a:gd fmla="val 15000" name="adj"/>
            </a:avLst>
          </a:prstGeom>
          <a:solidFill>
            <a:srgbClr val="EDF5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9" name="Google Shape;539;p15"/>
          <p:cNvSpPr txBox="1"/>
          <p:nvPr/>
        </p:nvSpPr>
        <p:spPr>
          <a:xfrm>
            <a:off x="822960" y="6190488"/>
            <a:ext cx="10469880" cy="2651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200">
                <a:solidFill>
                  <a:srgbClr val="203148"/>
                </a:solidFill>
                <a:latin typeface="Arial"/>
                <a:ea typeface="Arial"/>
                <a:cs typeface="Arial"/>
                <a:sym typeface="Arial"/>
              </a:rPr>
              <a:t>Compare against the same 21-class test set, not directly against literature benchmarks on all 101 classes.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3" name="Shape 543"/>
        <p:cNvGrpSpPr/>
        <p:nvPr/>
      </p:nvGrpSpPr>
      <p:grpSpPr>
        <a:xfrm>
          <a:off x="0" y="0"/>
          <a:ext cx="0" cy="0"/>
          <a:chOff x="0" y="0"/>
          <a:chExt cx="0" cy="0"/>
        </a:xfrm>
      </p:grpSpPr>
      <p:sp>
        <p:nvSpPr>
          <p:cNvPr id="544" name="Google Shape;544;p16"/>
          <p:cNvSpPr/>
          <p:nvPr/>
        </p:nvSpPr>
        <p:spPr>
          <a:xfrm>
            <a:off x="566928" y="548640"/>
            <a:ext cx="1051560" cy="41148"/>
          </a:xfrm>
          <a:prstGeom prst="rect">
            <a:avLst/>
          </a:prstGeom>
          <a:solidFill>
            <a:srgbClr val="0DAE9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5" name="Google Shape;545;p16"/>
          <p:cNvSpPr txBox="1"/>
          <p:nvPr/>
        </p:nvSpPr>
        <p:spPr>
          <a:xfrm>
            <a:off x="566928" y="274320"/>
            <a:ext cx="10058400" cy="21945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00">
                <a:solidFill>
                  <a:srgbClr val="0DAE9A"/>
                </a:solidFill>
                <a:latin typeface="Arial"/>
                <a:ea typeface="Arial"/>
                <a:cs typeface="Arial"/>
                <a:sym typeface="Arial"/>
              </a:rPr>
              <a:t>FOOD-101 · EXPERIMENT</a:t>
            </a:r>
            <a:endParaRPr/>
          </a:p>
        </p:txBody>
      </p:sp>
      <p:sp>
        <p:nvSpPr>
          <p:cNvPr id="546" name="Google Shape;546;p16"/>
          <p:cNvSpPr txBox="1"/>
          <p:nvPr/>
        </p:nvSpPr>
        <p:spPr>
          <a:xfrm>
            <a:off x="566928" y="694944"/>
            <a:ext cx="10972800" cy="5669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2700">
                <a:solidFill>
                  <a:srgbClr val="101A2B"/>
                </a:solidFill>
                <a:latin typeface="Arial"/>
                <a:ea typeface="Arial"/>
                <a:cs typeface="Arial"/>
                <a:sym typeface="Arial"/>
              </a:rPr>
              <a:t>Per-class gain: which categories benefited most?</a:t>
            </a:r>
            <a:endParaRPr/>
          </a:p>
        </p:txBody>
      </p:sp>
      <p:sp>
        <p:nvSpPr>
          <p:cNvPr id="547" name="Google Shape;547;p16"/>
          <p:cNvSpPr txBox="1"/>
          <p:nvPr/>
        </p:nvSpPr>
        <p:spPr>
          <a:xfrm>
            <a:off x="11018520" y="6492240"/>
            <a:ext cx="594360" cy="18288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00">
                <a:solidFill>
                  <a:srgbClr val="718198"/>
                </a:solidFill>
                <a:latin typeface="Arial"/>
                <a:ea typeface="Arial"/>
                <a:cs typeface="Arial"/>
                <a:sym typeface="Arial"/>
              </a:rPr>
              <a:t>14</a:t>
            </a:r>
            <a:endParaRPr/>
          </a:p>
        </p:txBody>
      </p:sp>
      <p:pic>
        <p:nvPicPr>
          <p:cNvPr descr="_class_gains.png" id="548" name="Google Shape;548;p16"/>
          <p:cNvPicPr preferRelativeResize="0"/>
          <p:nvPr/>
        </p:nvPicPr>
        <p:blipFill rotWithShape="1">
          <a:blip r:embed="rId3">
            <a:alphaModFix/>
          </a:blip>
          <a:srcRect b="0" l="0" r="0" t="0"/>
          <a:stretch/>
        </p:blipFill>
        <p:spPr>
          <a:xfrm>
            <a:off x="722376" y="1735073"/>
            <a:ext cx="7525512" cy="3762756"/>
          </a:xfrm>
          <a:prstGeom prst="rect">
            <a:avLst/>
          </a:prstGeom>
          <a:noFill/>
          <a:ln>
            <a:noFill/>
          </a:ln>
        </p:spPr>
      </p:pic>
      <p:sp>
        <p:nvSpPr>
          <p:cNvPr id="549" name="Google Shape;549;p16"/>
          <p:cNvSpPr txBox="1"/>
          <p:nvPr/>
        </p:nvSpPr>
        <p:spPr>
          <a:xfrm>
            <a:off x="8394192" y="1600200"/>
            <a:ext cx="3108960" cy="32918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600">
                <a:solidFill>
                  <a:srgbClr val="101A2B"/>
                </a:solidFill>
                <a:latin typeface="Arial"/>
                <a:ea typeface="Arial"/>
                <a:cs typeface="Arial"/>
                <a:sym typeface="Arial"/>
              </a:rPr>
              <a:t>Largest gains</a:t>
            </a:r>
            <a:endParaRPr/>
          </a:p>
        </p:txBody>
      </p:sp>
      <p:sp>
        <p:nvSpPr>
          <p:cNvPr id="550" name="Google Shape;550;p16"/>
          <p:cNvSpPr txBox="1"/>
          <p:nvPr/>
        </p:nvSpPr>
        <p:spPr>
          <a:xfrm>
            <a:off x="8412480" y="2048256"/>
            <a:ext cx="2834640" cy="2743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400">
                <a:solidFill>
                  <a:srgbClr val="101A2B"/>
                </a:solidFill>
                <a:latin typeface="Arial"/>
                <a:ea typeface="Arial"/>
                <a:cs typeface="Arial"/>
                <a:sym typeface="Arial"/>
              </a:rPr>
              <a:t>apple pie</a:t>
            </a:r>
            <a:endParaRPr/>
          </a:p>
        </p:txBody>
      </p:sp>
      <p:sp>
        <p:nvSpPr>
          <p:cNvPr id="551" name="Google Shape;551;p16"/>
          <p:cNvSpPr txBox="1"/>
          <p:nvPr/>
        </p:nvSpPr>
        <p:spPr>
          <a:xfrm>
            <a:off x="8412480" y="2340864"/>
            <a:ext cx="2834640" cy="2743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00">
                <a:solidFill>
                  <a:srgbClr val="0DAE9A"/>
                </a:solidFill>
                <a:latin typeface="Arial"/>
                <a:ea typeface="Arial"/>
                <a:cs typeface="Arial"/>
                <a:sym typeface="Arial"/>
              </a:rPr>
              <a:t>+68.8 percentage points</a:t>
            </a:r>
            <a:endParaRPr/>
          </a:p>
        </p:txBody>
      </p:sp>
      <p:sp>
        <p:nvSpPr>
          <p:cNvPr id="552" name="Google Shape;552;p16"/>
          <p:cNvSpPr txBox="1"/>
          <p:nvPr/>
        </p:nvSpPr>
        <p:spPr>
          <a:xfrm>
            <a:off x="8412480" y="2788920"/>
            <a:ext cx="2834640" cy="2743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400">
                <a:solidFill>
                  <a:srgbClr val="101A2B"/>
                </a:solidFill>
                <a:latin typeface="Arial"/>
                <a:ea typeface="Arial"/>
                <a:cs typeface="Arial"/>
                <a:sym typeface="Arial"/>
              </a:rPr>
              <a:t>bruschetta</a:t>
            </a:r>
            <a:endParaRPr/>
          </a:p>
        </p:txBody>
      </p:sp>
      <p:sp>
        <p:nvSpPr>
          <p:cNvPr id="553" name="Google Shape;553;p16"/>
          <p:cNvSpPr txBox="1"/>
          <p:nvPr/>
        </p:nvSpPr>
        <p:spPr>
          <a:xfrm>
            <a:off x="8412480" y="3081528"/>
            <a:ext cx="2834640" cy="2743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00">
                <a:solidFill>
                  <a:srgbClr val="0DAE9A"/>
                </a:solidFill>
                <a:latin typeface="Arial"/>
                <a:ea typeface="Arial"/>
                <a:cs typeface="Arial"/>
                <a:sym typeface="Arial"/>
              </a:rPr>
              <a:t>+42.8 percentage points</a:t>
            </a:r>
            <a:endParaRPr/>
          </a:p>
        </p:txBody>
      </p:sp>
      <p:sp>
        <p:nvSpPr>
          <p:cNvPr id="554" name="Google Shape;554;p16"/>
          <p:cNvSpPr txBox="1"/>
          <p:nvPr/>
        </p:nvSpPr>
        <p:spPr>
          <a:xfrm>
            <a:off x="8412480" y="3529584"/>
            <a:ext cx="2834640" cy="2743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400">
                <a:solidFill>
                  <a:srgbClr val="101A2B"/>
                </a:solidFill>
                <a:latin typeface="Arial"/>
                <a:ea typeface="Arial"/>
                <a:cs typeface="Arial"/>
                <a:sym typeface="Arial"/>
              </a:rPr>
              <a:t>cannoli</a:t>
            </a:r>
            <a:endParaRPr/>
          </a:p>
        </p:txBody>
      </p:sp>
      <p:sp>
        <p:nvSpPr>
          <p:cNvPr id="555" name="Google Shape;555;p16"/>
          <p:cNvSpPr txBox="1"/>
          <p:nvPr/>
        </p:nvSpPr>
        <p:spPr>
          <a:xfrm>
            <a:off x="8412480" y="3822191"/>
            <a:ext cx="2834640" cy="2743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00">
                <a:solidFill>
                  <a:srgbClr val="0DAE9A"/>
                </a:solidFill>
                <a:latin typeface="Arial"/>
                <a:ea typeface="Arial"/>
                <a:cs typeface="Arial"/>
                <a:sym typeface="Arial"/>
              </a:rPr>
              <a:t>+39.2 percentage points</a:t>
            </a:r>
            <a:endParaRPr/>
          </a:p>
        </p:txBody>
      </p:sp>
      <p:sp>
        <p:nvSpPr>
          <p:cNvPr id="556" name="Google Shape;556;p16"/>
          <p:cNvSpPr txBox="1"/>
          <p:nvPr/>
        </p:nvSpPr>
        <p:spPr>
          <a:xfrm>
            <a:off x="8412480" y="4270248"/>
            <a:ext cx="2834640" cy="2743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400">
                <a:solidFill>
                  <a:srgbClr val="101A2B"/>
                </a:solidFill>
                <a:latin typeface="Arial"/>
                <a:ea typeface="Arial"/>
                <a:cs typeface="Arial"/>
                <a:sym typeface="Arial"/>
              </a:rPr>
              <a:t>bread pudding</a:t>
            </a:r>
            <a:endParaRPr/>
          </a:p>
        </p:txBody>
      </p:sp>
      <p:sp>
        <p:nvSpPr>
          <p:cNvPr id="557" name="Google Shape;557;p16"/>
          <p:cNvSpPr txBox="1"/>
          <p:nvPr/>
        </p:nvSpPr>
        <p:spPr>
          <a:xfrm>
            <a:off x="8412480" y="4562856"/>
            <a:ext cx="2834640" cy="2743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00">
                <a:solidFill>
                  <a:srgbClr val="0DAE9A"/>
                </a:solidFill>
                <a:latin typeface="Arial"/>
                <a:ea typeface="Arial"/>
                <a:cs typeface="Arial"/>
                <a:sym typeface="Arial"/>
              </a:rPr>
              <a:t>+37.6 percentage points</a:t>
            </a:r>
            <a:endParaRPr/>
          </a:p>
        </p:txBody>
      </p:sp>
      <p:sp>
        <p:nvSpPr>
          <p:cNvPr id="558" name="Google Shape;558;p16"/>
          <p:cNvSpPr/>
          <p:nvPr/>
        </p:nvSpPr>
        <p:spPr>
          <a:xfrm>
            <a:off x="658368" y="6117336"/>
            <a:ext cx="10817352" cy="420624"/>
          </a:xfrm>
          <a:prstGeom prst="roundRect">
            <a:avLst>
              <a:gd fmla="val 15000" name="adj"/>
            </a:avLst>
          </a:prstGeom>
          <a:solidFill>
            <a:srgbClr val="EDF5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9" name="Google Shape;559;p16"/>
          <p:cNvSpPr txBox="1"/>
          <p:nvPr/>
        </p:nvSpPr>
        <p:spPr>
          <a:xfrm>
            <a:off x="822960" y="6190488"/>
            <a:ext cx="10469880" cy="2651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200">
                <a:solidFill>
                  <a:srgbClr val="203148"/>
                </a:solidFill>
                <a:latin typeface="Arial"/>
                <a:ea typeface="Arial"/>
                <a:cs typeface="Arial"/>
                <a:sym typeface="Arial"/>
              </a:rPr>
              <a:t>Gain = ResNet test accuracy − scratch CNN test accuracy, calculated from both 21-class CSV files.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3" name="Shape 563"/>
        <p:cNvGrpSpPr/>
        <p:nvPr/>
      </p:nvGrpSpPr>
      <p:grpSpPr>
        <a:xfrm>
          <a:off x="0" y="0"/>
          <a:ext cx="0" cy="0"/>
          <a:chOff x="0" y="0"/>
          <a:chExt cx="0" cy="0"/>
        </a:xfrm>
      </p:grpSpPr>
      <p:sp>
        <p:nvSpPr>
          <p:cNvPr id="564" name="Google Shape;564;p17"/>
          <p:cNvSpPr/>
          <p:nvPr/>
        </p:nvSpPr>
        <p:spPr>
          <a:xfrm>
            <a:off x="566928" y="548640"/>
            <a:ext cx="1051560" cy="41148"/>
          </a:xfrm>
          <a:prstGeom prst="rect">
            <a:avLst/>
          </a:prstGeom>
          <a:solidFill>
            <a:srgbClr val="0DAE9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5" name="Google Shape;565;p17"/>
          <p:cNvSpPr txBox="1"/>
          <p:nvPr/>
        </p:nvSpPr>
        <p:spPr>
          <a:xfrm>
            <a:off x="566928" y="274320"/>
            <a:ext cx="10058400" cy="21945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00">
                <a:solidFill>
                  <a:srgbClr val="0DAE9A"/>
                </a:solidFill>
                <a:latin typeface="Arial"/>
                <a:ea typeface="Arial"/>
                <a:cs typeface="Arial"/>
                <a:sym typeface="Arial"/>
              </a:rPr>
              <a:t>FOOD-101 · EXPERIMENT</a:t>
            </a:r>
            <a:endParaRPr/>
          </a:p>
        </p:txBody>
      </p:sp>
      <p:sp>
        <p:nvSpPr>
          <p:cNvPr id="566" name="Google Shape;566;p17"/>
          <p:cNvSpPr txBox="1"/>
          <p:nvPr/>
        </p:nvSpPr>
        <p:spPr>
          <a:xfrm>
            <a:off x="566928" y="694944"/>
            <a:ext cx="10972800" cy="5669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2700">
                <a:solidFill>
                  <a:srgbClr val="101A2B"/>
                </a:solidFill>
                <a:latin typeface="Arial"/>
                <a:ea typeface="Arial"/>
                <a:cs typeface="Arial"/>
                <a:sym typeface="Arial"/>
              </a:rPr>
              <a:t>Error analysis: both models confuse look-alike foods</a:t>
            </a:r>
            <a:endParaRPr/>
          </a:p>
        </p:txBody>
      </p:sp>
      <p:sp>
        <p:nvSpPr>
          <p:cNvPr id="567" name="Google Shape;567;p17"/>
          <p:cNvSpPr txBox="1"/>
          <p:nvPr/>
        </p:nvSpPr>
        <p:spPr>
          <a:xfrm>
            <a:off x="11018520" y="6492240"/>
            <a:ext cx="594360" cy="18288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00">
                <a:solidFill>
                  <a:srgbClr val="718198"/>
                </a:solidFill>
                <a:latin typeface="Arial"/>
                <a:ea typeface="Arial"/>
                <a:cs typeface="Arial"/>
                <a:sym typeface="Arial"/>
              </a:rPr>
              <a:t>15</a:t>
            </a:r>
            <a:endParaRPr/>
          </a:p>
        </p:txBody>
      </p:sp>
      <p:sp>
        <p:nvSpPr>
          <p:cNvPr id="568" name="Google Shape;568;p17"/>
          <p:cNvSpPr txBox="1"/>
          <p:nvPr/>
        </p:nvSpPr>
        <p:spPr>
          <a:xfrm>
            <a:off x="713232" y="1353312"/>
            <a:ext cx="5266944" cy="32918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600">
                <a:solidFill>
                  <a:srgbClr val="101A2B"/>
                </a:solidFill>
                <a:latin typeface="Arial"/>
                <a:ea typeface="Arial"/>
                <a:cs typeface="Arial"/>
                <a:sym typeface="Arial"/>
              </a:rPr>
              <a:t>Scratch CNN · 62.7% test</a:t>
            </a:r>
            <a:endParaRPr/>
          </a:p>
        </p:txBody>
      </p:sp>
      <p:sp>
        <p:nvSpPr>
          <p:cNvPr id="569" name="Google Shape;569;p17"/>
          <p:cNvSpPr txBox="1"/>
          <p:nvPr/>
        </p:nvSpPr>
        <p:spPr>
          <a:xfrm>
            <a:off x="6345936" y="1353312"/>
            <a:ext cx="5193792" cy="32918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600">
                <a:solidFill>
                  <a:srgbClr val="101A2B"/>
                </a:solidFill>
                <a:latin typeface="Arial"/>
                <a:ea typeface="Arial"/>
                <a:cs typeface="Arial"/>
                <a:sym typeface="Arial"/>
              </a:rPr>
              <a:t>ResNet-50 · 86.9% test</a:t>
            </a:r>
            <a:endParaRPr/>
          </a:p>
        </p:txBody>
      </p:sp>
      <p:pic>
        <p:nvPicPr>
          <p:cNvPr descr="_mistakes_scratch_cnn_select0.png" id="570" name="Google Shape;570;p17"/>
          <p:cNvPicPr preferRelativeResize="0"/>
          <p:nvPr/>
        </p:nvPicPr>
        <p:blipFill rotWithShape="1">
          <a:blip r:embed="rId3">
            <a:alphaModFix/>
          </a:blip>
          <a:srcRect b="0" l="0" r="0" t="0"/>
          <a:stretch/>
        </p:blipFill>
        <p:spPr>
          <a:xfrm>
            <a:off x="768096" y="2043468"/>
            <a:ext cx="2514600" cy="2478455"/>
          </a:xfrm>
          <a:prstGeom prst="rect">
            <a:avLst/>
          </a:prstGeom>
          <a:noFill/>
          <a:ln>
            <a:noFill/>
          </a:ln>
        </p:spPr>
      </p:pic>
      <p:pic>
        <p:nvPicPr>
          <p:cNvPr descr="_mistakes_resnet50_select0.png" id="571" name="Google Shape;571;p17"/>
          <p:cNvPicPr preferRelativeResize="0"/>
          <p:nvPr/>
        </p:nvPicPr>
        <p:blipFill rotWithShape="1">
          <a:blip r:embed="rId4">
            <a:alphaModFix/>
          </a:blip>
          <a:srcRect b="0" l="0" r="0" t="0"/>
          <a:stretch/>
        </p:blipFill>
        <p:spPr>
          <a:xfrm>
            <a:off x="6355080" y="2046007"/>
            <a:ext cx="2514600" cy="2473377"/>
          </a:xfrm>
          <a:prstGeom prst="rect">
            <a:avLst/>
          </a:prstGeom>
          <a:noFill/>
          <a:ln>
            <a:noFill/>
          </a:ln>
        </p:spPr>
      </p:pic>
      <p:pic>
        <p:nvPicPr>
          <p:cNvPr descr="_mistakes_scratch_cnn_select1.png" id="572" name="Google Shape;572;p17"/>
          <p:cNvPicPr preferRelativeResize="0"/>
          <p:nvPr/>
        </p:nvPicPr>
        <p:blipFill rotWithShape="1">
          <a:blip r:embed="rId5">
            <a:alphaModFix/>
          </a:blip>
          <a:srcRect b="0" l="0" r="0" t="0"/>
          <a:stretch/>
        </p:blipFill>
        <p:spPr>
          <a:xfrm>
            <a:off x="3392424" y="2046007"/>
            <a:ext cx="2514600" cy="2473377"/>
          </a:xfrm>
          <a:prstGeom prst="rect">
            <a:avLst/>
          </a:prstGeom>
          <a:noFill/>
          <a:ln>
            <a:noFill/>
          </a:ln>
        </p:spPr>
      </p:pic>
      <p:pic>
        <p:nvPicPr>
          <p:cNvPr descr="_mistakes_resnet50_select1.png" id="573" name="Google Shape;573;p17"/>
          <p:cNvPicPr preferRelativeResize="0"/>
          <p:nvPr/>
        </p:nvPicPr>
        <p:blipFill rotWithShape="1">
          <a:blip r:embed="rId6">
            <a:alphaModFix/>
          </a:blip>
          <a:srcRect b="0" l="0" r="0" t="0"/>
          <a:stretch/>
        </p:blipFill>
        <p:spPr>
          <a:xfrm>
            <a:off x="8979408" y="2043468"/>
            <a:ext cx="2514600" cy="2478455"/>
          </a:xfrm>
          <a:prstGeom prst="rect">
            <a:avLst/>
          </a:prstGeom>
          <a:noFill/>
          <a:ln>
            <a:noFill/>
          </a:ln>
        </p:spPr>
      </p:pic>
      <p:sp>
        <p:nvSpPr>
          <p:cNvPr id="574" name="Google Shape;574;p17"/>
          <p:cNvSpPr txBox="1"/>
          <p:nvPr/>
        </p:nvSpPr>
        <p:spPr>
          <a:xfrm>
            <a:off x="758952" y="4919472"/>
            <a:ext cx="5303520" cy="82296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00">
                <a:solidFill>
                  <a:srgbClr val="203148"/>
                </a:solidFill>
                <a:latin typeface="Arial"/>
                <a:ea typeface="Arial"/>
                <a:cs typeface="Arial"/>
                <a:sym typeface="Arial"/>
              </a:rPr>
              <a:t>Scratch: breakfast burrito → quesadilla 29.6%; bruschetta → caprese salad 18.0%.</a:t>
            </a:r>
            <a:endParaRPr/>
          </a:p>
        </p:txBody>
      </p:sp>
      <p:sp>
        <p:nvSpPr>
          <p:cNvPr id="575" name="Google Shape;575;p17"/>
          <p:cNvSpPr txBox="1"/>
          <p:nvPr/>
        </p:nvSpPr>
        <p:spPr>
          <a:xfrm>
            <a:off x="6336792" y="4919472"/>
            <a:ext cx="5257800" cy="82296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00">
                <a:solidFill>
                  <a:srgbClr val="203148"/>
                </a:solidFill>
                <a:latin typeface="Arial"/>
                <a:ea typeface="Arial"/>
                <a:cs typeface="Arial"/>
                <a:sym typeface="Arial"/>
              </a:rPr>
              <a:t>ResNet: breakfast burrito → quesadilla 21.6%; apple pie → bread pudding 11.6%.</a:t>
            </a:r>
            <a:endParaRPr/>
          </a:p>
        </p:txBody>
      </p:sp>
      <p:sp>
        <p:nvSpPr>
          <p:cNvPr id="576" name="Google Shape;576;p17"/>
          <p:cNvSpPr/>
          <p:nvPr/>
        </p:nvSpPr>
        <p:spPr>
          <a:xfrm>
            <a:off x="658368" y="6117336"/>
            <a:ext cx="10817352" cy="420624"/>
          </a:xfrm>
          <a:prstGeom prst="roundRect">
            <a:avLst>
              <a:gd fmla="val 15000" name="adj"/>
            </a:avLst>
          </a:prstGeom>
          <a:solidFill>
            <a:srgbClr val="EDF5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7" name="Google Shape;577;p17"/>
          <p:cNvSpPr txBox="1"/>
          <p:nvPr/>
        </p:nvSpPr>
        <p:spPr>
          <a:xfrm>
            <a:off x="822960" y="6190488"/>
            <a:ext cx="10469880" cy="2651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200">
                <a:solidFill>
                  <a:srgbClr val="203148"/>
                </a:solidFill>
                <a:latin typeface="Arial"/>
                <a:ea typeface="Arial"/>
                <a:cs typeface="Arial"/>
                <a:sym typeface="Arial"/>
              </a:rPr>
              <a:t>High-confidence errors are evidence of visually ambiguous features—not proof that the ground-truth labels are wrong.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1" name="Shape 581"/>
        <p:cNvGrpSpPr/>
        <p:nvPr/>
      </p:nvGrpSpPr>
      <p:grpSpPr>
        <a:xfrm>
          <a:off x="0" y="0"/>
          <a:ext cx="0" cy="0"/>
          <a:chOff x="0" y="0"/>
          <a:chExt cx="0" cy="0"/>
        </a:xfrm>
      </p:grpSpPr>
      <p:sp>
        <p:nvSpPr>
          <p:cNvPr id="582" name="Google Shape;582;p18"/>
          <p:cNvSpPr/>
          <p:nvPr/>
        </p:nvSpPr>
        <p:spPr>
          <a:xfrm>
            <a:off x="566928" y="548640"/>
            <a:ext cx="1051560" cy="41148"/>
          </a:xfrm>
          <a:prstGeom prst="rect">
            <a:avLst/>
          </a:prstGeom>
          <a:solidFill>
            <a:srgbClr val="0DAE9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3" name="Google Shape;583;p18"/>
          <p:cNvSpPr txBox="1"/>
          <p:nvPr/>
        </p:nvSpPr>
        <p:spPr>
          <a:xfrm>
            <a:off x="566928" y="274320"/>
            <a:ext cx="10058400" cy="21945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00">
                <a:solidFill>
                  <a:srgbClr val="0DAE9A"/>
                </a:solidFill>
                <a:latin typeface="Arial"/>
                <a:ea typeface="Arial"/>
                <a:cs typeface="Arial"/>
                <a:sym typeface="Arial"/>
              </a:rPr>
              <a:t>FOOD-101 · EXPERIMENT</a:t>
            </a:r>
            <a:endParaRPr/>
          </a:p>
        </p:txBody>
      </p:sp>
      <p:sp>
        <p:nvSpPr>
          <p:cNvPr id="584" name="Google Shape;584;p18"/>
          <p:cNvSpPr txBox="1"/>
          <p:nvPr/>
        </p:nvSpPr>
        <p:spPr>
          <a:xfrm>
            <a:off x="566928" y="694944"/>
            <a:ext cx="10972800" cy="5669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2700">
                <a:solidFill>
                  <a:srgbClr val="101A2B"/>
                </a:solidFill>
                <a:latin typeface="Arial"/>
                <a:ea typeface="Arial"/>
                <a:cs typeface="Arial"/>
                <a:sym typeface="Arial"/>
              </a:rPr>
              <a:t>Conclusions and discussion</a:t>
            </a:r>
            <a:endParaRPr/>
          </a:p>
        </p:txBody>
      </p:sp>
      <p:sp>
        <p:nvSpPr>
          <p:cNvPr id="585" name="Google Shape;585;p18"/>
          <p:cNvSpPr txBox="1"/>
          <p:nvPr/>
        </p:nvSpPr>
        <p:spPr>
          <a:xfrm>
            <a:off x="11018520" y="6492240"/>
            <a:ext cx="594360" cy="18288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00">
                <a:solidFill>
                  <a:srgbClr val="718198"/>
                </a:solidFill>
                <a:latin typeface="Arial"/>
                <a:ea typeface="Arial"/>
                <a:cs typeface="Arial"/>
                <a:sym typeface="Arial"/>
              </a:rPr>
              <a:t>16</a:t>
            </a:r>
            <a:endParaRPr/>
          </a:p>
        </p:txBody>
      </p:sp>
      <p:sp>
        <p:nvSpPr>
          <p:cNvPr id="586" name="Google Shape;586;p18"/>
          <p:cNvSpPr/>
          <p:nvPr/>
        </p:nvSpPr>
        <p:spPr>
          <a:xfrm>
            <a:off x="722376" y="1508760"/>
            <a:ext cx="3364992" cy="1051560"/>
          </a:xfrm>
          <a:prstGeom prst="roundRect">
            <a:avLst>
              <a:gd fmla="val 18000" name="adj"/>
            </a:avLst>
          </a:prstGeom>
          <a:solidFill>
            <a:srgbClr val="EDF5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7" name="Google Shape;587;p18"/>
          <p:cNvSpPr txBox="1"/>
          <p:nvPr/>
        </p:nvSpPr>
        <p:spPr>
          <a:xfrm>
            <a:off x="868680" y="1636776"/>
            <a:ext cx="3072384" cy="2103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100">
                <a:solidFill>
                  <a:srgbClr val="718198"/>
                </a:solidFill>
                <a:latin typeface="Arial"/>
                <a:ea typeface="Arial"/>
                <a:cs typeface="Arial"/>
                <a:sym typeface="Arial"/>
              </a:rPr>
              <a:t>SCRATCH CNN TEST</a:t>
            </a:r>
            <a:endParaRPr/>
          </a:p>
        </p:txBody>
      </p:sp>
      <p:sp>
        <p:nvSpPr>
          <p:cNvPr id="588" name="Google Shape;588;p18"/>
          <p:cNvSpPr txBox="1"/>
          <p:nvPr/>
        </p:nvSpPr>
        <p:spPr>
          <a:xfrm>
            <a:off x="868680" y="1920240"/>
            <a:ext cx="3072384" cy="48463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2700">
                <a:solidFill>
                  <a:srgbClr val="2B78E4"/>
                </a:solidFill>
                <a:latin typeface="Arial"/>
                <a:ea typeface="Arial"/>
                <a:cs typeface="Arial"/>
                <a:sym typeface="Arial"/>
              </a:rPr>
              <a:t>62.7%</a:t>
            </a:r>
            <a:endParaRPr/>
          </a:p>
        </p:txBody>
      </p:sp>
      <p:sp>
        <p:nvSpPr>
          <p:cNvPr id="589" name="Google Shape;589;p18"/>
          <p:cNvSpPr/>
          <p:nvPr/>
        </p:nvSpPr>
        <p:spPr>
          <a:xfrm>
            <a:off x="4416552" y="1508760"/>
            <a:ext cx="3364992" cy="1051560"/>
          </a:xfrm>
          <a:prstGeom prst="roundRect">
            <a:avLst>
              <a:gd fmla="val 18000" name="adj"/>
            </a:avLst>
          </a:prstGeom>
          <a:solidFill>
            <a:srgbClr val="EDF5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0" name="Google Shape;590;p18"/>
          <p:cNvSpPr txBox="1"/>
          <p:nvPr/>
        </p:nvSpPr>
        <p:spPr>
          <a:xfrm>
            <a:off x="4562856" y="1636776"/>
            <a:ext cx="3072384" cy="2103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100">
                <a:solidFill>
                  <a:srgbClr val="718198"/>
                </a:solidFill>
                <a:latin typeface="Arial"/>
                <a:ea typeface="Arial"/>
                <a:cs typeface="Arial"/>
                <a:sym typeface="Arial"/>
              </a:rPr>
              <a:t>RESNET-50 TEST</a:t>
            </a:r>
            <a:endParaRPr/>
          </a:p>
        </p:txBody>
      </p:sp>
      <p:sp>
        <p:nvSpPr>
          <p:cNvPr id="591" name="Google Shape;591;p18"/>
          <p:cNvSpPr txBox="1"/>
          <p:nvPr/>
        </p:nvSpPr>
        <p:spPr>
          <a:xfrm>
            <a:off x="4562856" y="1920240"/>
            <a:ext cx="3072384" cy="48463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2700">
                <a:solidFill>
                  <a:srgbClr val="0DAE9A"/>
                </a:solidFill>
                <a:latin typeface="Arial"/>
                <a:ea typeface="Arial"/>
                <a:cs typeface="Arial"/>
                <a:sym typeface="Arial"/>
              </a:rPr>
              <a:t>86.9%</a:t>
            </a:r>
            <a:endParaRPr/>
          </a:p>
        </p:txBody>
      </p:sp>
      <p:sp>
        <p:nvSpPr>
          <p:cNvPr id="592" name="Google Shape;592;p18"/>
          <p:cNvSpPr/>
          <p:nvPr/>
        </p:nvSpPr>
        <p:spPr>
          <a:xfrm>
            <a:off x="8110727" y="1508760"/>
            <a:ext cx="3364992" cy="1051560"/>
          </a:xfrm>
          <a:prstGeom prst="roundRect">
            <a:avLst>
              <a:gd fmla="val 18000" name="adj"/>
            </a:avLst>
          </a:prstGeom>
          <a:solidFill>
            <a:srgbClr val="EDF5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3" name="Google Shape;593;p18"/>
          <p:cNvSpPr txBox="1"/>
          <p:nvPr/>
        </p:nvSpPr>
        <p:spPr>
          <a:xfrm>
            <a:off x="8257031" y="1636776"/>
            <a:ext cx="3072384" cy="2103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100">
                <a:solidFill>
                  <a:srgbClr val="718198"/>
                </a:solidFill>
                <a:latin typeface="Arial"/>
                <a:ea typeface="Arial"/>
                <a:cs typeface="Arial"/>
                <a:sym typeface="Arial"/>
              </a:rPr>
              <a:t>ADVANTAGE</a:t>
            </a:r>
            <a:endParaRPr/>
          </a:p>
        </p:txBody>
      </p:sp>
      <p:sp>
        <p:nvSpPr>
          <p:cNvPr id="594" name="Google Shape;594;p18"/>
          <p:cNvSpPr txBox="1"/>
          <p:nvPr/>
        </p:nvSpPr>
        <p:spPr>
          <a:xfrm>
            <a:off x="8257031" y="1920240"/>
            <a:ext cx="3072384" cy="48463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2700">
                <a:solidFill>
                  <a:srgbClr val="0DAE9A"/>
                </a:solidFill>
                <a:latin typeface="Arial"/>
                <a:ea typeface="Arial"/>
                <a:cs typeface="Arial"/>
                <a:sym typeface="Arial"/>
              </a:rPr>
              <a:t>+24.2 pp</a:t>
            </a:r>
            <a:endParaRPr/>
          </a:p>
        </p:txBody>
      </p:sp>
      <p:sp>
        <p:nvSpPr>
          <p:cNvPr id="595" name="Google Shape;595;p18"/>
          <p:cNvSpPr/>
          <p:nvPr/>
        </p:nvSpPr>
        <p:spPr>
          <a:xfrm>
            <a:off x="768096" y="2971800"/>
            <a:ext cx="10661904" cy="841248"/>
          </a:xfrm>
          <a:prstGeom prst="roundRect">
            <a:avLst>
              <a:gd fmla="val 13000" name="adj"/>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6" name="Google Shape;596;p18"/>
          <p:cNvSpPr txBox="1"/>
          <p:nvPr/>
        </p:nvSpPr>
        <p:spPr>
          <a:xfrm>
            <a:off x="960120" y="3072384"/>
            <a:ext cx="1965960" cy="2743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400">
                <a:solidFill>
                  <a:srgbClr val="0DAE9A"/>
                </a:solidFill>
                <a:latin typeface="Arial"/>
                <a:ea typeface="Arial"/>
                <a:cs typeface="Arial"/>
                <a:sym typeface="Arial"/>
              </a:rPr>
              <a:t>Why the gap?</a:t>
            </a:r>
            <a:endParaRPr/>
          </a:p>
        </p:txBody>
      </p:sp>
      <p:sp>
        <p:nvSpPr>
          <p:cNvPr id="597" name="Google Shape;597;p18"/>
          <p:cNvSpPr txBox="1"/>
          <p:nvPr/>
        </p:nvSpPr>
        <p:spPr>
          <a:xfrm>
            <a:off x="2880360" y="3063240"/>
            <a:ext cx="8275320" cy="63093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00">
                <a:solidFill>
                  <a:srgbClr val="203148"/>
                </a:solidFill>
                <a:latin typeface="Arial"/>
                <a:ea typeface="Arial"/>
                <a:cs typeface="Arial"/>
                <a:sym typeface="Arial"/>
              </a:rPr>
              <a:t>ImageNet feature transfer delivers a strong starting point; fine-tuning layer4 improved validation by 12.6 points over head-only training.</a:t>
            </a:r>
            <a:endParaRPr/>
          </a:p>
        </p:txBody>
      </p:sp>
      <p:sp>
        <p:nvSpPr>
          <p:cNvPr id="598" name="Google Shape;598;p18"/>
          <p:cNvSpPr/>
          <p:nvPr/>
        </p:nvSpPr>
        <p:spPr>
          <a:xfrm>
            <a:off x="768096" y="3922776"/>
            <a:ext cx="10661904" cy="841248"/>
          </a:xfrm>
          <a:prstGeom prst="roundRect">
            <a:avLst>
              <a:gd fmla="val 13000" name="adj"/>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9" name="Google Shape;599;p18"/>
          <p:cNvSpPr txBox="1"/>
          <p:nvPr/>
        </p:nvSpPr>
        <p:spPr>
          <a:xfrm>
            <a:off x="960120" y="4023360"/>
            <a:ext cx="1965960" cy="2743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400">
                <a:solidFill>
                  <a:srgbClr val="0DAE9A"/>
                </a:solidFill>
                <a:latin typeface="Arial"/>
                <a:ea typeface="Arial"/>
                <a:cs typeface="Arial"/>
                <a:sym typeface="Arial"/>
              </a:rPr>
              <a:t>What did not help?</a:t>
            </a:r>
            <a:endParaRPr/>
          </a:p>
        </p:txBody>
      </p:sp>
      <p:sp>
        <p:nvSpPr>
          <p:cNvPr id="600" name="Google Shape;600;p18"/>
          <p:cNvSpPr txBox="1"/>
          <p:nvPr/>
        </p:nvSpPr>
        <p:spPr>
          <a:xfrm>
            <a:off x="2880360" y="4014215"/>
            <a:ext cx="8275320" cy="63093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00">
                <a:solidFill>
                  <a:srgbClr val="203148"/>
                </a:solidFill>
                <a:latin typeface="Arial"/>
                <a:ea typeface="Arial"/>
                <a:cs typeface="Arial"/>
                <a:sym typeface="Arial"/>
              </a:rPr>
              <a:t>Removing augmentation reduced ResNet validation to 81.5%; unfreezing layer3 provided no meaningful gain over layer4 alone.</a:t>
            </a:r>
            <a:endParaRPr/>
          </a:p>
        </p:txBody>
      </p:sp>
      <p:sp>
        <p:nvSpPr>
          <p:cNvPr id="601" name="Google Shape;601;p18"/>
          <p:cNvSpPr/>
          <p:nvPr/>
        </p:nvSpPr>
        <p:spPr>
          <a:xfrm>
            <a:off x="768096" y="4873752"/>
            <a:ext cx="10661904" cy="841248"/>
          </a:xfrm>
          <a:prstGeom prst="roundRect">
            <a:avLst>
              <a:gd fmla="val 13000" name="adj"/>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2" name="Google Shape;602;p18"/>
          <p:cNvSpPr txBox="1"/>
          <p:nvPr/>
        </p:nvSpPr>
        <p:spPr>
          <a:xfrm>
            <a:off x="960120" y="4974336"/>
            <a:ext cx="1965960" cy="2743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400">
                <a:solidFill>
                  <a:srgbClr val="0DAE9A"/>
                </a:solidFill>
                <a:latin typeface="Arial"/>
                <a:ea typeface="Arial"/>
                <a:cs typeface="Arial"/>
                <a:sym typeface="Arial"/>
              </a:rPr>
              <a:t>Limits / next steps</a:t>
            </a:r>
            <a:endParaRPr/>
          </a:p>
        </p:txBody>
      </p:sp>
      <p:sp>
        <p:nvSpPr>
          <p:cNvPr id="603" name="Google Shape;603;p18"/>
          <p:cNvSpPr txBox="1"/>
          <p:nvPr/>
        </p:nvSpPr>
        <p:spPr>
          <a:xfrm>
            <a:off x="2880360" y="4965192"/>
            <a:ext cx="8275320" cy="63093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00">
                <a:solidFill>
                  <a:srgbClr val="203148"/>
                </a:solidFill>
                <a:latin typeface="Arial"/>
                <a:ea typeface="Arial"/>
                <a:cs typeface="Arial"/>
                <a:sym typeface="Arial"/>
              </a:rPr>
              <a:t>21 classes are easier than 101; further test layer-wise learning rates, more balanced augmentation, and error-specific methods.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7" name="Shape 607"/>
        <p:cNvGrpSpPr/>
        <p:nvPr/>
      </p:nvGrpSpPr>
      <p:grpSpPr>
        <a:xfrm>
          <a:off x="0" y="0"/>
          <a:ext cx="0" cy="0"/>
          <a:chOff x="0" y="0"/>
          <a:chExt cx="0" cy="0"/>
        </a:xfrm>
      </p:grpSpPr>
      <p:sp>
        <p:nvSpPr>
          <p:cNvPr id="608" name="Google Shape;608;p19"/>
          <p:cNvSpPr/>
          <p:nvPr/>
        </p:nvSpPr>
        <p:spPr>
          <a:xfrm>
            <a:off x="566928" y="548640"/>
            <a:ext cx="1051560" cy="41148"/>
          </a:xfrm>
          <a:prstGeom prst="rect">
            <a:avLst/>
          </a:prstGeom>
          <a:solidFill>
            <a:srgbClr val="0DAE9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9" name="Google Shape;609;p19"/>
          <p:cNvSpPr txBox="1"/>
          <p:nvPr/>
        </p:nvSpPr>
        <p:spPr>
          <a:xfrm>
            <a:off x="566928" y="274320"/>
            <a:ext cx="10058400" cy="21945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00">
                <a:solidFill>
                  <a:srgbClr val="0DAE9A"/>
                </a:solidFill>
                <a:latin typeface="Arial"/>
                <a:ea typeface="Arial"/>
                <a:cs typeface="Arial"/>
                <a:sym typeface="Arial"/>
              </a:rPr>
              <a:t>APPENDIX · Q&amp;A</a:t>
            </a:r>
            <a:endParaRPr/>
          </a:p>
        </p:txBody>
      </p:sp>
      <p:sp>
        <p:nvSpPr>
          <p:cNvPr id="610" name="Google Shape;610;p19"/>
          <p:cNvSpPr txBox="1"/>
          <p:nvPr/>
        </p:nvSpPr>
        <p:spPr>
          <a:xfrm>
            <a:off x="566928" y="694944"/>
            <a:ext cx="10972800" cy="5669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2700">
                <a:solidFill>
                  <a:srgbClr val="101A2B"/>
                </a:solidFill>
                <a:latin typeface="Arial"/>
                <a:ea typeface="Arial"/>
                <a:cs typeface="Arial"/>
                <a:sym typeface="Arial"/>
              </a:rPr>
              <a:t>Backup · Scratch CNN configuration details</a:t>
            </a:r>
            <a:endParaRPr/>
          </a:p>
        </p:txBody>
      </p:sp>
      <p:sp>
        <p:nvSpPr>
          <p:cNvPr id="611" name="Google Shape;611;p19"/>
          <p:cNvSpPr txBox="1"/>
          <p:nvPr/>
        </p:nvSpPr>
        <p:spPr>
          <a:xfrm>
            <a:off x="11018520" y="6492240"/>
            <a:ext cx="594360" cy="18288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00">
                <a:solidFill>
                  <a:srgbClr val="718198"/>
                </a:solidFill>
                <a:latin typeface="Arial"/>
                <a:ea typeface="Arial"/>
                <a:cs typeface="Arial"/>
                <a:sym typeface="Arial"/>
              </a:rPr>
              <a:t>17</a:t>
            </a:r>
            <a:endParaRPr/>
          </a:p>
        </p:txBody>
      </p:sp>
      <p:sp>
        <p:nvSpPr>
          <p:cNvPr id="612" name="Google Shape;612;p19"/>
          <p:cNvSpPr/>
          <p:nvPr/>
        </p:nvSpPr>
        <p:spPr>
          <a:xfrm>
            <a:off x="658368" y="1682496"/>
            <a:ext cx="937260" cy="585216"/>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3" name="Google Shape;613;p19"/>
          <p:cNvSpPr txBox="1"/>
          <p:nvPr/>
        </p:nvSpPr>
        <p:spPr>
          <a:xfrm>
            <a:off x="722376" y="1741932"/>
            <a:ext cx="841248" cy="51206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400">
                <a:solidFill>
                  <a:srgbClr val="FFFFFF"/>
                </a:solidFill>
                <a:latin typeface="Arial"/>
                <a:ea typeface="Arial"/>
                <a:cs typeface="Arial"/>
                <a:sym typeface="Arial"/>
              </a:rPr>
              <a:t>Run</a:t>
            </a:r>
            <a:endParaRPr/>
          </a:p>
        </p:txBody>
      </p:sp>
      <p:sp>
        <p:nvSpPr>
          <p:cNvPr id="614" name="Google Shape;614;p19"/>
          <p:cNvSpPr/>
          <p:nvPr/>
        </p:nvSpPr>
        <p:spPr>
          <a:xfrm>
            <a:off x="1618488" y="1682496"/>
            <a:ext cx="1440180" cy="585216"/>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5" name="Google Shape;615;p19"/>
          <p:cNvSpPr txBox="1"/>
          <p:nvPr/>
        </p:nvSpPr>
        <p:spPr>
          <a:xfrm>
            <a:off x="1682496" y="1741932"/>
            <a:ext cx="1344168" cy="51206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400">
                <a:solidFill>
                  <a:srgbClr val="FFFFFF"/>
                </a:solidFill>
                <a:latin typeface="Arial"/>
                <a:ea typeface="Arial"/>
                <a:cs typeface="Arial"/>
                <a:sym typeface="Arial"/>
              </a:rPr>
              <a:t>Dropout</a:t>
            </a:r>
            <a:endParaRPr/>
          </a:p>
        </p:txBody>
      </p:sp>
      <p:sp>
        <p:nvSpPr>
          <p:cNvPr id="616" name="Google Shape;616;p19"/>
          <p:cNvSpPr/>
          <p:nvPr/>
        </p:nvSpPr>
        <p:spPr>
          <a:xfrm>
            <a:off x="3081528" y="1682496"/>
            <a:ext cx="1604772" cy="585216"/>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7" name="Google Shape;617;p19"/>
          <p:cNvSpPr txBox="1"/>
          <p:nvPr/>
        </p:nvSpPr>
        <p:spPr>
          <a:xfrm>
            <a:off x="3145536" y="1741932"/>
            <a:ext cx="1508760" cy="51206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400">
                <a:solidFill>
                  <a:srgbClr val="FFFFFF"/>
                </a:solidFill>
                <a:latin typeface="Arial"/>
                <a:ea typeface="Arial"/>
                <a:cs typeface="Arial"/>
                <a:sym typeface="Arial"/>
              </a:rPr>
              <a:t>Augment</a:t>
            </a:r>
            <a:endParaRPr/>
          </a:p>
        </p:txBody>
      </p:sp>
      <p:sp>
        <p:nvSpPr>
          <p:cNvPr id="618" name="Google Shape;618;p19"/>
          <p:cNvSpPr/>
          <p:nvPr/>
        </p:nvSpPr>
        <p:spPr>
          <a:xfrm>
            <a:off x="4709160" y="1682496"/>
            <a:ext cx="1458468" cy="585216"/>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9" name="Google Shape;619;p19"/>
          <p:cNvSpPr txBox="1"/>
          <p:nvPr/>
        </p:nvSpPr>
        <p:spPr>
          <a:xfrm>
            <a:off x="4773168" y="1741932"/>
            <a:ext cx="1362456" cy="51206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400">
                <a:solidFill>
                  <a:srgbClr val="FFFFFF"/>
                </a:solidFill>
                <a:latin typeface="Arial"/>
                <a:ea typeface="Arial"/>
                <a:cs typeface="Arial"/>
                <a:sym typeface="Arial"/>
              </a:rPr>
              <a:t>Train</a:t>
            </a:r>
            <a:endParaRPr/>
          </a:p>
        </p:txBody>
      </p:sp>
      <p:sp>
        <p:nvSpPr>
          <p:cNvPr id="620" name="Google Shape;620;p19"/>
          <p:cNvSpPr/>
          <p:nvPr/>
        </p:nvSpPr>
        <p:spPr>
          <a:xfrm>
            <a:off x="6190488" y="1682496"/>
            <a:ext cx="1458468" cy="585216"/>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1" name="Google Shape;621;p19"/>
          <p:cNvSpPr txBox="1"/>
          <p:nvPr/>
        </p:nvSpPr>
        <p:spPr>
          <a:xfrm>
            <a:off x="6254496" y="1741932"/>
            <a:ext cx="1362456" cy="51206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400">
                <a:solidFill>
                  <a:srgbClr val="FFFFFF"/>
                </a:solidFill>
                <a:latin typeface="Arial"/>
                <a:ea typeface="Arial"/>
                <a:cs typeface="Arial"/>
                <a:sym typeface="Arial"/>
              </a:rPr>
              <a:t>Val</a:t>
            </a:r>
            <a:endParaRPr/>
          </a:p>
        </p:txBody>
      </p:sp>
      <p:sp>
        <p:nvSpPr>
          <p:cNvPr id="622" name="Google Shape;622;p19"/>
          <p:cNvSpPr/>
          <p:nvPr/>
        </p:nvSpPr>
        <p:spPr>
          <a:xfrm>
            <a:off x="7671816" y="1682496"/>
            <a:ext cx="1458468" cy="585216"/>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3" name="Google Shape;623;p19"/>
          <p:cNvSpPr txBox="1"/>
          <p:nvPr/>
        </p:nvSpPr>
        <p:spPr>
          <a:xfrm>
            <a:off x="7735824" y="1741932"/>
            <a:ext cx="1362456" cy="51206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400">
                <a:solidFill>
                  <a:srgbClr val="FFFFFF"/>
                </a:solidFill>
                <a:latin typeface="Arial"/>
                <a:ea typeface="Arial"/>
                <a:cs typeface="Arial"/>
                <a:sym typeface="Arial"/>
              </a:rPr>
              <a:t>Gap</a:t>
            </a:r>
            <a:endParaRPr/>
          </a:p>
        </p:txBody>
      </p:sp>
      <p:sp>
        <p:nvSpPr>
          <p:cNvPr id="624" name="Google Shape;624;p19"/>
          <p:cNvSpPr/>
          <p:nvPr/>
        </p:nvSpPr>
        <p:spPr>
          <a:xfrm>
            <a:off x="9153144" y="1682496"/>
            <a:ext cx="2034540" cy="585216"/>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5" name="Google Shape;625;p19"/>
          <p:cNvSpPr txBox="1"/>
          <p:nvPr/>
        </p:nvSpPr>
        <p:spPr>
          <a:xfrm>
            <a:off x="9217152" y="1741932"/>
            <a:ext cx="1938528" cy="512064"/>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400">
                <a:solidFill>
                  <a:srgbClr val="FFFFFF"/>
                </a:solidFill>
                <a:latin typeface="Arial"/>
                <a:ea typeface="Arial"/>
                <a:cs typeface="Arial"/>
                <a:sym typeface="Arial"/>
              </a:rPr>
              <a:t>Best epoch</a:t>
            </a:r>
            <a:endParaRPr/>
          </a:p>
        </p:txBody>
      </p:sp>
      <p:sp>
        <p:nvSpPr>
          <p:cNvPr id="626" name="Google Shape;626;p19"/>
          <p:cNvSpPr/>
          <p:nvPr/>
        </p:nvSpPr>
        <p:spPr>
          <a:xfrm>
            <a:off x="658368" y="2267712"/>
            <a:ext cx="937260" cy="571500"/>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7" name="Google Shape;627;p19"/>
          <p:cNvSpPr txBox="1"/>
          <p:nvPr/>
        </p:nvSpPr>
        <p:spPr>
          <a:xfrm>
            <a:off x="708660" y="2313432"/>
            <a:ext cx="877824"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370">
                <a:solidFill>
                  <a:srgbClr val="203148"/>
                </a:solidFill>
                <a:latin typeface="Arial"/>
                <a:ea typeface="Arial"/>
                <a:cs typeface="Arial"/>
                <a:sym typeface="Arial"/>
              </a:rPr>
              <a:t>C1</a:t>
            </a:r>
            <a:endParaRPr/>
          </a:p>
        </p:txBody>
      </p:sp>
      <p:sp>
        <p:nvSpPr>
          <p:cNvPr id="628" name="Google Shape;628;p19"/>
          <p:cNvSpPr/>
          <p:nvPr/>
        </p:nvSpPr>
        <p:spPr>
          <a:xfrm>
            <a:off x="1618488" y="2267712"/>
            <a:ext cx="1440180" cy="571500"/>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9" name="Google Shape;629;p19"/>
          <p:cNvSpPr txBox="1"/>
          <p:nvPr/>
        </p:nvSpPr>
        <p:spPr>
          <a:xfrm>
            <a:off x="1668780" y="2313432"/>
            <a:ext cx="1380744"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70">
                <a:solidFill>
                  <a:srgbClr val="203148"/>
                </a:solidFill>
                <a:latin typeface="Arial"/>
                <a:ea typeface="Arial"/>
                <a:cs typeface="Arial"/>
                <a:sym typeface="Arial"/>
              </a:rPr>
              <a:t>0.5</a:t>
            </a:r>
            <a:endParaRPr/>
          </a:p>
        </p:txBody>
      </p:sp>
      <p:sp>
        <p:nvSpPr>
          <p:cNvPr id="630" name="Google Shape;630;p19"/>
          <p:cNvSpPr/>
          <p:nvPr/>
        </p:nvSpPr>
        <p:spPr>
          <a:xfrm>
            <a:off x="3081528" y="2267712"/>
            <a:ext cx="1604772" cy="571500"/>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1" name="Google Shape;631;p19"/>
          <p:cNvSpPr txBox="1"/>
          <p:nvPr/>
        </p:nvSpPr>
        <p:spPr>
          <a:xfrm>
            <a:off x="3131820" y="2313432"/>
            <a:ext cx="1545336"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70">
                <a:solidFill>
                  <a:srgbClr val="203148"/>
                </a:solidFill>
                <a:latin typeface="Arial"/>
                <a:ea typeface="Arial"/>
                <a:cs typeface="Arial"/>
                <a:sym typeface="Arial"/>
              </a:rPr>
              <a:t>Yes</a:t>
            </a:r>
            <a:endParaRPr/>
          </a:p>
        </p:txBody>
      </p:sp>
      <p:sp>
        <p:nvSpPr>
          <p:cNvPr id="632" name="Google Shape;632;p19"/>
          <p:cNvSpPr/>
          <p:nvPr/>
        </p:nvSpPr>
        <p:spPr>
          <a:xfrm>
            <a:off x="4709160" y="2267712"/>
            <a:ext cx="1458468" cy="571500"/>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3" name="Google Shape;633;p19"/>
          <p:cNvSpPr txBox="1"/>
          <p:nvPr/>
        </p:nvSpPr>
        <p:spPr>
          <a:xfrm>
            <a:off x="4759452" y="2313432"/>
            <a:ext cx="1399032"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70">
                <a:solidFill>
                  <a:srgbClr val="203148"/>
                </a:solidFill>
                <a:latin typeface="Arial"/>
                <a:ea typeface="Arial"/>
                <a:cs typeface="Arial"/>
                <a:sym typeface="Arial"/>
              </a:rPr>
              <a:t>0.558</a:t>
            </a:r>
            <a:endParaRPr/>
          </a:p>
        </p:txBody>
      </p:sp>
      <p:sp>
        <p:nvSpPr>
          <p:cNvPr id="634" name="Google Shape;634;p19"/>
          <p:cNvSpPr/>
          <p:nvPr/>
        </p:nvSpPr>
        <p:spPr>
          <a:xfrm>
            <a:off x="6190488" y="2267712"/>
            <a:ext cx="1458468" cy="571500"/>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5" name="Google Shape;635;p19"/>
          <p:cNvSpPr txBox="1"/>
          <p:nvPr/>
        </p:nvSpPr>
        <p:spPr>
          <a:xfrm>
            <a:off x="6240780" y="2313432"/>
            <a:ext cx="1399032"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70">
                <a:solidFill>
                  <a:srgbClr val="203148"/>
                </a:solidFill>
                <a:latin typeface="Arial"/>
                <a:ea typeface="Arial"/>
                <a:cs typeface="Arial"/>
                <a:sym typeface="Arial"/>
              </a:rPr>
              <a:t>0.571</a:t>
            </a:r>
            <a:endParaRPr/>
          </a:p>
        </p:txBody>
      </p:sp>
      <p:sp>
        <p:nvSpPr>
          <p:cNvPr id="636" name="Google Shape;636;p19"/>
          <p:cNvSpPr/>
          <p:nvPr/>
        </p:nvSpPr>
        <p:spPr>
          <a:xfrm>
            <a:off x="7671816" y="2267712"/>
            <a:ext cx="1458468" cy="571500"/>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7" name="Google Shape;637;p19"/>
          <p:cNvSpPr txBox="1"/>
          <p:nvPr/>
        </p:nvSpPr>
        <p:spPr>
          <a:xfrm>
            <a:off x="7722108" y="2313432"/>
            <a:ext cx="1399032"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70">
                <a:solidFill>
                  <a:srgbClr val="203148"/>
                </a:solidFill>
                <a:latin typeface="Arial"/>
                <a:ea typeface="Arial"/>
                <a:cs typeface="Arial"/>
                <a:sym typeface="Arial"/>
              </a:rPr>
              <a:t>-0.013</a:t>
            </a:r>
            <a:endParaRPr/>
          </a:p>
        </p:txBody>
      </p:sp>
      <p:sp>
        <p:nvSpPr>
          <p:cNvPr id="638" name="Google Shape;638;p19"/>
          <p:cNvSpPr/>
          <p:nvPr/>
        </p:nvSpPr>
        <p:spPr>
          <a:xfrm>
            <a:off x="9153144" y="2267712"/>
            <a:ext cx="2034540" cy="571500"/>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9" name="Google Shape;639;p19"/>
          <p:cNvSpPr txBox="1"/>
          <p:nvPr/>
        </p:nvSpPr>
        <p:spPr>
          <a:xfrm>
            <a:off x="9203436" y="2313432"/>
            <a:ext cx="1975104"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70">
                <a:solidFill>
                  <a:srgbClr val="203148"/>
                </a:solidFill>
                <a:latin typeface="Arial"/>
                <a:ea typeface="Arial"/>
                <a:cs typeface="Arial"/>
                <a:sym typeface="Arial"/>
              </a:rPr>
              <a:t>29</a:t>
            </a:r>
            <a:endParaRPr/>
          </a:p>
        </p:txBody>
      </p:sp>
      <p:sp>
        <p:nvSpPr>
          <p:cNvPr id="640" name="Google Shape;640;p19"/>
          <p:cNvSpPr/>
          <p:nvPr/>
        </p:nvSpPr>
        <p:spPr>
          <a:xfrm>
            <a:off x="658368" y="2852928"/>
            <a:ext cx="937260" cy="571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1" name="Google Shape;641;p19"/>
          <p:cNvSpPr txBox="1"/>
          <p:nvPr/>
        </p:nvSpPr>
        <p:spPr>
          <a:xfrm>
            <a:off x="708660" y="2898648"/>
            <a:ext cx="877824"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370">
                <a:solidFill>
                  <a:srgbClr val="203148"/>
                </a:solidFill>
                <a:latin typeface="Arial"/>
                <a:ea typeface="Arial"/>
                <a:cs typeface="Arial"/>
                <a:sym typeface="Arial"/>
              </a:rPr>
              <a:t>C2</a:t>
            </a:r>
            <a:endParaRPr/>
          </a:p>
        </p:txBody>
      </p:sp>
      <p:sp>
        <p:nvSpPr>
          <p:cNvPr id="642" name="Google Shape;642;p19"/>
          <p:cNvSpPr/>
          <p:nvPr/>
        </p:nvSpPr>
        <p:spPr>
          <a:xfrm>
            <a:off x="1618488" y="2852928"/>
            <a:ext cx="1440180" cy="571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3" name="Google Shape;643;p19"/>
          <p:cNvSpPr txBox="1"/>
          <p:nvPr/>
        </p:nvSpPr>
        <p:spPr>
          <a:xfrm>
            <a:off x="1668780" y="2898648"/>
            <a:ext cx="1380744"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70">
                <a:solidFill>
                  <a:srgbClr val="203148"/>
                </a:solidFill>
                <a:latin typeface="Arial"/>
                <a:ea typeface="Arial"/>
                <a:cs typeface="Arial"/>
                <a:sym typeface="Arial"/>
              </a:rPr>
              <a:t>0.5</a:t>
            </a:r>
            <a:endParaRPr/>
          </a:p>
        </p:txBody>
      </p:sp>
      <p:sp>
        <p:nvSpPr>
          <p:cNvPr id="644" name="Google Shape;644;p19"/>
          <p:cNvSpPr/>
          <p:nvPr/>
        </p:nvSpPr>
        <p:spPr>
          <a:xfrm>
            <a:off x="3081528" y="2852928"/>
            <a:ext cx="1604772" cy="571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5" name="Google Shape;645;p19"/>
          <p:cNvSpPr txBox="1"/>
          <p:nvPr/>
        </p:nvSpPr>
        <p:spPr>
          <a:xfrm>
            <a:off x="3131820" y="2898648"/>
            <a:ext cx="1545336"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70">
                <a:solidFill>
                  <a:srgbClr val="203148"/>
                </a:solidFill>
                <a:latin typeface="Arial"/>
                <a:ea typeface="Arial"/>
                <a:cs typeface="Arial"/>
                <a:sym typeface="Arial"/>
              </a:rPr>
              <a:t>No</a:t>
            </a:r>
            <a:endParaRPr/>
          </a:p>
        </p:txBody>
      </p:sp>
      <p:sp>
        <p:nvSpPr>
          <p:cNvPr id="646" name="Google Shape;646;p19"/>
          <p:cNvSpPr/>
          <p:nvPr/>
        </p:nvSpPr>
        <p:spPr>
          <a:xfrm>
            <a:off x="4709160" y="2852928"/>
            <a:ext cx="1458468" cy="571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7" name="Google Shape;647;p19"/>
          <p:cNvSpPr txBox="1"/>
          <p:nvPr/>
        </p:nvSpPr>
        <p:spPr>
          <a:xfrm>
            <a:off x="4759452" y="2898648"/>
            <a:ext cx="1399032"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70">
                <a:solidFill>
                  <a:srgbClr val="203148"/>
                </a:solidFill>
                <a:latin typeface="Arial"/>
                <a:ea typeface="Arial"/>
                <a:cs typeface="Arial"/>
                <a:sym typeface="Arial"/>
              </a:rPr>
              <a:t>0.462</a:t>
            </a:r>
            <a:endParaRPr/>
          </a:p>
        </p:txBody>
      </p:sp>
      <p:sp>
        <p:nvSpPr>
          <p:cNvPr id="648" name="Google Shape;648;p19"/>
          <p:cNvSpPr/>
          <p:nvPr/>
        </p:nvSpPr>
        <p:spPr>
          <a:xfrm>
            <a:off x="6190488" y="2852928"/>
            <a:ext cx="1458468" cy="571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9" name="Google Shape;649;p19"/>
          <p:cNvSpPr txBox="1"/>
          <p:nvPr/>
        </p:nvSpPr>
        <p:spPr>
          <a:xfrm>
            <a:off x="6240780" y="2898648"/>
            <a:ext cx="1399032"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70">
                <a:solidFill>
                  <a:srgbClr val="203148"/>
                </a:solidFill>
                <a:latin typeface="Arial"/>
                <a:ea typeface="Arial"/>
                <a:cs typeface="Arial"/>
                <a:sym typeface="Arial"/>
              </a:rPr>
              <a:t>0.509</a:t>
            </a:r>
            <a:endParaRPr/>
          </a:p>
        </p:txBody>
      </p:sp>
      <p:sp>
        <p:nvSpPr>
          <p:cNvPr id="650" name="Google Shape;650;p19"/>
          <p:cNvSpPr/>
          <p:nvPr/>
        </p:nvSpPr>
        <p:spPr>
          <a:xfrm>
            <a:off x="7671816" y="2852928"/>
            <a:ext cx="1458468" cy="571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1" name="Google Shape;651;p19"/>
          <p:cNvSpPr txBox="1"/>
          <p:nvPr/>
        </p:nvSpPr>
        <p:spPr>
          <a:xfrm>
            <a:off x="7722108" y="2898648"/>
            <a:ext cx="1399032"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70">
                <a:solidFill>
                  <a:srgbClr val="203148"/>
                </a:solidFill>
                <a:latin typeface="Arial"/>
                <a:ea typeface="Arial"/>
                <a:cs typeface="Arial"/>
                <a:sym typeface="Arial"/>
              </a:rPr>
              <a:t>-0.048</a:t>
            </a:r>
            <a:endParaRPr/>
          </a:p>
        </p:txBody>
      </p:sp>
      <p:sp>
        <p:nvSpPr>
          <p:cNvPr id="652" name="Google Shape;652;p19"/>
          <p:cNvSpPr/>
          <p:nvPr/>
        </p:nvSpPr>
        <p:spPr>
          <a:xfrm>
            <a:off x="9153144" y="2852928"/>
            <a:ext cx="2034540" cy="571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3" name="Google Shape;653;p19"/>
          <p:cNvSpPr txBox="1"/>
          <p:nvPr/>
        </p:nvSpPr>
        <p:spPr>
          <a:xfrm>
            <a:off x="9203436" y="2898648"/>
            <a:ext cx="1975104"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70">
                <a:solidFill>
                  <a:srgbClr val="203148"/>
                </a:solidFill>
                <a:latin typeface="Arial"/>
                <a:ea typeface="Arial"/>
                <a:cs typeface="Arial"/>
                <a:sym typeface="Arial"/>
              </a:rPr>
              <a:t>11</a:t>
            </a:r>
            <a:endParaRPr/>
          </a:p>
        </p:txBody>
      </p:sp>
      <p:sp>
        <p:nvSpPr>
          <p:cNvPr id="654" name="Google Shape;654;p19"/>
          <p:cNvSpPr/>
          <p:nvPr/>
        </p:nvSpPr>
        <p:spPr>
          <a:xfrm>
            <a:off x="658368" y="3438144"/>
            <a:ext cx="937260" cy="571500"/>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5" name="Google Shape;655;p19"/>
          <p:cNvSpPr txBox="1"/>
          <p:nvPr/>
        </p:nvSpPr>
        <p:spPr>
          <a:xfrm>
            <a:off x="708660" y="3483863"/>
            <a:ext cx="877824"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370">
                <a:solidFill>
                  <a:srgbClr val="0DAE9A"/>
                </a:solidFill>
                <a:latin typeface="Arial"/>
                <a:ea typeface="Arial"/>
                <a:cs typeface="Arial"/>
                <a:sym typeface="Arial"/>
              </a:rPr>
              <a:t>C3</a:t>
            </a:r>
            <a:endParaRPr/>
          </a:p>
        </p:txBody>
      </p:sp>
      <p:sp>
        <p:nvSpPr>
          <p:cNvPr id="656" name="Google Shape;656;p19"/>
          <p:cNvSpPr/>
          <p:nvPr/>
        </p:nvSpPr>
        <p:spPr>
          <a:xfrm>
            <a:off x="1618488" y="3438144"/>
            <a:ext cx="1440180" cy="571500"/>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7" name="Google Shape;657;p19"/>
          <p:cNvSpPr txBox="1"/>
          <p:nvPr/>
        </p:nvSpPr>
        <p:spPr>
          <a:xfrm>
            <a:off x="1668780" y="3483863"/>
            <a:ext cx="1380744"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70">
                <a:solidFill>
                  <a:srgbClr val="203148"/>
                </a:solidFill>
                <a:latin typeface="Arial"/>
                <a:ea typeface="Arial"/>
                <a:cs typeface="Arial"/>
                <a:sym typeface="Arial"/>
              </a:rPr>
              <a:t>0.0</a:t>
            </a:r>
            <a:endParaRPr/>
          </a:p>
        </p:txBody>
      </p:sp>
      <p:sp>
        <p:nvSpPr>
          <p:cNvPr id="658" name="Google Shape;658;p19"/>
          <p:cNvSpPr/>
          <p:nvPr/>
        </p:nvSpPr>
        <p:spPr>
          <a:xfrm>
            <a:off x="3081528" y="3438144"/>
            <a:ext cx="1604772" cy="571500"/>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9" name="Google Shape;659;p19"/>
          <p:cNvSpPr txBox="1"/>
          <p:nvPr/>
        </p:nvSpPr>
        <p:spPr>
          <a:xfrm>
            <a:off x="3131820" y="3483863"/>
            <a:ext cx="1545336"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70">
                <a:solidFill>
                  <a:srgbClr val="203148"/>
                </a:solidFill>
                <a:latin typeface="Arial"/>
                <a:ea typeface="Arial"/>
                <a:cs typeface="Arial"/>
                <a:sym typeface="Arial"/>
              </a:rPr>
              <a:t>Yes</a:t>
            </a:r>
            <a:endParaRPr/>
          </a:p>
        </p:txBody>
      </p:sp>
      <p:sp>
        <p:nvSpPr>
          <p:cNvPr id="660" name="Google Shape;660;p19"/>
          <p:cNvSpPr/>
          <p:nvPr/>
        </p:nvSpPr>
        <p:spPr>
          <a:xfrm>
            <a:off x="4709160" y="3438144"/>
            <a:ext cx="1458468" cy="571500"/>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1" name="Google Shape;661;p19"/>
          <p:cNvSpPr txBox="1"/>
          <p:nvPr/>
        </p:nvSpPr>
        <p:spPr>
          <a:xfrm>
            <a:off x="4759452" y="3483863"/>
            <a:ext cx="1399032"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70">
                <a:solidFill>
                  <a:srgbClr val="203148"/>
                </a:solidFill>
                <a:latin typeface="Arial"/>
                <a:ea typeface="Arial"/>
                <a:cs typeface="Arial"/>
                <a:sym typeface="Arial"/>
              </a:rPr>
              <a:t>0.620</a:t>
            </a:r>
            <a:endParaRPr/>
          </a:p>
        </p:txBody>
      </p:sp>
      <p:sp>
        <p:nvSpPr>
          <p:cNvPr id="662" name="Google Shape;662;p19"/>
          <p:cNvSpPr/>
          <p:nvPr/>
        </p:nvSpPr>
        <p:spPr>
          <a:xfrm>
            <a:off x="6190488" y="3438144"/>
            <a:ext cx="1458468" cy="571500"/>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3" name="Google Shape;663;p19"/>
          <p:cNvSpPr txBox="1"/>
          <p:nvPr/>
        </p:nvSpPr>
        <p:spPr>
          <a:xfrm>
            <a:off x="6240780" y="3483863"/>
            <a:ext cx="1399032"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70">
                <a:solidFill>
                  <a:srgbClr val="203148"/>
                </a:solidFill>
                <a:latin typeface="Arial"/>
                <a:ea typeface="Arial"/>
                <a:cs typeface="Arial"/>
                <a:sym typeface="Arial"/>
              </a:rPr>
              <a:t>0.580</a:t>
            </a:r>
            <a:endParaRPr/>
          </a:p>
        </p:txBody>
      </p:sp>
      <p:sp>
        <p:nvSpPr>
          <p:cNvPr id="664" name="Google Shape;664;p19"/>
          <p:cNvSpPr/>
          <p:nvPr/>
        </p:nvSpPr>
        <p:spPr>
          <a:xfrm>
            <a:off x="7671816" y="3438144"/>
            <a:ext cx="1458468" cy="571500"/>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5" name="Google Shape;665;p19"/>
          <p:cNvSpPr txBox="1"/>
          <p:nvPr/>
        </p:nvSpPr>
        <p:spPr>
          <a:xfrm>
            <a:off x="7722108" y="3483863"/>
            <a:ext cx="1399032"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70">
                <a:solidFill>
                  <a:srgbClr val="203148"/>
                </a:solidFill>
                <a:latin typeface="Arial"/>
                <a:ea typeface="Arial"/>
                <a:cs typeface="Arial"/>
                <a:sym typeface="Arial"/>
              </a:rPr>
              <a:t>+0.040</a:t>
            </a:r>
            <a:endParaRPr/>
          </a:p>
        </p:txBody>
      </p:sp>
      <p:sp>
        <p:nvSpPr>
          <p:cNvPr id="666" name="Google Shape;666;p19"/>
          <p:cNvSpPr/>
          <p:nvPr/>
        </p:nvSpPr>
        <p:spPr>
          <a:xfrm>
            <a:off x="9153144" y="3438144"/>
            <a:ext cx="2034540" cy="571500"/>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7" name="Google Shape;667;p19"/>
          <p:cNvSpPr txBox="1"/>
          <p:nvPr/>
        </p:nvSpPr>
        <p:spPr>
          <a:xfrm>
            <a:off x="9203436" y="3483863"/>
            <a:ext cx="1975104"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70">
                <a:solidFill>
                  <a:srgbClr val="203148"/>
                </a:solidFill>
                <a:latin typeface="Arial"/>
                <a:ea typeface="Arial"/>
                <a:cs typeface="Arial"/>
                <a:sym typeface="Arial"/>
              </a:rPr>
              <a:t>25</a:t>
            </a:r>
            <a:endParaRPr/>
          </a:p>
        </p:txBody>
      </p:sp>
      <p:sp>
        <p:nvSpPr>
          <p:cNvPr id="668" name="Google Shape;668;p19"/>
          <p:cNvSpPr/>
          <p:nvPr/>
        </p:nvSpPr>
        <p:spPr>
          <a:xfrm>
            <a:off x="658368" y="4023360"/>
            <a:ext cx="937260" cy="571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9" name="Google Shape;669;p19"/>
          <p:cNvSpPr txBox="1"/>
          <p:nvPr/>
        </p:nvSpPr>
        <p:spPr>
          <a:xfrm>
            <a:off x="708660" y="4069080"/>
            <a:ext cx="877824"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370">
                <a:solidFill>
                  <a:srgbClr val="203148"/>
                </a:solidFill>
                <a:latin typeface="Arial"/>
                <a:ea typeface="Arial"/>
                <a:cs typeface="Arial"/>
                <a:sym typeface="Arial"/>
              </a:rPr>
              <a:t>C4</a:t>
            </a:r>
            <a:endParaRPr/>
          </a:p>
        </p:txBody>
      </p:sp>
      <p:sp>
        <p:nvSpPr>
          <p:cNvPr id="670" name="Google Shape;670;p19"/>
          <p:cNvSpPr/>
          <p:nvPr/>
        </p:nvSpPr>
        <p:spPr>
          <a:xfrm>
            <a:off x="1618488" y="4023360"/>
            <a:ext cx="1440180" cy="571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1" name="Google Shape;671;p19"/>
          <p:cNvSpPr txBox="1"/>
          <p:nvPr/>
        </p:nvSpPr>
        <p:spPr>
          <a:xfrm>
            <a:off x="1668780" y="4069080"/>
            <a:ext cx="1380744"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70">
                <a:solidFill>
                  <a:srgbClr val="203148"/>
                </a:solidFill>
                <a:latin typeface="Arial"/>
                <a:ea typeface="Arial"/>
                <a:cs typeface="Arial"/>
                <a:sym typeface="Arial"/>
              </a:rPr>
              <a:t>0.0</a:t>
            </a:r>
            <a:endParaRPr/>
          </a:p>
        </p:txBody>
      </p:sp>
      <p:sp>
        <p:nvSpPr>
          <p:cNvPr id="672" name="Google Shape;672;p19"/>
          <p:cNvSpPr/>
          <p:nvPr/>
        </p:nvSpPr>
        <p:spPr>
          <a:xfrm>
            <a:off x="3081528" y="4023360"/>
            <a:ext cx="1604772" cy="571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3" name="Google Shape;673;p19"/>
          <p:cNvSpPr txBox="1"/>
          <p:nvPr/>
        </p:nvSpPr>
        <p:spPr>
          <a:xfrm>
            <a:off x="3131820" y="4069080"/>
            <a:ext cx="1545336"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70">
                <a:solidFill>
                  <a:srgbClr val="203148"/>
                </a:solidFill>
                <a:latin typeface="Arial"/>
                <a:ea typeface="Arial"/>
                <a:cs typeface="Arial"/>
                <a:sym typeface="Arial"/>
              </a:rPr>
              <a:t>No</a:t>
            </a:r>
            <a:endParaRPr/>
          </a:p>
        </p:txBody>
      </p:sp>
      <p:sp>
        <p:nvSpPr>
          <p:cNvPr id="674" name="Google Shape;674;p19"/>
          <p:cNvSpPr/>
          <p:nvPr/>
        </p:nvSpPr>
        <p:spPr>
          <a:xfrm>
            <a:off x="4709160" y="4023360"/>
            <a:ext cx="1458468" cy="571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5" name="Google Shape;675;p19"/>
          <p:cNvSpPr txBox="1"/>
          <p:nvPr/>
        </p:nvSpPr>
        <p:spPr>
          <a:xfrm>
            <a:off x="4759452" y="4069080"/>
            <a:ext cx="1399032"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70">
                <a:solidFill>
                  <a:srgbClr val="203148"/>
                </a:solidFill>
                <a:latin typeface="Arial"/>
                <a:ea typeface="Arial"/>
                <a:cs typeface="Arial"/>
                <a:sym typeface="Arial"/>
              </a:rPr>
              <a:t>0.554</a:t>
            </a:r>
            <a:endParaRPr/>
          </a:p>
        </p:txBody>
      </p:sp>
      <p:sp>
        <p:nvSpPr>
          <p:cNvPr id="676" name="Google Shape;676;p19"/>
          <p:cNvSpPr/>
          <p:nvPr/>
        </p:nvSpPr>
        <p:spPr>
          <a:xfrm>
            <a:off x="6190488" y="4023360"/>
            <a:ext cx="1458468" cy="571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7" name="Google Shape;677;p19"/>
          <p:cNvSpPr txBox="1"/>
          <p:nvPr/>
        </p:nvSpPr>
        <p:spPr>
          <a:xfrm>
            <a:off x="6240780" y="4069080"/>
            <a:ext cx="1399032"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70">
                <a:solidFill>
                  <a:srgbClr val="203148"/>
                </a:solidFill>
                <a:latin typeface="Arial"/>
                <a:ea typeface="Arial"/>
                <a:cs typeface="Arial"/>
                <a:sym typeface="Arial"/>
              </a:rPr>
              <a:t>0.491</a:t>
            </a:r>
            <a:endParaRPr/>
          </a:p>
        </p:txBody>
      </p:sp>
      <p:sp>
        <p:nvSpPr>
          <p:cNvPr id="678" name="Google Shape;678;p19"/>
          <p:cNvSpPr/>
          <p:nvPr/>
        </p:nvSpPr>
        <p:spPr>
          <a:xfrm>
            <a:off x="7671816" y="4023360"/>
            <a:ext cx="1458468" cy="571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9" name="Google Shape;679;p19"/>
          <p:cNvSpPr txBox="1"/>
          <p:nvPr/>
        </p:nvSpPr>
        <p:spPr>
          <a:xfrm>
            <a:off x="7722108" y="4069080"/>
            <a:ext cx="1399032"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70">
                <a:solidFill>
                  <a:srgbClr val="203148"/>
                </a:solidFill>
                <a:latin typeface="Arial"/>
                <a:ea typeface="Arial"/>
                <a:cs typeface="Arial"/>
                <a:sym typeface="Arial"/>
              </a:rPr>
              <a:t>+0.063</a:t>
            </a:r>
            <a:endParaRPr/>
          </a:p>
        </p:txBody>
      </p:sp>
      <p:sp>
        <p:nvSpPr>
          <p:cNvPr id="680" name="Google Shape;680;p19"/>
          <p:cNvSpPr/>
          <p:nvPr/>
        </p:nvSpPr>
        <p:spPr>
          <a:xfrm>
            <a:off x="9153144" y="4023360"/>
            <a:ext cx="2034540" cy="571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1" name="Google Shape;681;p19"/>
          <p:cNvSpPr txBox="1"/>
          <p:nvPr/>
        </p:nvSpPr>
        <p:spPr>
          <a:xfrm>
            <a:off x="9203436" y="4069080"/>
            <a:ext cx="1975104"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70">
                <a:solidFill>
                  <a:srgbClr val="203148"/>
                </a:solidFill>
                <a:latin typeface="Arial"/>
                <a:ea typeface="Arial"/>
                <a:cs typeface="Arial"/>
                <a:sym typeface="Arial"/>
              </a:rPr>
              <a:t>10</a:t>
            </a:r>
            <a:endParaRPr/>
          </a:p>
        </p:txBody>
      </p:sp>
      <p:sp>
        <p:nvSpPr>
          <p:cNvPr id="682" name="Google Shape;682;p19"/>
          <p:cNvSpPr/>
          <p:nvPr/>
        </p:nvSpPr>
        <p:spPr>
          <a:xfrm>
            <a:off x="658368" y="4608576"/>
            <a:ext cx="937260" cy="571500"/>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3" name="Google Shape;683;p19"/>
          <p:cNvSpPr txBox="1"/>
          <p:nvPr/>
        </p:nvSpPr>
        <p:spPr>
          <a:xfrm>
            <a:off x="708660" y="4654296"/>
            <a:ext cx="877824"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370">
                <a:solidFill>
                  <a:srgbClr val="203148"/>
                </a:solidFill>
                <a:latin typeface="Arial"/>
                <a:ea typeface="Arial"/>
                <a:cs typeface="Arial"/>
                <a:sym typeface="Arial"/>
              </a:rPr>
              <a:t>C5</a:t>
            </a:r>
            <a:endParaRPr/>
          </a:p>
        </p:txBody>
      </p:sp>
      <p:sp>
        <p:nvSpPr>
          <p:cNvPr id="684" name="Google Shape;684;p19"/>
          <p:cNvSpPr/>
          <p:nvPr/>
        </p:nvSpPr>
        <p:spPr>
          <a:xfrm>
            <a:off x="1618488" y="4608576"/>
            <a:ext cx="1440180" cy="571500"/>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5" name="Google Shape;685;p19"/>
          <p:cNvSpPr txBox="1"/>
          <p:nvPr/>
        </p:nvSpPr>
        <p:spPr>
          <a:xfrm>
            <a:off x="1668780" y="4654296"/>
            <a:ext cx="1380744"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70">
                <a:solidFill>
                  <a:srgbClr val="203148"/>
                </a:solidFill>
                <a:latin typeface="Arial"/>
                <a:ea typeface="Arial"/>
                <a:cs typeface="Arial"/>
                <a:sym typeface="Arial"/>
              </a:rPr>
              <a:t>0.3</a:t>
            </a:r>
            <a:endParaRPr/>
          </a:p>
        </p:txBody>
      </p:sp>
      <p:sp>
        <p:nvSpPr>
          <p:cNvPr id="686" name="Google Shape;686;p19"/>
          <p:cNvSpPr/>
          <p:nvPr/>
        </p:nvSpPr>
        <p:spPr>
          <a:xfrm>
            <a:off x="3081528" y="4608576"/>
            <a:ext cx="1604772" cy="571500"/>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7" name="Google Shape;687;p19"/>
          <p:cNvSpPr txBox="1"/>
          <p:nvPr/>
        </p:nvSpPr>
        <p:spPr>
          <a:xfrm>
            <a:off x="3131820" y="4654296"/>
            <a:ext cx="1545336"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70">
                <a:solidFill>
                  <a:srgbClr val="203148"/>
                </a:solidFill>
                <a:latin typeface="Arial"/>
                <a:ea typeface="Arial"/>
                <a:cs typeface="Arial"/>
                <a:sym typeface="Arial"/>
              </a:rPr>
              <a:t>Yes</a:t>
            </a:r>
            <a:endParaRPr/>
          </a:p>
        </p:txBody>
      </p:sp>
      <p:sp>
        <p:nvSpPr>
          <p:cNvPr id="688" name="Google Shape;688;p19"/>
          <p:cNvSpPr/>
          <p:nvPr/>
        </p:nvSpPr>
        <p:spPr>
          <a:xfrm>
            <a:off x="4709160" y="4608576"/>
            <a:ext cx="1458468" cy="571500"/>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9" name="Google Shape;689;p19"/>
          <p:cNvSpPr txBox="1"/>
          <p:nvPr/>
        </p:nvSpPr>
        <p:spPr>
          <a:xfrm>
            <a:off x="4759452" y="4654296"/>
            <a:ext cx="1399032"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70">
                <a:solidFill>
                  <a:srgbClr val="203148"/>
                </a:solidFill>
                <a:latin typeface="Arial"/>
                <a:ea typeface="Arial"/>
                <a:cs typeface="Arial"/>
                <a:sym typeface="Arial"/>
              </a:rPr>
              <a:t>0.569</a:t>
            </a:r>
            <a:endParaRPr/>
          </a:p>
        </p:txBody>
      </p:sp>
      <p:sp>
        <p:nvSpPr>
          <p:cNvPr id="690" name="Google Shape;690;p19"/>
          <p:cNvSpPr/>
          <p:nvPr/>
        </p:nvSpPr>
        <p:spPr>
          <a:xfrm>
            <a:off x="6190488" y="4608576"/>
            <a:ext cx="1458468" cy="571500"/>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1" name="Google Shape;691;p19"/>
          <p:cNvSpPr txBox="1"/>
          <p:nvPr/>
        </p:nvSpPr>
        <p:spPr>
          <a:xfrm>
            <a:off x="6240780" y="4654296"/>
            <a:ext cx="1399032"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70">
                <a:solidFill>
                  <a:srgbClr val="203148"/>
                </a:solidFill>
                <a:latin typeface="Arial"/>
                <a:ea typeface="Arial"/>
                <a:cs typeface="Arial"/>
                <a:sym typeface="Arial"/>
              </a:rPr>
              <a:t>0.568</a:t>
            </a:r>
            <a:endParaRPr/>
          </a:p>
        </p:txBody>
      </p:sp>
      <p:sp>
        <p:nvSpPr>
          <p:cNvPr id="692" name="Google Shape;692;p19"/>
          <p:cNvSpPr/>
          <p:nvPr/>
        </p:nvSpPr>
        <p:spPr>
          <a:xfrm>
            <a:off x="7671816" y="4608576"/>
            <a:ext cx="1458468" cy="571500"/>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3" name="Google Shape;693;p19"/>
          <p:cNvSpPr txBox="1"/>
          <p:nvPr/>
        </p:nvSpPr>
        <p:spPr>
          <a:xfrm>
            <a:off x="7722108" y="4654296"/>
            <a:ext cx="1399032"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70">
                <a:solidFill>
                  <a:srgbClr val="203148"/>
                </a:solidFill>
                <a:latin typeface="Arial"/>
                <a:ea typeface="Arial"/>
                <a:cs typeface="Arial"/>
                <a:sym typeface="Arial"/>
              </a:rPr>
              <a:t>+0.001</a:t>
            </a:r>
            <a:endParaRPr/>
          </a:p>
        </p:txBody>
      </p:sp>
      <p:sp>
        <p:nvSpPr>
          <p:cNvPr id="694" name="Google Shape;694;p19"/>
          <p:cNvSpPr/>
          <p:nvPr/>
        </p:nvSpPr>
        <p:spPr>
          <a:xfrm>
            <a:off x="9153144" y="4608576"/>
            <a:ext cx="2034540" cy="571500"/>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5" name="Google Shape;695;p19"/>
          <p:cNvSpPr txBox="1"/>
          <p:nvPr/>
        </p:nvSpPr>
        <p:spPr>
          <a:xfrm>
            <a:off x="9203436" y="4654296"/>
            <a:ext cx="1975104" cy="50292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370">
                <a:solidFill>
                  <a:srgbClr val="203148"/>
                </a:solidFill>
                <a:latin typeface="Arial"/>
                <a:ea typeface="Arial"/>
                <a:cs typeface="Arial"/>
                <a:sym typeface="Arial"/>
              </a:rPr>
              <a:t>25</a:t>
            </a:r>
            <a:endParaRPr/>
          </a:p>
        </p:txBody>
      </p:sp>
      <p:sp>
        <p:nvSpPr>
          <p:cNvPr id="696" name="Google Shape;696;p19"/>
          <p:cNvSpPr/>
          <p:nvPr/>
        </p:nvSpPr>
        <p:spPr>
          <a:xfrm>
            <a:off x="658368" y="6117336"/>
            <a:ext cx="10817352" cy="420624"/>
          </a:xfrm>
          <a:prstGeom prst="roundRect">
            <a:avLst>
              <a:gd fmla="val 15000" name="adj"/>
            </a:avLst>
          </a:prstGeom>
          <a:solidFill>
            <a:srgbClr val="EDF5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7" name="Google Shape;697;p19"/>
          <p:cNvSpPr txBox="1"/>
          <p:nvPr/>
        </p:nvSpPr>
        <p:spPr>
          <a:xfrm>
            <a:off x="822960" y="6190488"/>
            <a:ext cx="10469880" cy="2651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200">
                <a:solidFill>
                  <a:srgbClr val="203148"/>
                </a:solidFill>
                <a:latin typeface="Arial"/>
                <a:ea typeface="Arial"/>
                <a:cs typeface="Arial"/>
                <a:sym typeface="Arial"/>
              </a:rPr>
              <a:t>All scratch CNN runs: 394,773 trainable parameters, Adam LR = 0.001, 128×128 inputs. C3 selected by validation accuracy.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1" name="Shape 701"/>
        <p:cNvGrpSpPr/>
        <p:nvPr/>
      </p:nvGrpSpPr>
      <p:grpSpPr>
        <a:xfrm>
          <a:off x="0" y="0"/>
          <a:ext cx="0" cy="0"/>
          <a:chOff x="0" y="0"/>
          <a:chExt cx="0" cy="0"/>
        </a:xfrm>
      </p:grpSpPr>
      <p:sp>
        <p:nvSpPr>
          <p:cNvPr id="702" name="Google Shape;702;p20"/>
          <p:cNvSpPr/>
          <p:nvPr/>
        </p:nvSpPr>
        <p:spPr>
          <a:xfrm>
            <a:off x="566928" y="548640"/>
            <a:ext cx="1051560" cy="41148"/>
          </a:xfrm>
          <a:prstGeom prst="rect">
            <a:avLst/>
          </a:prstGeom>
          <a:solidFill>
            <a:srgbClr val="0DAE9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3" name="Google Shape;703;p20"/>
          <p:cNvSpPr txBox="1"/>
          <p:nvPr/>
        </p:nvSpPr>
        <p:spPr>
          <a:xfrm>
            <a:off x="566928" y="274320"/>
            <a:ext cx="10058400" cy="21945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00">
                <a:solidFill>
                  <a:srgbClr val="0DAE9A"/>
                </a:solidFill>
                <a:latin typeface="Arial"/>
                <a:ea typeface="Arial"/>
                <a:cs typeface="Arial"/>
                <a:sym typeface="Arial"/>
              </a:rPr>
              <a:t>APPENDIX · Q&amp;A</a:t>
            </a:r>
            <a:endParaRPr/>
          </a:p>
        </p:txBody>
      </p:sp>
      <p:sp>
        <p:nvSpPr>
          <p:cNvPr id="704" name="Google Shape;704;p20"/>
          <p:cNvSpPr txBox="1"/>
          <p:nvPr/>
        </p:nvSpPr>
        <p:spPr>
          <a:xfrm>
            <a:off x="566928" y="694944"/>
            <a:ext cx="10972800" cy="5669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2700">
                <a:solidFill>
                  <a:srgbClr val="101A2B"/>
                </a:solidFill>
                <a:latin typeface="Arial"/>
                <a:ea typeface="Arial"/>
                <a:cs typeface="Arial"/>
                <a:sym typeface="Arial"/>
              </a:rPr>
              <a:t>Backup · ResNet-50 configuration details</a:t>
            </a:r>
            <a:endParaRPr/>
          </a:p>
        </p:txBody>
      </p:sp>
      <p:sp>
        <p:nvSpPr>
          <p:cNvPr id="705" name="Google Shape;705;p20"/>
          <p:cNvSpPr txBox="1"/>
          <p:nvPr/>
        </p:nvSpPr>
        <p:spPr>
          <a:xfrm>
            <a:off x="11018520" y="6492240"/>
            <a:ext cx="594360" cy="18288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00">
                <a:solidFill>
                  <a:srgbClr val="718198"/>
                </a:solidFill>
                <a:latin typeface="Arial"/>
                <a:ea typeface="Arial"/>
                <a:cs typeface="Arial"/>
                <a:sym typeface="Arial"/>
              </a:rPr>
              <a:t>18</a:t>
            </a:r>
            <a:endParaRPr/>
          </a:p>
        </p:txBody>
      </p:sp>
      <p:sp>
        <p:nvSpPr>
          <p:cNvPr id="706" name="Google Shape;706;p20"/>
          <p:cNvSpPr/>
          <p:nvPr/>
        </p:nvSpPr>
        <p:spPr>
          <a:xfrm>
            <a:off x="612648" y="1673352"/>
            <a:ext cx="800100" cy="521207"/>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7" name="Google Shape;707;p20"/>
          <p:cNvSpPr txBox="1"/>
          <p:nvPr/>
        </p:nvSpPr>
        <p:spPr>
          <a:xfrm>
            <a:off x="676656" y="1732788"/>
            <a:ext cx="704088" cy="448055"/>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200">
                <a:solidFill>
                  <a:srgbClr val="FFFFFF"/>
                </a:solidFill>
                <a:latin typeface="Arial"/>
                <a:ea typeface="Arial"/>
                <a:cs typeface="Arial"/>
                <a:sym typeface="Arial"/>
              </a:rPr>
              <a:t>Run</a:t>
            </a:r>
            <a:endParaRPr/>
          </a:p>
        </p:txBody>
      </p:sp>
      <p:sp>
        <p:nvSpPr>
          <p:cNvPr id="708" name="Google Shape;708;p20"/>
          <p:cNvSpPr/>
          <p:nvPr/>
        </p:nvSpPr>
        <p:spPr>
          <a:xfrm>
            <a:off x="1435608" y="1673352"/>
            <a:ext cx="2125980" cy="521207"/>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9" name="Google Shape;709;p20"/>
          <p:cNvSpPr txBox="1"/>
          <p:nvPr/>
        </p:nvSpPr>
        <p:spPr>
          <a:xfrm>
            <a:off x="1499616" y="1732788"/>
            <a:ext cx="2029968" cy="448055"/>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200">
                <a:solidFill>
                  <a:srgbClr val="FFFFFF"/>
                </a:solidFill>
                <a:latin typeface="Arial"/>
                <a:ea typeface="Arial"/>
                <a:cs typeface="Arial"/>
                <a:sym typeface="Arial"/>
              </a:rPr>
              <a:t>Unfrozen</a:t>
            </a:r>
            <a:endParaRPr/>
          </a:p>
        </p:txBody>
      </p:sp>
      <p:sp>
        <p:nvSpPr>
          <p:cNvPr id="710" name="Google Shape;710;p20"/>
          <p:cNvSpPr/>
          <p:nvPr/>
        </p:nvSpPr>
        <p:spPr>
          <a:xfrm>
            <a:off x="3584448" y="1673352"/>
            <a:ext cx="1842516" cy="521207"/>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1" name="Google Shape;711;p20"/>
          <p:cNvSpPr txBox="1"/>
          <p:nvPr/>
        </p:nvSpPr>
        <p:spPr>
          <a:xfrm>
            <a:off x="3648456" y="1732788"/>
            <a:ext cx="1746504" cy="448055"/>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200">
                <a:solidFill>
                  <a:srgbClr val="FFFFFF"/>
                </a:solidFill>
                <a:latin typeface="Arial"/>
                <a:ea typeface="Arial"/>
                <a:cs typeface="Arial"/>
                <a:sym typeface="Arial"/>
              </a:rPr>
              <a:t>Fine-tune LR</a:t>
            </a:r>
            <a:endParaRPr/>
          </a:p>
        </p:txBody>
      </p:sp>
      <p:sp>
        <p:nvSpPr>
          <p:cNvPr id="712" name="Google Shape;712;p20"/>
          <p:cNvSpPr/>
          <p:nvPr/>
        </p:nvSpPr>
        <p:spPr>
          <a:xfrm>
            <a:off x="5449824" y="1673352"/>
            <a:ext cx="1394460" cy="521207"/>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3" name="Google Shape;713;p20"/>
          <p:cNvSpPr txBox="1"/>
          <p:nvPr/>
        </p:nvSpPr>
        <p:spPr>
          <a:xfrm>
            <a:off x="5513832" y="1732788"/>
            <a:ext cx="1298448" cy="448055"/>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200">
                <a:solidFill>
                  <a:srgbClr val="FFFFFF"/>
                </a:solidFill>
                <a:latin typeface="Arial"/>
                <a:ea typeface="Arial"/>
                <a:cs typeface="Arial"/>
                <a:sym typeface="Arial"/>
              </a:rPr>
              <a:t>Train</a:t>
            </a:r>
            <a:endParaRPr/>
          </a:p>
        </p:txBody>
      </p:sp>
      <p:sp>
        <p:nvSpPr>
          <p:cNvPr id="714" name="Google Shape;714;p20"/>
          <p:cNvSpPr/>
          <p:nvPr/>
        </p:nvSpPr>
        <p:spPr>
          <a:xfrm>
            <a:off x="6867144" y="1673352"/>
            <a:ext cx="1394460" cy="521207"/>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5" name="Google Shape;715;p20"/>
          <p:cNvSpPr txBox="1"/>
          <p:nvPr/>
        </p:nvSpPr>
        <p:spPr>
          <a:xfrm>
            <a:off x="6931152" y="1732788"/>
            <a:ext cx="1298448" cy="448055"/>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200">
                <a:solidFill>
                  <a:srgbClr val="FFFFFF"/>
                </a:solidFill>
                <a:latin typeface="Arial"/>
                <a:ea typeface="Arial"/>
                <a:cs typeface="Arial"/>
                <a:sym typeface="Arial"/>
              </a:rPr>
              <a:t>Val</a:t>
            </a:r>
            <a:endParaRPr/>
          </a:p>
        </p:txBody>
      </p:sp>
      <p:sp>
        <p:nvSpPr>
          <p:cNvPr id="716" name="Google Shape;716;p20"/>
          <p:cNvSpPr/>
          <p:nvPr/>
        </p:nvSpPr>
        <p:spPr>
          <a:xfrm>
            <a:off x="8284464" y="1673352"/>
            <a:ext cx="1394460" cy="521207"/>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7" name="Google Shape;717;p20"/>
          <p:cNvSpPr txBox="1"/>
          <p:nvPr/>
        </p:nvSpPr>
        <p:spPr>
          <a:xfrm>
            <a:off x="8348472" y="1732788"/>
            <a:ext cx="1298448" cy="448055"/>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200">
                <a:solidFill>
                  <a:srgbClr val="FFFFFF"/>
                </a:solidFill>
                <a:latin typeface="Arial"/>
                <a:ea typeface="Arial"/>
                <a:cs typeface="Arial"/>
                <a:sym typeface="Arial"/>
              </a:rPr>
              <a:t>Gap</a:t>
            </a:r>
            <a:endParaRPr/>
          </a:p>
        </p:txBody>
      </p:sp>
      <p:sp>
        <p:nvSpPr>
          <p:cNvPr id="718" name="Google Shape;718;p20"/>
          <p:cNvSpPr/>
          <p:nvPr/>
        </p:nvSpPr>
        <p:spPr>
          <a:xfrm>
            <a:off x="9701784" y="1673352"/>
            <a:ext cx="1650492" cy="521207"/>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9" name="Google Shape;719;p20"/>
          <p:cNvSpPr txBox="1"/>
          <p:nvPr/>
        </p:nvSpPr>
        <p:spPr>
          <a:xfrm>
            <a:off x="9765792" y="1732788"/>
            <a:ext cx="1554480" cy="448055"/>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200">
                <a:solidFill>
                  <a:srgbClr val="FFFFFF"/>
                </a:solidFill>
                <a:latin typeface="Arial"/>
                <a:ea typeface="Arial"/>
                <a:cs typeface="Arial"/>
                <a:sym typeface="Arial"/>
              </a:rPr>
              <a:t>Best epoch</a:t>
            </a:r>
            <a:endParaRPr/>
          </a:p>
        </p:txBody>
      </p:sp>
      <p:sp>
        <p:nvSpPr>
          <p:cNvPr id="720" name="Google Shape;720;p20"/>
          <p:cNvSpPr/>
          <p:nvPr/>
        </p:nvSpPr>
        <p:spPr>
          <a:xfrm>
            <a:off x="612648" y="2194560"/>
            <a:ext cx="800100" cy="507491"/>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1" name="Google Shape;721;p20"/>
          <p:cNvSpPr txBox="1"/>
          <p:nvPr/>
        </p:nvSpPr>
        <p:spPr>
          <a:xfrm>
            <a:off x="662940" y="2240279"/>
            <a:ext cx="740664"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170">
                <a:solidFill>
                  <a:srgbClr val="203148"/>
                </a:solidFill>
                <a:latin typeface="Arial"/>
                <a:ea typeface="Arial"/>
                <a:cs typeface="Arial"/>
                <a:sym typeface="Arial"/>
              </a:rPr>
              <a:t>R1</a:t>
            </a:r>
            <a:endParaRPr/>
          </a:p>
        </p:txBody>
      </p:sp>
      <p:sp>
        <p:nvSpPr>
          <p:cNvPr id="722" name="Google Shape;722;p20"/>
          <p:cNvSpPr/>
          <p:nvPr/>
        </p:nvSpPr>
        <p:spPr>
          <a:xfrm>
            <a:off x="1435608" y="2194560"/>
            <a:ext cx="2125980" cy="507491"/>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3" name="Google Shape;723;p20"/>
          <p:cNvSpPr txBox="1"/>
          <p:nvPr/>
        </p:nvSpPr>
        <p:spPr>
          <a:xfrm>
            <a:off x="1485900" y="2240279"/>
            <a:ext cx="2066544"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none (head only)</a:t>
            </a:r>
            <a:endParaRPr/>
          </a:p>
        </p:txBody>
      </p:sp>
      <p:sp>
        <p:nvSpPr>
          <p:cNvPr id="724" name="Google Shape;724;p20"/>
          <p:cNvSpPr/>
          <p:nvPr/>
        </p:nvSpPr>
        <p:spPr>
          <a:xfrm>
            <a:off x="3584448" y="2194560"/>
            <a:ext cx="1842516" cy="507491"/>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5" name="Google Shape;725;p20"/>
          <p:cNvSpPr txBox="1"/>
          <p:nvPr/>
        </p:nvSpPr>
        <p:spPr>
          <a:xfrm>
            <a:off x="3634740" y="2240279"/>
            <a:ext cx="1783080"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a:t>
            </a:r>
            <a:endParaRPr/>
          </a:p>
        </p:txBody>
      </p:sp>
      <p:sp>
        <p:nvSpPr>
          <p:cNvPr id="726" name="Google Shape;726;p20"/>
          <p:cNvSpPr/>
          <p:nvPr/>
        </p:nvSpPr>
        <p:spPr>
          <a:xfrm>
            <a:off x="5449824" y="2194560"/>
            <a:ext cx="1394460" cy="507491"/>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7" name="Google Shape;727;p20"/>
          <p:cNvSpPr txBox="1"/>
          <p:nvPr/>
        </p:nvSpPr>
        <p:spPr>
          <a:xfrm>
            <a:off x="5500116" y="2240279"/>
            <a:ext cx="1335024"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0.648</a:t>
            </a:r>
            <a:endParaRPr/>
          </a:p>
        </p:txBody>
      </p:sp>
      <p:sp>
        <p:nvSpPr>
          <p:cNvPr id="728" name="Google Shape;728;p20"/>
          <p:cNvSpPr/>
          <p:nvPr/>
        </p:nvSpPr>
        <p:spPr>
          <a:xfrm>
            <a:off x="6867144" y="2194560"/>
            <a:ext cx="1394460" cy="507491"/>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9" name="Google Shape;729;p20"/>
          <p:cNvSpPr txBox="1"/>
          <p:nvPr/>
        </p:nvSpPr>
        <p:spPr>
          <a:xfrm>
            <a:off x="6917436" y="2240279"/>
            <a:ext cx="1335024"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0.713</a:t>
            </a:r>
            <a:endParaRPr/>
          </a:p>
        </p:txBody>
      </p:sp>
      <p:sp>
        <p:nvSpPr>
          <p:cNvPr id="730" name="Google Shape;730;p20"/>
          <p:cNvSpPr/>
          <p:nvPr/>
        </p:nvSpPr>
        <p:spPr>
          <a:xfrm>
            <a:off x="8284464" y="2194560"/>
            <a:ext cx="1394460" cy="507491"/>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1" name="Google Shape;731;p20"/>
          <p:cNvSpPr txBox="1"/>
          <p:nvPr/>
        </p:nvSpPr>
        <p:spPr>
          <a:xfrm>
            <a:off x="8334756" y="2240279"/>
            <a:ext cx="1335024"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-0.065</a:t>
            </a:r>
            <a:endParaRPr/>
          </a:p>
        </p:txBody>
      </p:sp>
      <p:sp>
        <p:nvSpPr>
          <p:cNvPr id="732" name="Google Shape;732;p20"/>
          <p:cNvSpPr/>
          <p:nvPr/>
        </p:nvSpPr>
        <p:spPr>
          <a:xfrm>
            <a:off x="9701784" y="2194560"/>
            <a:ext cx="1650492" cy="507491"/>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3" name="Google Shape;733;p20"/>
          <p:cNvSpPr txBox="1"/>
          <p:nvPr/>
        </p:nvSpPr>
        <p:spPr>
          <a:xfrm>
            <a:off x="9752076" y="2240279"/>
            <a:ext cx="1591056"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9</a:t>
            </a:r>
            <a:endParaRPr/>
          </a:p>
        </p:txBody>
      </p:sp>
      <p:sp>
        <p:nvSpPr>
          <p:cNvPr id="734" name="Google Shape;734;p20"/>
          <p:cNvSpPr/>
          <p:nvPr/>
        </p:nvSpPr>
        <p:spPr>
          <a:xfrm>
            <a:off x="612648" y="2715768"/>
            <a:ext cx="800100" cy="507491"/>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5" name="Google Shape;735;p20"/>
          <p:cNvSpPr txBox="1"/>
          <p:nvPr/>
        </p:nvSpPr>
        <p:spPr>
          <a:xfrm>
            <a:off x="662940" y="2761487"/>
            <a:ext cx="740664"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170">
                <a:solidFill>
                  <a:srgbClr val="0DAE9A"/>
                </a:solidFill>
                <a:latin typeface="Arial"/>
                <a:ea typeface="Arial"/>
                <a:cs typeface="Arial"/>
                <a:sym typeface="Arial"/>
              </a:rPr>
              <a:t>R2</a:t>
            </a:r>
            <a:endParaRPr/>
          </a:p>
        </p:txBody>
      </p:sp>
      <p:sp>
        <p:nvSpPr>
          <p:cNvPr id="736" name="Google Shape;736;p20"/>
          <p:cNvSpPr/>
          <p:nvPr/>
        </p:nvSpPr>
        <p:spPr>
          <a:xfrm>
            <a:off x="1435608" y="2715768"/>
            <a:ext cx="2125980" cy="507491"/>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7" name="Google Shape;737;p20"/>
          <p:cNvSpPr txBox="1"/>
          <p:nvPr/>
        </p:nvSpPr>
        <p:spPr>
          <a:xfrm>
            <a:off x="1485900" y="2761487"/>
            <a:ext cx="2066544"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layer4</a:t>
            </a:r>
            <a:endParaRPr/>
          </a:p>
        </p:txBody>
      </p:sp>
      <p:sp>
        <p:nvSpPr>
          <p:cNvPr id="738" name="Google Shape;738;p20"/>
          <p:cNvSpPr/>
          <p:nvPr/>
        </p:nvSpPr>
        <p:spPr>
          <a:xfrm>
            <a:off x="3584448" y="2715768"/>
            <a:ext cx="1842516" cy="507491"/>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9" name="Google Shape;739;p20"/>
          <p:cNvSpPr txBox="1"/>
          <p:nvPr/>
        </p:nvSpPr>
        <p:spPr>
          <a:xfrm>
            <a:off x="3634740" y="2761487"/>
            <a:ext cx="1783080"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0.0001</a:t>
            </a:r>
            <a:endParaRPr/>
          </a:p>
        </p:txBody>
      </p:sp>
      <p:sp>
        <p:nvSpPr>
          <p:cNvPr id="740" name="Google Shape;740;p20"/>
          <p:cNvSpPr/>
          <p:nvPr/>
        </p:nvSpPr>
        <p:spPr>
          <a:xfrm>
            <a:off x="5449824" y="2715768"/>
            <a:ext cx="1394460" cy="507491"/>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1" name="Google Shape;741;p20"/>
          <p:cNvSpPr txBox="1"/>
          <p:nvPr/>
        </p:nvSpPr>
        <p:spPr>
          <a:xfrm>
            <a:off x="5500116" y="2761487"/>
            <a:ext cx="1335024"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0.931</a:t>
            </a:r>
            <a:endParaRPr/>
          </a:p>
        </p:txBody>
      </p:sp>
      <p:sp>
        <p:nvSpPr>
          <p:cNvPr id="742" name="Google Shape;742;p20"/>
          <p:cNvSpPr/>
          <p:nvPr/>
        </p:nvSpPr>
        <p:spPr>
          <a:xfrm>
            <a:off x="6867144" y="2715768"/>
            <a:ext cx="1394460" cy="507491"/>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3" name="Google Shape;743;p20"/>
          <p:cNvSpPr txBox="1"/>
          <p:nvPr/>
        </p:nvSpPr>
        <p:spPr>
          <a:xfrm>
            <a:off x="6917436" y="2761487"/>
            <a:ext cx="1335024"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0.839</a:t>
            </a:r>
            <a:endParaRPr/>
          </a:p>
        </p:txBody>
      </p:sp>
      <p:sp>
        <p:nvSpPr>
          <p:cNvPr id="744" name="Google Shape;744;p20"/>
          <p:cNvSpPr/>
          <p:nvPr/>
        </p:nvSpPr>
        <p:spPr>
          <a:xfrm>
            <a:off x="8284464" y="2715768"/>
            <a:ext cx="1394460" cy="507491"/>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5" name="Google Shape;745;p20"/>
          <p:cNvSpPr txBox="1"/>
          <p:nvPr/>
        </p:nvSpPr>
        <p:spPr>
          <a:xfrm>
            <a:off x="8334756" y="2761487"/>
            <a:ext cx="1335024"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+0.092</a:t>
            </a:r>
            <a:endParaRPr/>
          </a:p>
        </p:txBody>
      </p:sp>
      <p:sp>
        <p:nvSpPr>
          <p:cNvPr id="746" name="Google Shape;746;p20"/>
          <p:cNvSpPr/>
          <p:nvPr/>
        </p:nvSpPr>
        <p:spPr>
          <a:xfrm>
            <a:off x="9701784" y="2715768"/>
            <a:ext cx="1650492" cy="507491"/>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7" name="Google Shape;747;p20"/>
          <p:cNvSpPr txBox="1"/>
          <p:nvPr/>
        </p:nvSpPr>
        <p:spPr>
          <a:xfrm>
            <a:off x="9752076" y="2761487"/>
            <a:ext cx="1591056"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12</a:t>
            </a:r>
            <a:endParaRPr/>
          </a:p>
        </p:txBody>
      </p:sp>
      <p:sp>
        <p:nvSpPr>
          <p:cNvPr id="748" name="Google Shape;748;p20"/>
          <p:cNvSpPr/>
          <p:nvPr/>
        </p:nvSpPr>
        <p:spPr>
          <a:xfrm>
            <a:off x="612648" y="3236976"/>
            <a:ext cx="800100" cy="507491"/>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9" name="Google Shape;749;p20"/>
          <p:cNvSpPr txBox="1"/>
          <p:nvPr/>
        </p:nvSpPr>
        <p:spPr>
          <a:xfrm>
            <a:off x="662940" y="3282696"/>
            <a:ext cx="740664"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170">
                <a:solidFill>
                  <a:srgbClr val="0DAE9A"/>
                </a:solidFill>
                <a:latin typeface="Arial"/>
                <a:ea typeface="Arial"/>
                <a:cs typeface="Arial"/>
                <a:sym typeface="Arial"/>
              </a:rPr>
              <a:t>R3</a:t>
            </a:r>
            <a:endParaRPr/>
          </a:p>
        </p:txBody>
      </p:sp>
      <p:sp>
        <p:nvSpPr>
          <p:cNvPr id="750" name="Google Shape;750;p20"/>
          <p:cNvSpPr/>
          <p:nvPr/>
        </p:nvSpPr>
        <p:spPr>
          <a:xfrm>
            <a:off x="1435608" y="3236976"/>
            <a:ext cx="2125980" cy="507491"/>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1" name="Google Shape;751;p20"/>
          <p:cNvSpPr txBox="1"/>
          <p:nvPr/>
        </p:nvSpPr>
        <p:spPr>
          <a:xfrm>
            <a:off x="1485900" y="3282696"/>
            <a:ext cx="2066544"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layer3+layer4</a:t>
            </a:r>
            <a:endParaRPr/>
          </a:p>
        </p:txBody>
      </p:sp>
      <p:sp>
        <p:nvSpPr>
          <p:cNvPr id="752" name="Google Shape;752;p20"/>
          <p:cNvSpPr/>
          <p:nvPr/>
        </p:nvSpPr>
        <p:spPr>
          <a:xfrm>
            <a:off x="3584448" y="3236976"/>
            <a:ext cx="1842516" cy="507491"/>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3" name="Google Shape;753;p20"/>
          <p:cNvSpPr txBox="1"/>
          <p:nvPr/>
        </p:nvSpPr>
        <p:spPr>
          <a:xfrm>
            <a:off x="3634740" y="3282696"/>
            <a:ext cx="1783080"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0.0001</a:t>
            </a:r>
            <a:endParaRPr/>
          </a:p>
        </p:txBody>
      </p:sp>
      <p:sp>
        <p:nvSpPr>
          <p:cNvPr id="754" name="Google Shape;754;p20"/>
          <p:cNvSpPr/>
          <p:nvPr/>
        </p:nvSpPr>
        <p:spPr>
          <a:xfrm>
            <a:off x="5449824" y="3236976"/>
            <a:ext cx="1394460" cy="507491"/>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5" name="Google Shape;755;p20"/>
          <p:cNvSpPr txBox="1"/>
          <p:nvPr/>
        </p:nvSpPr>
        <p:spPr>
          <a:xfrm>
            <a:off x="5500116" y="3282696"/>
            <a:ext cx="1335024"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0.906</a:t>
            </a:r>
            <a:endParaRPr/>
          </a:p>
        </p:txBody>
      </p:sp>
      <p:sp>
        <p:nvSpPr>
          <p:cNvPr id="756" name="Google Shape;756;p20"/>
          <p:cNvSpPr/>
          <p:nvPr/>
        </p:nvSpPr>
        <p:spPr>
          <a:xfrm>
            <a:off x="6867144" y="3236976"/>
            <a:ext cx="1394460" cy="507491"/>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7" name="Google Shape;757;p20"/>
          <p:cNvSpPr txBox="1"/>
          <p:nvPr/>
        </p:nvSpPr>
        <p:spPr>
          <a:xfrm>
            <a:off x="6917436" y="3282696"/>
            <a:ext cx="1335024"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0.839</a:t>
            </a:r>
            <a:endParaRPr/>
          </a:p>
        </p:txBody>
      </p:sp>
      <p:sp>
        <p:nvSpPr>
          <p:cNvPr id="758" name="Google Shape;758;p20"/>
          <p:cNvSpPr/>
          <p:nvPr/>
        </p:nvSpPr>
        <p:spPr>
          <a:xfrm>
            <a:off x="8284464" y="3236976"/>
            <a:ext cx="1394460" cy="507491"/>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9" name="Google Shape;759;p20"/>
          <p:cNvSpPr txBox="1"/>
          <p:nvPr/>
        </p:nvSpPr>
        <p:spPr>
          <a:xfrm>
            <a:off x="8334756" y="3282696"/>
            <a:ext cx="1335024"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+0.067</a:t>
            </a:r>
            <a:endParaRPr/>
          </a:p>
        </p:txBody>
      </p:sp>
      <p:sp>
        <p:nvSpPr>
          <p:cNvPr id="760" name="Google Shape;760;p20"/>
          <p:cNvSpPr/>
          <p:nvPr/>
        </p:nvSpPr>
        <p:spPr>
          <a:xfrm>
            <a:off x="9701784" y="3236976"/>
            <a:ext cx="1650492" cy="507491"/>
          </a:xfrm>
          <a:prstGeom prst="rect">
            <a:avLst/>
          </a:prstGeom>
          <a:solidFill>
            <a:srgbClr val="E8F6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1" name="Google Shape;761;p20"/>
          <p:cNvSpPr txBox="1"/>
          <p:nvPr/>
        </p:nvSpPr>
        <p:spPr>
          <a:xfrm>
            <a:off x="9752076" y="3282696"/>
            <a:ext cx="1591056"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11</a:t>
            </a:r>
            <a:endParaRPr/>
          </a:p>
        </p:txBody>
      </p:sp>
      <p:sp>
        <p:nvSpPr>
          <p:cNvPr id="762" name="Google Shape;762;p20"/>
          <p:cNvSpPr/>
          <p:nvPr/>
        </p:nvSpPr>
        <p:spPr>
          <a:xfrm>
            <a:off x="612648" y="3758183"/>
            <a:ext cx="800100" cy="507491"/>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3" name="Google Shape;763;p20"/>
          <p:cNvSpPr txBox="1"/>
          <p:nvPr/>
        </p:nvSpPr>
        <p:spPr>
          <a:xfrm>
            <a:off x="662940" y="3803903"/>
            <a:ext cx="740664"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170">
                <a:solidFill>
                  <a:srgbClr val="203148"/>
                </a:solidFill>
                <a:latin typeface="Arial"/>
                <a:ea typeface="Arial"/>
                <a:cs typeface="Arial"/>
                <a:sym typeface="Arial"/>
              </a:rPr>
              <a:t>R4</a:t>
            </a:r>
            <a:endParaRPr/>
          </a:p>
        </p:txBody>
      </p:sp>
      <p:sp>
        <p:nvSpPr>
          <p:cNvPr id="764" name="Google Shape;764;p20"/>
          <p:cNvSpPr/>
          <p:nvPr/>
        </p:nvSpPr>
        <p:spPr>
          <a:xfrm>
            <a:off x="1435608" y="3758183"/>
            <a:ext cx="2125980" cy="507491"/>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5" name="Google Shape;765;p20"/>
          <p:cNvSpPr txBox="1"/>
          <p:nvPr/>
        </p:nvSpPr>
        <p:spPr>
          <a:xfrm>
            <a:off x="1485900" y="3803903"/>
            <a:ext cx="2066544"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layer4</a:t>
            </a:r>
            <a:endParaRPr/>
          </a:p>
        </p:txBody>
      </p:sp>
      <p:sp>
        <p:nvSpPr>
          <p:cNvPr id="766" name="Google Shape;766;p20"/>
          <p:cNvSpPr/>
          <p:nvPr/>
        </p:nvSpPr>
        <p:spPr>
          <a:xfrm>
            <a:off x="3584448" y="3758183"/>
            <a:ext cx="1842516" cy="507491"/>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7" name="Google Shape;767;p20"/>
          <p:cNvSpPr txBox="1"/>
          <p:nvPr/>
        </p:nvSpPr>
        <p:spPr>
          <a:xfrm>
            <a:off x="3634740" y="3803903"/>
            <a:ext cx="1783080"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0.0001</a:t>
            </a:r>
            <a:endParaRPr/>
          </a:p>
        </p:txBody>
      </p:sp>
      <p:sp>
        <p:nvSpPr>
          <p:cNvPr id="768" name="Google Shape;768;p20"/>
          <p:cNvSpPr/>
          <p:nvPr/>
        </p:nvSpPr>
        <p:spPr>
          <a:xfrm>
            <a:off x="5449824" y="3758183"/>
            <a:ext cx="1394460" cy="507491"/>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9" name="Google Shape;769;p20"/>
          <p:cNvSpPr txBox="1"/>
          <p:nvPr/>
        </p:nvSpPr>
        <p:spPr>
          <a:xfrm>
            <a:off x="5500116" y="3803903"/>
            <a:ext cx="1335024"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0.980</a:t>
            </a:r>
            <a:endParaRPr/>
          </a:p>
        </p:txBody>
      </p:sp>
      <p:sp>
        <p:nvSpPr>
          <p:cNvPr id="770" name="Google Shape;770;p20"/>
          <p:cNvSpPr/>
          <p:nvPr/>
        </p:nvSpPr>
        <p:spPr>
          <a:xfrm>
            <a:off x="6867144" y="3758183"/>
            <a:ext cx="1394460" cy="507491"/>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1" name="Google Shape;771;p20"/>
          <p:cNvSpPr txBox="1"/>
          <p:nvPr/>
        </p:nvSpPr>
        <p:spPr>
          <a:xfrm>
            <a:off x="6917436" y="3803903"/>
            <a:ext cx="1335024"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0.815</a:t>
            </a:r>
            <a:endParaRPr/>
          </a:p>
        </p:txBody>
      </p:sp>
      <p:sp>
        <p:nvSpPr>
          <p:cNvPr id="772" name="Google Shape;772;p20"/>
          <p:cNvSpPr/>
          <p:nvPr/>
        </p:nvSpPr>
        <p:spPr>
          <a:xfrm>
            <a:off x="8284464" y="3758183"/>
            <a:ext cx="1394460" cy="507491"/>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3" name="Google Shape;773;p20"/>
          <p:cNvSpPr txBox="1"/>
          <p:nvPr/>
        </p:nvSpPr>
        <p:spPr>
          <a:xfrm>
            <a:off x="8334756" y="3803903"/>
            <a:ext cx="1335024"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+0.165</a:t>
            </a:r>
            <a:endParaRPr/>
          </a:p>
        </p:txBody>
      </p:sp>
      <p:sp>
        <p:nvSpPr>
          <p:cNvPr id="774" name="Google Shape;774;p20"/>
          <p:cNvSpPr/>
          <p:nvPr/>
        </p:nvSpPr>
        <p:spPr>
          <a:xfrm>
            <a:off x="9701784" y="3758183"/>
            <a:ext cx="1650492" cy="507491"/>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5" name="Google Shape;775;p20"/>
          <p:cNvSpPr txBox="1"/>
          <p:nvPr/>
        </p:nvSpPr>
        <p:spPr>
          <a:xfrm>
            <a:off x="9752076" y="3803903"/>
            <a:ext cx="1591056"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13</a:t>
            </a:r>
            <a:endParaRPr/>
          </a:p>
        </p:txBody>
      </p:sp>
      <p:sp>
        <p:nvSpPr>
          <p:cNvPr id="776" name="Google Shape;776;p20"/>
          <p:cNvSpPr/>
          <p:nvPr/>
        </p:nvSpPr>
        <p:spPr>
          <a:xfrm>
            <a:off x="612648" y="4279392"/>
            <a:ext cx="800100" cy="507491"/>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7" name="Google Shape;777;p20"/>
          <p:cNvSpPr txBox="1"/>
          <p:nvPr/>
        </p:nvSpPr>
        <p:spPr>
          <a:xfrm>
            <a:off x="662940" y="4325112"/>
            <a:ext cx="740664"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170">
                <a:solidFill>
                  <a:srgbClr val="203148"/>
                </a:solidFill>
                <a:latin typeface="Arial"/>
                <a:ea typeface="Arial"/>
                <a:cs typeface="Arial"/>
                <a:sym typeface="Arial"/>
              </a:rPr>
              <a:t>R5</a:t>
            </a:r>
            <a:endParaRPr/>
          </a:p>
        </p:txBody>
      </p:sp>
      <p:sp>
        <p:nvSpPr>
          <p:cNvPr id="778" name="Google Shape;778;p20"/>
          <p:cNvSpPr/>
          <p:nvPr/>
        </p:nvSpPr>
        <p:spPr>
          <a:xfrm>
            <a:off x="1435608" y="4279392"/>
            <a:ext cx="2125980" cy="507491"/>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9" name="Google Shape;779;p20"/>
          <p:cNvSpPr txBox="1"/>
          <p:nvPr/>
        </p:nvSpPr>
        <p:spPr>
          <a:xfrm>
            <a:off x="1485900" y="4325112"/>
            <a:ext cx="2066544"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layer4</a:t>
            </a:r>
            <a:endParaRPr/>
          </a:p>
        </p:txBody>
      </p:sp>
      <p:sp>
        <p:nvSpPr>
          <p:cNvPr id="780" name="Google Shape;780;p20"/>
          <p:cNvSpPr/>
          <p:nvPr/>
        </p:nvSpPr>
        <p:spPr>
          <a:xfrm>
            <a:off x="3584448" y="4279392"/>
            <a:ext cx="1842516" cy="507491"/>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1" name="Google Shape;781;p20"/>
          <p:cNvSpPr txBox="1"/>
          <p:nvPr/>
        </p:nvSpPr>
        <p:spPr>
          <a:xfrm>
            <a:off x="3634740" y="4325112"/>
            <a:ext cx="1783080"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0.001</a:t>
            </a:r>
            <a:endParaRPr/>
          </a:p>
        </p:txBody>
      </p:sp>
      <p:sp>
        <p:nvSpPr>
          <p:cNvPr id="782" name="Google Shape;782;p20"/>
          <p:cNvSpPr/>
          <p:nvPr/>
        </p:nvSpPr>
        <p:spPr>
          <a:xfrm>
            <a:off x="5449824" y="4279392"/>
            <a:ext cx="1394460" cy="507491"/>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3" name="Google Shape;783;p20"/>
          <p:cNvSpPr txBox="1"/>
          <p:nvPr/>
        </p:nvSpPr>
        <p:spPr>
          <a:xfrm>
            <a:off x="5500116" y="4325112"/>
            <a:ext cx="1335024"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0.953</a:t>
            </a:r>
            <a:endParaRPr/>
          </a:p>
        </p:txBody>
      </p:sp>
      <p:sp>
        <p:nvSpPr>
          <p:cNvPr id="784" name="Google Shape;784;p20"/>
          <p:cNvSpPr/>
          <p:nvPr/>
        </p:nvSpPr>
        <p:spPr>
          <a:xfrm>
            <a:off x="6867144" y="4279392"/>
            <a:ext cx="1394460" cy="507491"/>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5" name="Google Shape;785;p20"/>
          <p:cNvSpPr txBox="1"/>
          <p:nvPr/>
        </p:nvSpPr>
        <p:spPr>
          <a:xfrm>
            <a:off x="6917436" y="4325112"/>
            <a:ext cx="1335024"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0.832</a:t>
            </a:r>
            <a:endParaRPr/>
          </a:p>
        </p:txBody>
      </p:sp>
      <p:sp>
        <p:nvSpPr>
          <p:cNvPr id="786" name="Google Shape;786;p20"/>
          <p:cNvSpPr/>
          <p:nvPr/>
        </p:nvSpPr>
        <p:spPr>
          <a:xfrm>
            <a:off x="8284464" y="4279392"/>
            <a:ext cx="1394460" cy="507491"/>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7" name="Google Shape;787;p20"/>
          <p:cNvSpPr txBox="1"/>
          <p:nvPr/>
        </p:nvSpPr>
        <p:spPr>
          <a:xfrm>
            <a:off x="8334756" y="4325112"/>
            <a:ext cx="1335024"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+0.121</a:t>
            </a:r>
            <a:endParaRPr/>
          </a:p>
        </p:txBody>
      </p:sp>
      <p:sp>
        <p:nvSpPr>
          <p:cNvPr id="788" name="Google Shape;788;p20"/>
          <p:cNvSpPr/>
          <p:nvPr/>
        </p:nvSpPr>
        <p:spPr>
          <a:xfrm>
            <a:off x="9701784" y="4279392"/>
            <a:ext cx="1650492" cy="507491"/>
          </a:xfrm>
          <a:prstGeom prst="rect">
            <a:avLst/>
          </a:prstGeom>
          <a:solidFill>
            <a:srgbClr val="F3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9" name="Google Shape;789;p20"/>
          <p:cNvSpPr txBox="1"/>
          <p:nvPr/>
        </p:nvSpPr>
        <p:spPr>
          <a:xfrm>
            <a:off x="9752076" y="4325112"/>
            <a:ext cx="1591056"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20</a:t>
            </a:r>
            <a:endParaRPr/>
          </a:p>
        </p:txBody>
      </p:sp>
      <p:sp>
        <p:nvSpPr>
          <p:cNvPr id="790" name="Google Shape;790;p20"/>
          <p:cNvSpPr/>
          <p:nvPr/>
        </p:nvSpPr>
        <p:spPr>
          <a:xfrm>
            <a:off x="612648" y="4800600"/>
            <a:ext cx="800100" cy="507491"/>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1" name="Google Shape;791;p20"/>
          <p:cNvSpPr txBox="1"/>
          <p:nvPr/>
        </p:nvSpPr>
        <p:spPr>
          <a:xfrm>
            <a:off x="662940" y="4846320"/>
            <a:ext cx="740664"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170">
                <a:solidFill>
                  <a:srgbClr val="203148"/>
                </a:solidFill>
                <a:latin typeface="Arial"/>
                <a:ea typeface="Arial"/>
                <a:cs typeface="Arial"/>
                <a:sym typeface="Arial"/>
              </a:rPr>
              <a:t>R6</a:t>
            </a:r>
            <a:endParaRPr/>
          </a:p>
        </p:txBody>
      </p:sp>
      <p:sp>
        <p:nvSpPr>
          <p:cNvPr id="792" name="Google Shape;792;p20"/>
          <p:cNvSpPr/>
          <p:nvPr/>
        </p:nvSpPr>
        <p:spPr>
          <a:xfrm>
            <a:off x="1435608" y="4800600"/>
            <a:ext cx="2125980" cy="507491"/>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3" name="Google Shape;793;p20"/>
          <p:cNvSpPr txBox="1"/>
          <p:nvPr/>
        </p:nvSpPr>
        <p:spPr>
          <a:xfrm>
            <a:off x="1485900" y="4846320"/>
            <a:ext cx="2066544"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layer4</a:t>
            </a:r>
            <a:endParaRPr/>
          </a:p>
        </p:txBody>
      </p:sp>
      <p:sp>
        <p:nvSpPr>
          <p:cNvPr id="794" name="Google Shape;794;p20"/>
          <p:cNvSpPr/>
          <p:nvPr/>
        </p:nvSpPr>
        <p:spPr>
          <a:xfrm>
            <a:off x="3584448" y="4800600"/>
            <a:ext cx="1842516" cy="507491"/>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5" name="Google Shape;795;p20"/>
          <p:cNvSpPr txBox="1"/>
          <p:nvPr/>
        </p:nvSpPr>
        <p:spPr>
          <a:xfrm>
            <a:off x="3634740" y="4846320"/>
            <a:ext cx="1783080"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0.0001</a:t>
            </a:r>
            <a:endParaRPr/>
          </a:p>
        </p:txBody>
      </p:sp>
      <p:sp>
        <p:nvSpPr>
          <p:cNvPr id="796" name="Google Shape;796;p20"/>
          <p:cNvSpPr/>
          <p:nvPr/>
        </p:nvSpPr>
        <p:spPr>
          <a:xfrm>
            <a:off x="5449824" y="4800600"/>
            <a:ext cx="1394460" cy="507491"/>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7" name="Google Shape;797;p20"/>
          <p:cNvSpPr txBox="1"/>
          <p:nvPr/>
        </p:nvSpPr>
        <p:spPr>
          <a:xfrm>
            <a:off x="5500116" y="4846320"/>
            <a:ext cx="1335024"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0.954</a:t>
            </a:r>
            <a:endParaRPr/>
          </a:p>
        </p:txBody>
      </p:sp>
      <p:sp>
        <p:nvSpPr>
          <p:cNvPr id="798" name="Google Shape;798;p20"/>
          <p:cNvSpPr/>
          <p:nvPr/>
        </p:nvSpPr>
        <p:spPr>
          <a:xfrm>
            <a:off x="6867144" y="4800600"/>
            <a:ext cx="1394460" cy="507491"/>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9" name="Google Shape;799;p20"/>
          <p:cNvSpPr txBox="1"/>
          <p:nvPr/>
        </p:nvSpPr>
        <p:spPr>
          <a:xfrm>
            <a:off x="6917436" y="4846320"/>
            <a:ext cx="1335024"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0.826</a:t>
            </a:r>
            <a:endParaRPr/>
          </a:p>
        </p:txBody>
      </p:sp>
      <p:sp>
        <p:nvSpPr>
          <p:cNvPr id="800" name="Google Shape;800;p20"/>
          <p:cNvSpPr/>
          <p:nvPr/>
        </p:nvSpPr>
        <p:spPr>
          <a:xfrm>
            <a:off x="8284464" y="4800600"/>
            <a:ext cx="1394460" cy="507491"/>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1" name="Google Shape;801;p20"/>
          <p:cNvSpPr txBox="1"/>
          <p:nvPr/>
        </p:nvSpPr>
        <p:spPr>
          <a:xfrm>
            <a:off x="8334756" y="4846320"/>
            <a:ext cx="1335024"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+0.128</a:t>
            </a:r>
            <a:endParaRPr/>
          </a:p>
        </p:txBody>
      </p:sp>
      <p:sp>
        <p:nvSpPr>
          <p:cNvPr id="802" name="Google Shape;802;p20"/>
          <p:cNvSpPr/>
          <p:nvPr/>
        </p:nvSpPr>
        <p:spPr>
          <a:xfrm>
            <a:off x="9701784" y="4800600"/>
            <a:ext cx="1650492" cy="507491"/>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3" name="Google Shape;803;p20"/>
          <p:cNvSpPr txBox="1"/>
          <p:nvPr/>
        </p:nvSpPr>
        <p:spPr>
          <a:xfrm>
            <a:off x="9752076" y="4846320"/>
            <a:ext cx="1591056" cy="438912"/>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170">
                <a:solidFill>
                  <a:srgbClr val="203148"/>
                </a:solidFill>
                <a:latin typeface="Arial"/>
                <a:ea typeface="Arial"/>
                <a:cs typeface="Arial"/>
                <a:sym typeface="Arial"/>
              </a:rPr>
              <a:t>13</a:t>
            </a:r>
            <a:endParaRPr/>
          </a:p>
        </p:txBody>
      </p:sp>
      <p:sp>
        <p:nvSpPr>
          <p:cNvPr id="804" name="Google Shape;804;p20"/>
          <p:cNvSpPr/>
          <p:nvPr/>
        </p:nvSpPr>
        <p:spPr>
          <a:xfrm>
            <a:off x="658368" y="6117336"/>
            <a:ext cx="10817352" cy="420624"/>
          </a:xfrm>
          <a:prstGeom prst="roundRect">
            <a:avLst>
              <a:gd fmla="val 15000" name="adj"/>
            </a:avLst>
          </a:prstGeom>
          <a:solidFill>
            <a:srgbClr val="EDF5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5" name="Google Shape;805;p20"/>
          <p:cNvSpPr txBox="1"/>
          <p:nvPr/>
        </p:nvSpPr>
        <p:spPr>
          <a:xfrm>
            <a:off x="822960" y="6190488"/>
            <a:ext cx="10469880" cy="2651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200">
                <a:solidFill>
                  <a:srgbClr val="203148"/>
                </a:solidFill>
                <a:latin typeface="Arial"/>
                <a:ea typeface="Arial"/>
                <a:cs typeface="Arial"/>
                <a:sym typeface="Arial"/>
              </a:rPr>
              <a:t>R2 ≈ R3 on validation (83.9%); R2 is more parameter-efficient, while the R3 checkpoint is reported as the test model.</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9" name="Shape 809"/>
        <p:cNvGrpSpPr/>
        <p:nvPr/>
      </p:nvGrpSpPr>
      <p:grpSpPr>
        <a:xfrm>
          <a:off x="0" y="0"/>
          <a:ext cx="0" cy="0"/>
          <a:chOff x="0" y="0"/>
          <a:chExt cx="0" cy="0"/>
        </a:xfrm>
      </p:grpSpPr>
      <p:sp>
        <p:nvSpPr>
          <p:cNvPr id="810" name="Google Shape;810;p21"/>
          <p:cNvSpPr/>
          <p:nvPr/>
        </p:nvSpPr>
        <p:spPr>
          <a:xfrm>
            <a:off x="566928" y="548640"/>
            <a:ext cx="1051560" cy="41148"/>
          </a:xfrm>
          <a:prstGeom prst="rect">
            <a:avLst/>
          </a:prstGeom>
          <a:solidFill>
            <a:srgbClr val="0DAE9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1" name="Google Shape;811;p21"/>
          <p:cNvSpPr txBox="1"/>
          <p:nvPr/>
        </p:nvSpPr>
        <p:spPr>
          <a:xfrm>
            <a:off x="566928" y="274320"/>
            <a:ext cx="10058400" cy="21945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00">
                <a:solidFill>
                  <a:srgbClr val="0DAE9A"/>
                </a:solidFill>
                <a:latin typeface="Arial"/>
                <a:ea typeface="Arial"/>
                <a:cs typeface="Arial"/>
                <a:sym typeface="Arial"/>
              </a:rPr>
              <a:t>APPENDIX · Q&amp;A</a:t>
            </a:r>
            <a:endParaRPr/>
          </a:p>
        </p:txBody>
      </p:sp>
      <p:sp>
        <p:nvSpPr>
          <p:cNvPr id="812" name="Google Shape;812;p21"/>
          <p:cNvSpPr txBox="1"/>
          <p:nvPr/>
        </p:nvSpPr>
        <p:spPr>
          <a:xfrm>
            <a:off x="566928" y="694944"/>
            <a:ext cx="10972800" cy="5669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2700">
                <a:solidFill>
                  <a:srgbClr val="101A2B"/>
                </a:solidFill>
                <a:latin typeface="Arial"/>
                <a:ea typeface="Arial"/>
                <a:cs typeface="Arial"/>
                <a:sym typeface="Arial"/>
              </a:rPr>
              <a:t>Backup · Full 21-class accuracy comparison</a:t>
            </a:r>
            <a:endParaRPr/>
          </a:p>
        </p:txBody>
      </p:sp>
      <p:sp>
        <p:nvSpPr>
          <p:cNvPr id="813" name="Google Shape;813;p21"/>
          <p:cNvSpPr txBox="1"/>
          <p:nvPr/>
        </p:nvSpPr>
        <p:spPr>
          <a:xfrm>
            <a:off x="11018520" y="6492240"/>
            <a:ext cx="594360" cy="18288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00">
                <a:solidFill>
                  <a:srgbClr val="718198"/>
                </a:solidFill>
                <a:latin typeface="Arial"/>
                <a:ea typeface="Arial"/>
                <a:cs typeface="Arial"/>
                <a:sym typeface="Arial"/>
              </a:rPr>
              <a:t>19</a:t>
            </a:r>
            <a:endParaRPr/>
          </a:p>
        </p:txBody>
      </p:sp>
      <p:sp>
        <p:nvSpPr>
          <p:cNvPr id="814" name="Google Shape;814;p21"/>
          <p:cNvSpPr/>
          <p:nvPr/>
        </p:nvSpPr>
        <p:spPr>
          <a:xfrm>
            <a:off x="731520" y="1280160"/>
            <a:ext cx="2766060" cy="374904"/>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5" name="Google Shape;815;p21"/>
          <p:cNvSpPr txBox="1"/>
          <p:nvPr/>
        </p:nvSpPr>
        <p:spPr>
          <a:xfrm>
            <a:off x="795528" y="1339595"/>
            <a:ext cx="2670048" cy="301751"/>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100">
                <a:solidFill>
                  <a:srgbClr val="FFFFFF"/>
                </a:solidFill>
                <a:latin typeface="Arial"/>
                <a:ea typeface="Arial"/>
                <a:cs typeface="Arial"/>
                <a:sym typeface="Arial"/>
              </a:rPr>
              <a:t>Food category</a:t>
            </a:r>
            <a:endParaRPr/>
          </a:p>
        </p:txBody>
      </p:sp>
      <p:sp>
        <p:nvSpPr>
          <p:cNvPr id="816" name="Google Shape;816;p21"/>
          <p:cNvSpPr/>
          <p:nvPr/>
        </p:nvSpPr>
        <p:spPr>
          <a:xfrm>
            <a:off x="3520439" y="1280160"/>
            <a:ext cx="891540" cy="374904"/>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7" name="Google Shape;817;p21"/>
          <p:cNvSpPr txBox="1"/>
          <p:nvPr/>
        </p:nvSpPr>
        <p:spPr>
          <a:xfrm>
            <a:off x="3584447" y="1339595"/>
            <a:ext cx="795528" cy="301751"/>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100">
                <a:solidFill>
                  <a:srgbClr val="FFFFFF"/>
                </a:solidFill>
                <a:latin typeface="Arial"/>
                <a:ea typeface="Arial"/>
                <a:cs typeface="Arial"/>
                <a:sym typeface="Arial"/>
              </a:rPr>
              <a:t>CNN</a:t>
            </a:r>
            <a:endParaRPr/>
          </a:p>
        </p:txBody>
      </p:sp>
      <p:sp>
        <p:nvSpPr>
          <p:cNvPr id="818" name="Google Shape;818;p21"/>
          <p:cNvSpPr/>
          <p:nvPr/>
        </p:nvSpPr>
        <p:spPr>
          <a:xfrm>
            <a:off x="4434840" y="1280160"/>
            <a:ext cx="982980" cy="374904"/>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9" name="Google Shape;819;p21"/>
          <p:cNvSpPr txBox="1"/>
          <p:nvPr/>
        </p:nvSpPr>
        <p:spPr>
          <a:xfrm>
            <a:off x="4498848" y="1339595"/>
            <a:ext cx="886968" cy="301751"/>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100">
                <a:solidFill>
                  <a:srgbClr val="FFFFFF"/>
                </a:solidFill>
                <a:latin typeface="Arial"/>
                <a:ea typeface="Arial"/>
                <a:cs typeface="Arial"/>
                <a:sym typeface="Arial"/>
              </a:rPr>
              <a:t>ResNet</a:t>
            </a:r>
            <a:endParaRPr/>
          </a:p>
        </p:txBody>
      </p:sp>
      <p:sp>
        <p:nvSpPr>
          <p:cNvPr id="820" name="Google Shape;820;p21"/>
          <p:cNvSpPr/>
          <p:nvPr/>
        </p:nvSpPr>
        <p:spPr>
          <a:xfrm>
            <a:off x="5440679" y="1280160"/>
            <a:ext cx="891540" cy="374904"/>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1" name="Google Shape;821;p21"/>
          <p:cNvSpPr txBox="1"/>
          <p:nvPr/>
        </p:nvSpPr>
        <p:spPr>
          <a:xfrm>
            <a:off x="5504688" y="1339595"/>
            <a:ext cx="795528" cy="301751"/>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100">
                <a:solidFill>
                  <a:srgbClr val="FFFFFF"/>
                </a:solidFill>
                <a:latin typeface="Arial"/>
                <a:ea typeface="Arial"/>
                <a:cs typeface="Arial"/>
                <a:sym typeface="Arial"/>
              </a:rPr>
              <a:t>Gain</a:t>
            </a:r>
            <a:endParaRPr/>
          </a:p>
        </p:txBody>
      </p:sp>
      <p:sp>
        <p:nvSpPr>
          <p:cNvPr id="822" name="Google Shape;822;p21"/>
          <p:cNvSpPr/>
          <p:nvPr/>
        </p:nvSpPr>
        <p:spPr>
          <a:xfrm>
            <a:off x="731520" y="1645920"/>
            <a:ext cx="276148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3" name="Google Shape;823;p21"/>
          <p:cNvSpPr txBox="1"/>
          <p:nvPr/>
        </p:nvSpPr>
        <p:spPr>
          <a:xfrm>
            <a:off x="777240" y="1719072"/>
            <a:ext cx="272491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50">
                <a:solidFill>
                  <a:srgbClr val="203148"/>
                </a:solidFill>
                <a:latin typeface="Arial"/>
                <a:ea typeface="Arial"/>
                <a:cs typeface="Arial"/>
                <a:sym typeface="Arial"/>
              </a:rPr>
              <a:t>apple pie</a:t>
            </a:r>
            <a:endParaRPr/>
          </a:p>
        </p:txBody>
      </p:sp>
      <p:sp>
        <p:nvSpPr>
          <p:cNvPr id="824" name="Google Shape;824;p21"/>
          <p:cNvSpPr/>
          <p:nvPr/>
        </p:nvSpPr>
        <p:spPr>
          <a:xfrm>
            <a:off x="3520439" y="1645920"/>
            <a:ext cx="88696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5" name="Google Shape;825;p21"/>
          <p:cNvSpPr txBox="1"/>
          <p:nvPr/>
        </p:nvSpPr>
        <p:spPr>
          <a:xfrm>
            <a:off x="3566159" y="1719072"/>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4.0%</a:t>
            </a:r>
            <a:endParaRPr/>
          </a:p>
        </p:txBody>
      </p:sp>
      <p:sp>
        <p:nvSpPr>
          <p:cNvPr id="826" name="Google Shape;826;p21"/>
          <p:cNvSpPr/>
          <p:nvPr/>
        </p:nvSpPr>
        <p:spPr>
          <a:xfrm>
            <a:off x="4434840" y="1645920"/>
            <a:ext cx="97840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7" name="Google Shape;827;p21"/>
          <p:cNvSpPr txBox="1"/>
          <p:nvPr/>
        </p:nvSpPr>
        <p:spPr>
          <a:xfrm>
            <a:off x="4480559" y="1719072"/>
            <a:ext cx="94183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72.8%</a:t>
            </a:r>
            <a:endParaRPr/>
          </a:p>
        </p:txBody>
      </p:sp>
      <p:sp>
        <p:nvSpPr>
          <p:cNvPr id="828" name="Google Shape;828;p21"/>
          <p:cNvSpPr/>
          <p:nvPr/>
        </p:nvSpPr>
        <p:spPr>
          <a:xfrm>
            <a:off x="5440680" y="1645920"/>
            <a:ext cx="88696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9" name="Google Shape;829;p21"/>
          <p:cNvSpPr txBox="1"/>
          <p:nvPr/>
        </p:nvSpPr>
        <p:spPr>
          <a:xfrm>
            <a:off x="5486400" y="1719072"/>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+68.8 pp</a:t>
            </a:r>
            <a:endParaRPr/>
          </a:p>
        </p:txBody>
      </p:sp>
      <p:sp>
        <p:nvSpPr>
          <p:cNvPr id="830" name="Google Shape;830;p21"/>
          <p:cNvSpPr/>
          <p:nvPr/>
        </p:nvSpPr>
        <p:spPr>
          <a:xfrm>
            <a:off x="731520" y="2020824"/>
            <a:ext cx="276148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1" name="Google Shape;831;p21"/>
          <p:cNvSpPr txBox="1"/>
          <p:nvPr/>
        </p:nvSpPr>
        <p:spPr>
          <a:xfrm>
            <a:off x="777240" y="2093976"/>
            <a:ext cx="272491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50">
                <a:solidFill>
                  <a:srgbClr val="203148"/>
                </a:solidFill>
                <a:latin typeface="Arial"/>
                <a:ea typeface="Arial"/>
                <a:cs typeface="Arial"/>
                <a:sym typeface="Arial"/>
              </a:rPr>
              <a:t>baby back ribs</a:t>
            </a:r>
            <a:endParaRPr/>
          </a:p>
        </p:txBody>
      </p:sp>
      <p:sp>
        <p:nvSpPr>
          <p:cNvPr id="832" name="Google Shape;832;p21"/>
          <p:cNvSpPr/>
          <p:nvPr/>
        </p:nvSpPr>
        <p:spPr>
          <a:xfrm>
            <a:off x="3520439" y="2020824"/>
            <a:ext cx="88696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3" name="Google Shape;833;p21"/>
          <p:cNvSpPr txBox="1"/>
          <p:nvPr/>
        </p:nvSpPr>
        <p:spPr>
          <a:xfrm>
            <a:off x="3566159" y="2093976"/>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82.8%</a:t>
            </a:r>
            <a:endParaRPr/>
          </a:p>
        </p:txBody>
      </p:sp>
      <p:sp>
        <p:nvSpPr>
          <p:cNvPr id="834" name="Google Shape;834;p21"/>
          <p:cNvSpPr/>
          <p:nvPr/>
        </p:nvSpPr>
        <p:spPr>
          <a:xfrm>
            <a:off x="4434840" y="2020824"/>
            <a:ext cx="97840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5" name="Google Shape;835;p21"/>
          <p:cNvSpPr txBox="1"/>
          <p:nvPr/>
        </p:nvSpPr>
        <p:spPr>
          <a:xfrm>
            <a:off x="4480559" y="2093976"/>
            <a:ext cx="94183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91.2%</a:t>
            </a:r>
            <a:endParaRPr/>
          </a:p>
        </p:txBody>
      </p:sp>
      <p:sp>
        <p:nvSpPr>
          <p:cNvPr id="836" name="Google Shape;836;p21"/>
          <p:cNvSpPr/>
          <p:nvPr/>
        </p:nvSpPr>
        <p:spPr>
          <a:xfrm>
            <a:off x="5440680" y="2020824"/>
            <a:ext cx="88696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7" name="Google Shape;837;p21"/>
          <p:cNvSpPr txBox="1"/>
          <p:nvPr/>
        </p:nvSpPr>
        <p:spPr>
          <a:xfrm>
            <a:off x="5486400" y="2093976"/>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+8.4 pp</a:t>
            </a:r>
            <a:endParaRPr/>
          </a:p>
        </p:txBody>
      </p:sp>
      <p:sp>
        <p:nvSpPr>
          <p:cNvPr id="838" name="Google Shape;838;p21"/>
          <p:cNvSpPr/>
          <p:nvPr/>
        </p:nvSpPr>
        <p:spPr>
          <a:xfrm>
            <a:off x="731520" y="2395728"/>
            <a:ext cx="276148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9" name="Google Shape;839;p21"/>
          <p:cNvSpPr txBox="1"/>
          <p:nvPr/>
        </p:nvSpPr>
        <p:spPr>
          <a:xfrm>
            <a:off x="777240" y="2468880"/>
            <a:ext cx="272491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50">
                <a:solidFill>
                  <a:srgbClr val="203148"/>
                </a:solidFill>
                <a:latin typeface="Arial"/>
                <a:ea typeface="Arial"/>
                <a:cs typeface="Arial"/>
                <a:sym typeface="Arial"/>
              </a:rPr>
              <a:t>baklava</a:t>
            </a:r>
            <a:endParaRPr/>
          </a:p>
        </p:txBody>
      </p:sp>
      <p:sp>
        <p:nvSpPr>
          <p:cNvPr id="840" name="Google Shape;840;p21"/>
          <p:cNvSpPr/>
          <p:nvPr/>
        </p:nvSpPr>
        <p:spPr>
          <a:xfrm>
            <a:off x="3520439" y="2395728"/>
            <a:ext cx="88696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1" name="Google Shape;841;p21"/>
          <p:cNvSpPr txBox="1"/>
          <p:nvPr/>
        </p:nvSpPr>
        <p:spPr>
          <a:xfrm>
            <a:off x="3566159" y="2468880"/>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52.8%</a:t>
            </a:r>
            <a:endParaRPr/>
          </a:p>
        </p:txBody>
      </p:sp>
      <p:sp>
        <p:nvSpPr>
          <p:cNvPr id="842" name="Google Shape;842;p21"/>
          <p:cNvSpPr/>
          <p:nvPr/>
        </p:nvSpPr>
        <p:spPr>
          <a:xfrm>
            <a:off x="4434840" y="2395728"/>
            <a:ext cx="97840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3" name="Google Shape;843;p21"/>
          <p:cNvSpPr txBox="1"/>
          <p:nvPr/>
        </p:nvSpPr>
        <p:spPr>
          <a:xfrm>
            <a:off x="4480559" y="2468880"/>
            <a:ext cx="94183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89.6%</a:t>
            </a:r>
            <a:endParaRPr/>
          </a:p>
        </p:txBody>
      </p:sp>
      <p:sp>
        <p:nvSpPr>
          <p:cNvPr id="844" name="Google Shape;844;p21"/>
          <p:cNvSpPr/>
          <p:nvPr/>
        </p:nvSpPr>
        <p:spPr>
          <a:xfrm>
            <a:off x="5440680" y="2395728"/>
            <a:ext cx="88696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5" name="Google Shape;845;p21"/>
          <p:cNvSpPr txBox="1"/>
          <p:nvPr/>
        </p:nvSpPr>
        <p:spPr>
          <a:xfrm>
            <a:off x="5486400" y="2468880"/>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+36.8 pp</a:t>
            </a:r>
            <a:endParaRPr/>
          </a:p>
        </p:txBody>
      </p:sp>
      <p:sp>
        <p:nvSpPr>
          <p:cNvPr id="846" name="Google Shape;846;p21"/>
          <p:cNvSpPr/>
          <p:nvPr/>
        </p:nvSpPr>
        <p:spPr>
          <a:xfrm>
            <a:off x="731520" y="2770632"/>
            <a:ext cx="276148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7" name="Google Shape;847;p21"/>
          <p:cNvSpPr txBox="1"/>
          <p:nvPr/>
        </p:nvSpPr>
        <p:spPr>
          <a:xfrm>
            <a:off x="777240" y="2843784"/>
            <a:ext cx="272491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50">
                <a:solidFill>
                  <a:srgbClr val="203148"/>
                </a:solidFill>
                <a:latin typeface="Arial"/>
                <a:ea typeface="Arial"/>
                <a:cs typeface="Arial"/>
                <a:sym typeface="Arial"/>
              </a:rPr>
              <a:t>beef carpaccio</a:t>
            </a:r>
            <a:endParaRPr/>
          </a:p>
        </p:txBody>
      </p:sp>
      <p:sp>
        <p:nvSpPr>
          <p:cNvPr id="848" name="Google Shape;848;p21"/>
          <p:cNvSpPr/>
          <p:nvPr/>
        </p:nvSpPr>
        <p:spPr>
          <a:xfrm>
            <a:off x="3520439" y="2770632"/>
            <a:ext cx="88696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9" name="Google Shape;849;p21"/>
          <p:cNvSpPr txBox="1"/>
          <p:nvPr/>
        </p:nvSpPr>
        <p:spPr>
          <a:xfrm>
            <a:off x="3566159" y="2843784"/>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84.4%</a:t>
            </a:r>
            <a:endParaRPr/>
          </a:p>
        </p:txBody>
      </p:sp>
      <p:sp>
        <p:nvSpPr>
          <p:cNvPr id="850" name="Google Shape;850;p21"/>
          <p:cNvSpPr/>
          <p:nvPr/>
        </p:nvSpPr>
        <p:spPr>
          <a:xfrm>
            <a:off x="4434840" y="2770632"/>
            <a:ext cx="97840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1" name="Google Shape;851;p21"/>
          <p:cNvSpPr txBox="1"/>
          <p:nvPr/>
        </p:nvSpPr>
        <p:spPr>
          <a:xfrm>
            <a:off x="4480559" y="2843784"/>
            <a:ext cx="94183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92.4%</a:t>
            </a:r>
            <a:endParaRPr/>
          </a:p>
        </p:txBody>
      </p:sp>
      <p:sp>
        <p:nvSpPr>
          <p:cNvPr id="852" name="Google Shape;852;p21"/>
          <p:cNvSpPr/>
          <p:nvPr/>
        </p:nvSpPr>
        <p:spPr>
          <a:xfrm>
            <a:off x="5440680" y="2770632"/>
            <a:ext cx="88696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3" name="Google Shape;853;p21"/>
          <p:cNvSpPr txBox="1"/>
          <p:nvPr/>
        </p:nvSpPr>
        <p:spPr>
          <a:xfrm>
            <a:off x="5486400" y="2843784"/>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+8.0 pp</a:t>
            </a:r>
            <a:endParaRPr/>
          </a:p>
        </p:txBody>
      </p:sp>
      <p:sp>
        <p:nvSpPr>
          <p:cNvPr id="854" name="Google Shape;854;p21"/>
          <p:cNvSpPr/>
          <p:nvPr/>
        </p:nvSpPr>
        <p:spPr>
          <a:xfrm>
            <a:off x="731520" y="3145536"/>
            <a:ext cx="276148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5" name="Google Shape;855;p21"/>
          <p:cNvSpPr txBox="1"/>
          <p:nvPr/>
        </p:nvSpPr>
        <p:spPr>
          <a:xfrm>
            <a:off x="777240" y="3218688"/>
            <a:ext cx="272491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50">
                <a:solidFill>
                  <a:srgbClr val="203148"/>
                </a:solidFill>
                <a:latin typeface="Arial"/>
                <a:ea typeface="Arial"/>
                <a:cs typeface="Arial"/>
                <a:sym typeface="Arial"/>
              </a:rPr>
              <a:t>beef tartare</a:t>
            </a:r>
            <a:endParaRPr/>
          </a:p>
        </p:txBody>
      </p:sp>
      <p:sp>
        <p:nvSpPr>
          <p:cNvPr id="856" name="Google Shape;856;p21"/>
          <p:cNvSpPr/>
          <p:nvPr/>
        </p:nvSpPr>
        <p:spPr>
          <a:xfrm>
            <a:off x="3520439" y="3145536"/>
            <a:ext cx="88696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7" name="Google Shape;857;p21"/>
          <p:cNvSpPr txBox="1"/>
          <p:nvPr/>
        </p:nvSpPr>
        <p:spPr>
          <a:xfrm>
            <a:off x="3566159" y="3218688"/>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72.0%</a:t>
            </a:r>
            <a:endParaRPr/>
          </a:p>
        </p:txBody>
      </p:sp>
      <p:sp>
        <p:nvSpPr>
          <p:cNvPr id="858" name="Google Shape;858;p21"/>
          <p:cNvSpPr/>
          <p:nvPr/>
        </p:nvSpPr>
        <p:spPr>
          <a:xfrm>
            <a:off x="4434840" y="3145536"/>
            <a:ext cx="97840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9" name="Google Shape;859;p21"/>
          <p:cNvSpPr txBox="1"/>
          <p:nvPr/>
        </p:nvSpPr>
        <p:spPr>
          <a:xfrm>
            <a:off x="4480559" y="3218688"/>
            <a:ext cx="94183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91.6%</a:t>
            </a:r>
            <a:endParaRPr/>
          </a:p>
        </p:txBody>
      </p:sp>
      <p:sp>
        <p:nvSpPr>
          <p:cNvPr id="860" name="Google Shape;860;p21"/>
          <p:cNvSpPr/>
          <p:nvPr/>
        </p:nvSpPr>
        <p:spPr>
          <a:xfrm>
            <a:off x="5440680" y="3145536"/>
            <a:ext cx="88696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1" name="Google Shape;861;p21"/>
          <p:cNvSpPr txBox="1"/>
          <p:nvPr/>
        </p:nvSpPr>
        <p:spPr>
          <a:xfrm>
            <a:off x="5486400" y="3218688"/>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+19.6 pp</a:t>
            </a:r>
            <a:endParaRPr/>
          </a:p>
        </p:txBody>
      </p:sp>
      <p:sp>
        <p:nvSpPr>
          <p:cNvPr id="862" name="Google Shape;862;p21"/>
          <p:cNvSpPr/>
          <p:nvPr/>
        </p:nvSpPr>
        <p:spPr>
          <a:xfrm>
            <a:off x="731520" y="3520439"/>
            <a:ext cx="276148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3" name="Google Shape;863;p21"/>
          <p:cNvSpPr txBox="1"/>
          <p:nvPr/>
        </p:nvSpPr>
        <p:spPr>
          <a:xfrm>
            <a:off x="777240" y="3593591"/>
            <a:ext cx="272491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50">
                <a:solidFill>
                  <a:srgbClr val="203148"/>
                </a:solidFill>
                <a:latin typeface="Arial"/>
                <a:ea typeface="Arial"/>
                <a:cs typeface="Arial"/>
                <a:sym typeface="Arial"/>
              </a:rPr>
              <a:t>beet salad</a:t>
            </a:r>
            <a:endParaRPr/>
          </a:p>
        </p:txBody>
      </p:sp>
      <p:sp>
        <p:nvSpPr>
          <p:cNvPr id="864" name="Google Shape;864;p21"/>
          <p:cNvSpPr/>
          <p:nvPr/>
        </p:nvSpPr>
        <p:spPr>
          <a:xfrm>
            <a:off x="3520439" y="3520439"/>
            <a:ext cx="88696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5" name="Google Shape;865;p21"/>
          <p:cNvSpPr txBox="1"/>
          <p:nvPr/>
        </p:nvSpPr>
        <p:spPr>
          <a:xfrm>
            <a:off x="3566159" y="3593591"/>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56.0%</a:t>
            </a:r>
            <a:endParaRPr/>
          </a:p>
        </p:txBody>
      </p:sp>
      <p:sp>
        <p:nvSpPr>
          <p:cNvPr id="866" name="Google Shape;866;p21"/>
          <p:cNvSpPr/>
          <p:nvPr/>
        </p:nvSpPr>
        <p:spPr>
          <a:xfrm>
            <a:off x="4434840" y="3520439"/>
            <a:ext cx="97840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7" name="Google Shape;867;p21"/>
          <p:cNvSpPr txBox="1"/>
          <p:nvPr/>
        </p:nvSpPr>
        <p:spPr>
          <a:xfrm>
            <a:off x="4480559" y="3593591"/>
            <a:ext cx="94183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80.4%</a:t>
            </a:r>
            <a:endParaRPr/>
          </a:p>
        </p:txBody>
      </p:sp>
      <p:sp>
        <p:nvSpPr>
          <p:cNvPr id="868" name="Google Shape;868;p21"/>
          <p:cNvSpPr/>
          <p:nvPr/>
        </p:nvSpPr>
        <p:spPr>
          <a:xfrm>
            <a:off x="5440680" y="3520439"/>
            <a:ext cx="88696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9" name="Google Shape;869;p21"/>
          <p:cNvSpPr txBox="1"/>
          <p:nvPr/>
        </p:nvSpPr>
        <p:spPr>
          <a:xfrm>
            <a:off x="5486400" y="3593591"/>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+24.4 pp</a:t>
            </a:r>
            <a:endParaRPr/>
          </a:p>
        </p:txBody>
      </p:sp>
      <p:sp>
        <p:nvSpPr>
          <p:cNvPr id="870" name="Google Shape;870;p21"/>
          <p:cNvSpPr/>
          <p:nvPr/>
        </p:nvSpPr>
        <p:spPr>
          <a:xfrm>
            <a:off x="731520" y="3895344"/>
            <a:ext cx="276148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1" name="Google Shape;871;p21"/>
          <p:cNvSpPr txBox="1"/>
          <p:nvPr/>
        </p:nvSpPr>
        <p:spPr>
          <a:xfrm>
            <a:off x="777240" y="3968496"/>
            <a:ext cx="272491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50">
                <a:solidFill>
                  <a:srgbClr val="203148"/>
                </a:solidFill>
                <a:latin typeface="Arial"/>
                <a:ea typeface="Arial"/>
                <a:cs typeface="Arial"/>
                <a:sym typeface="Arial"/>
              </a:rPr>
              <a:t>beignets</a:t>
            </a:r>
            <a:endParaRPr/>
          </a:p>
        </p:txBody>
      </p:sp>
      <p:sp>
        <p:nvSpPr>
          <p:cNvPr id="872" name="Google Shape;872;p21"/>
          <p:cNvSpPr/>
          <p:nvPr/>
        </p:nvSpPr>
        <p:spPr>
          <a:xfrm>
            <a:off x="3520439" y="3895344"/>
            <a:ext cx="88696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3" name="Google Shape;873;p21"/>
          <p:cNvSpPr txBox="1"/>
          <p:nvPr/>
        </p:nvSpPr>
        <p:spPr>
          <a:xfrm>
            <a:off x="3566159" y="3968496"/>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84.4%</a:t>
            </a:r>
            <a:endParaRPr/>
          </a:p>
        </p:txBody>
      </p:sp>
      <p:sp>
        <p:nvSpPr>
          <p:cNvPr id="874" name="Google Shape;874;p21"/>
          <p:cNvSpPr/>
          <p:nvPr/>
        </p:nvSpPr>
        <p:spPr>
          <a:xfrm>
            <a:off x="4434840" y="3895344"/>
            <a:ext cx="97840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5" name="Google Shape;875;p21"/>
          <p:cNvSpPr txBox="1"/>
          <p:nvPr/>
        </p:nvSpPr>
        <p:spPr>
          <a:xfrm>
            <a:off x="4480559" y="3968496"/>
            <a:ext cx="94183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91.6%</a:t>
            </a:r>
            <a:endParaRPr/>
          </a:p>
        </p:txBody>
      </p:sp>
      <p:sp>
        <p:nvSpPr>
          <p:cNvPr id="876" name="Google Shape;876;p21"/>
          <p:cNvSpPr/>
          <p:nvPr/>
        </p:nvSpPr>
        <p:spPr>
          <a:xfrm>
            <a:off x="5440680" y="3895344"/>
            <a:ext cx="88696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7" name="Google Shape;877;p21"/>
          <p:cNvSpPr txBox="1"/>
          <p:nvPr/>
        </p:nvSpPr>
        <p:spPr>
          <a:xfrm>
            <a:off x="5486400" y="3968496"/>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+7.2 pp</a:t>
            </a:r>
            <a:endParaRPr/>
          </a:p>
        </p:txBody>
      </p:sp>
      <p:sp>
        <p:nvSpPr>
          <p:cNvPr id="878" name="Google Shape;878;p21"/>
          <p:cNvSpPr/>
          <p:nvPr/>
        </p:nvSpPr>
        <p:spPr>
          <a:xfrm>
            <a:off x="731520" y="4270248"/>
            <a:ext cx="276148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9" name="Google Shape;879;p21"/>
          <p:cNvSpPr txBox="1"/>
          <p:nvPr/>
        </p:nvSpPr>
        <p:spPr>
          <a:xfrm>
            <a:off x="777240" y="4343400"/>
            <a:ext cx="272491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50">
                <a:solidFill>
                  <a:srgbClr val="203148"/>
                </a:solidFill>
                <a:latin typeface="Arial"/>
                <a:ea typeface="Arial"/>
                <a:cs typeface="Arial"/>
                <a:sym typeface="Arial"/>
              </a:rPr>
              <a:t>bibimbap</a:t>
            </a:r>
            <a:endParaRPr/>
          </a:p>
        </p:txBody>
      </p:sp>
      <p:sp>
        <p:nvSpPr>
          <p:cNvPr id="880" name="Google Shape;880;p21"/>
          <p:cNvSpPr/>
          <p:nvPr/>
        </p:nvSpPr>
        <p:spPr>
          <a:xfrm>
            <a:off x="3520439" y="4270248"/>
            <a:ext cx="88696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81" name="Google Shape;881;p21"/>
          <p:cNvSpPr txBox="1"/>
          <p:nvPr/>
        </p:nvSpPr>
        <p:spPr>
          <a:xfrm>
            <a:off x="3566159" y="4343400"/>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84.8%</a:t>
            </a:r>
            <a:endParaRPr/>
          </a:p>
        </p:txBody>
      </p:sp>
      <p:sp>
        <p:nvSpPr>
          <p:cNvPr id="882" name="Google Shape;882;p21"/>
          <p:cNvSpPr/>
          <p:nvPr/>
        </p:nvSpPr>
        <p:spPr>
          <a:xfrm>
            <a:off x="4434840" y="4270248"/>
            <a:ext cx="97840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83" name="Google Shape;883;p21"/>
          <p:cNvSpPr txBox="1"/>
          <p:nvPr/>
        </p:nvSpPr>
        <p:spPr>
          <a:xfrm>
            <a:off x="4480559" y="4343400"/>
            <a:ext cx="94183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94.4%</a:t>
            </a:r>
            <a:endParaRPr/>
          </a:p>
        </p:txBody>
      </p:sp>
      <p:sp>
        <p:nvSpPr>
          <p:cNvPr id="884" name="Google Shape;884;p21"/>
          <p:cNvSpPr/>
          <p:nvPr/>
        </p:nvSpPr>
        <p:spPr>
          <a:xfrm>
            <a:off x="5440680" y="4270248"/>
            <a:ext cx="88696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85" name="Google Shape;885;p21"/>
          <p:cNvSpPr txBox="1"/>
          <p:nvPr/>
        </p:nvSpPr>
        <p:spPr>
          <a:xfrm>
            <a:off x="5486400" y="4343400"/>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+9.6 pp</a:t>
            </a:r>
            <a:endParaRPr/>
          </a:p>
        </p:txBody>
      </p:sp>
      <p:sp>
        <p:nvSpPr>
          <p:cNvPr id="886" name="Google Shape;886;p21"/>
          <p:cNvSpPr/>
          <p:nvPr/>
        </p:nvSpPr>
        <p:spPr>
          <a:xfrm>
            <a:off x="731520" y="4645152"/>
            <a:ext cx="276148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87" name="Google Shape;887;p21"/>
          <p:cNvSpPr txBox="1"/>
          <p:nvPr/>
        </p:nvSpPr>
        <p:spPr>
          <a:xfrm>
            <a:off x="777240" y="4718304"/>
            <a:ext cx="272491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50">
                <a:solidFill>
                  <a:srgbClr val="203148"/>
                </a:solidFill>
                <a:latin typeface="Arial"/>
                <a:ea typeface="Arial"/>
                <a:cs typeface="Arial"/>
                <a:sym typeface="Arial"/>
              </a:rPr>
              <a:t>bread pudding</a:t>
            </a:r>
            <a:endParaRPr/>
          </a:p>
        </p:txBody>
      </p:sp>
      <p:sp>
        <p:nvSpPr>
          <p:cNvPr id="888" name="Google Shape;888;p21"/>
          <p:cNvSpPr/>
          <p:nvPr/>
        </p:nvSpPr>
        <p:spPr>
          <a:xfrm>
            <a:off x="3520439" y="4645152"/>
            <a:ext cx="88696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89" name="Google Shape;889;p21"/>
          <p:cNvSpPr txBox="1"/>
          <p:nvPr/>
        </p:nvSpPr>
        <p:spPr>
          <a:xfrm>
            <a:off x="3566159" y="4718304"/>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41.2%</a:t>
            </a:r>
            <a:endParaRPr/>
          </a:p>
        </p:txBody>
      </p:sp>
      <p:sp>
        <p:nvSpPr>
          <p:cNvPr id="890" name="Google Shape;890;p21"/>
          <p:cNvSpPr/>
          <p:nvPr/>
        </p:nvSpPr>
        <p:spPr>
          <a:xfrm>
            <a:off x="4434840" y="4645152"/>
            <a:ext cx="97840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91" name="Google Shape;891;p21"/>
          <p:cNvSpPr txBox="1"/>
          <p:nvPr/>
        </p:nvSpPr>
        <p:spPr>
          <a:xfrm>
            <a:off x="4480559" y="4718304"/>
            <a:ext cx="94183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78.8%</a:t>
            </a:r>
            <a:endParaRPr/>
          </a:p>
        </p:txBody>
      </p:sp>
      <p:sp>
        <p:nvSpPr>
          <p:cNvPr id="892" name="Google Shape;892;p21"/>
          <p:cNvSpPr/>
          <p:nvPr/>
        </p:nvSpPr>
        <p:spPr>
          <a:xfrm>
            <a:off x="5440680" y="4645152"/>
            <a:ext cx="88696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93" name="Google Shape;893;p21"/>
          <p:cNvSpPr txBox="1"/>
          <p:nvPr/>
        </p:nvSpPr>
        <p:spPr>
          <a:xfrm>
            <a:off x="5486400" y="4718304"/>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+37.6 pp</a:t>
            </a:r>
            <a:endParaRPr/>
          </a:p>
        </p:txBody>
      </p:sp>
      <p:sp>
        <p:nvSpPr>
          <p:cNvPr id="894" name="Google Shape;894;p21"/>
          <p:cNvSpPr/>
          <p:nvPr/>
        </p:nvSpPr>
        <p:spPr>
          <a:xfrm>
            <a:off x="731520" y="5020056"/>
            <a:ext cx="276148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95" name="Google Shape;895;p21"/>
          <p:cNvSpPr txBox="1"/>
          <p:nvPr/>
        </p:nvSpPr>
        <p:spPr>
          <a:xfrm>
            <a:off x="777240" y="5093208"/>
            <a:ext cx="272491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50">
                <a:solidFill>
                  <a:srgbClr val="203148"/>
                </a:solidFill>
                <a:latin typeface="Arial"/>
                <a:ea typeface="Arial"/>
                <a:cs typeface="Arial"/>
                <a:sym typeface="Arial"/>
              </a:rPr>
              <a:t>breakfast burrito</a:t>
            </a:r>
            <a:endParaRPr/>
          </a:p>
        </p:txBody>
      </p:sp>
      <p:sp>
        <p:nvSpPr>
          <p:cNvPr id="896" name="Google Shape;896;p21"/>
          <p:cNvSpPr/>
          <p:nvPr/>
        </p:nvSpPr>
        <p:spPr>
          <a:xfrm>
            <a:off x="3520439" y="5020056"/>
            <a:ext cx="88696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97" name="Google Shape;897;p21"/>
          <p:cNvSpPr txBox="1"/>
          <p:nvPr/>
        </p:nvSpPr>
        <p:spPr>
          <a:xfrm>
            <a:off x="3566159" y="5093208"/>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30.0%</a:t>
            </a:r>
            <a:endParaRPr/>
          </a:p>
        </p:txBody>
      </p:sp>
      <p:sp>
        <p:nvSpPr>
          <p:cNvPr id="898" name="Google Shape;898;p21"/>
          <p:cNvSpPr/>
          <p:nvPr/>
        </p:nvSpPr>
        <p:spPr>
          <a:xfrm>
            <a:off x="4434840" y="5020056"/>
            <a:ext cx="97840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99" name="Google Shape;899;p21"/>
          <p:cNvSpPr txBox="1"/>
          <p:nvPr/>
        </p:nvSpPr>
        <p:spPr>
          <a:xfrm>
            <a:off x="4480559" y="5093208"/>
            <a:ext cx="94183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62.4%</a:t>
            </a:r>
            <a:endParaRPr/>
          </a:p>
        </p:txBody>
      </p:sp>
      <p:sp>
        <p:nvSpPr>
          <p:cNvPr id="900" name="Google Shape;900;p21"/>
          <p:cNvSpPr/>
          <p:nvPr/>
        </p:nvSpPr>
        <p:spPr>
          <a:xfrm>
            <a:off x="5440680" y="5020056"/>
            <a:ext cx="88696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01" name="Google Shape;901;p21"/>
          <p:cNvSpPr txBox="1"/>
          <p:nvPr/>
        </p:nvSpPr>
        <p:spPr>
          <a:xfrm>
            <a:off x="5486400" y="5093208"/>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+32.4 pp</a:t>
            </a:r>
            <a:endParaRPr/>
          </a:p>
        </p:txBody>
      </p:sp>
      <p:sp>
        <p:nvSpPr>
          <p:cNvPr id="902" name="Google Shape;902;p21"/>
          <p:cNvSpPr/>
          <p:nvPr/>
        </p:nvSpPr>
        <p:spPr>
          <a:xfrm>
            <a:off x="731520" y="5394959"/>
            <a:ext cx="276148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03" name="Google Shape;903;p21"/>
          <p:cNvSpPr txBox="1"/>
          <p:nvPr/>
        </p:nvSpPr>
        <p:spPr>
          <a:xfrm>
            <a:off x="777240" y="5468112"/>
            <a:ext cx="272491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50">
                <a:solidFill>
                  <a:srgbClr val="203148"/>
                </a:solidFill>
                <a:latin typeface="Arial"/>
                <a:ea typeface="Arial"/>
                <a:cs typeface="Arial"/>
                <a:sym typeface="Arial"/>
              </a:rPr>
              <a:t>bruschetta</a:t>
            </a:r>
            <a:endParaRPr/>
          </a:p>
        </p:txBody>
      </p:sp>
      <p:sp>
        <p:nvSpPr>
          <p:cNvPr id="904" name="Google Shape;904;p21"/>
          <p:cNvSpPr/>
          <p:nvPr/>
        </p:nvSpPr>
        <p:spPr>
          <a:xfrm>
            <a:off x="3520439" y="5394959"/>
            <a:ext cx="88696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05" name="Google Shape;905;p21"/>
          <p:cNvSpPr txBox="1"/>
          <p:nvPr/>
        </p:nvSpPr>
        <p:spPr>
          <a:xfrm>
            <a:off x="3566159" y="5468112"/>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37.6%</a:t>
            </a:r>
            <a:endParaRPr/>
          </a:p>
        </p:txBody>
      </p:sp>
      <p:sp>
        <p:nvSpPr>
          <p:cNvPr id="906" name="Google Shape;906;p21"/>
          <p:cNvSpPr/>
          <p:nvPr/>
        </p:nvSpPr>
        <p:spPr>
          <a:xfrm>
            <a:off x="4434840" y="5394959"/>
            <a:ext cx="97840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07" name="Google Shape;907;p21"/>
          <p:cNvSpPr txBox="1"/>
          <p:nvPr/>
        </p:nvSpPr>
        <p:spPr>
          <a:xfrm>
            <a:off x="4480559" y="5468112"/>
            <a:ext cx="94183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80.4%</a:t>
            </a:r>
            <a:endParaRPr/>
          </a:p>
        </p:txBody>
      </p:sp>
      <p:sp>
        <p:nvSpPr>
          <p:cNvPr id="908" name="Google Shape;908;p21"/>
          <p:cNvSpPr/>
          <p:nvPr/>
        </p:nvSpPr>
        <p:spPr>
          <a:xfrm>
            <a:off x="5440680" y="5394959"/>
            <a:ext cx="88696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09" name="Google Shape;909;p21"/>
          <p:cNvSpPr txBox="1"/>
          <p:nvPr/>
        </p:nvSpPr>
        <p:spPr>
          <a:xfrm>
            <a:off x="5486400" y="5468112"/>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+42.8 pp</a:t>
            </a:r>
            <a:endParaRPr/>
          </a:p>
        </p:txBody>
      </p:sp>
      <p:sp>
        <p:nvSpPr>
          <p:cNvPr id="910" name="Google Shape;910;p21"/>
          <p:cNvSpPr/>
          <p:nvPr/>
        </p:nvSpPr>
        <p:spPr>
          <a:xfrm>
            <a:off x="6446520" y="1280160"/>
            <a:ext cx="2766060" cy="374904"/>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11" name="Google Shape;911;p21"/>
          <p:cNvSpPr txBox="1"/>
          <p:nvPr/>
        </p:nvSpPr>
        <p:spPr>
          <a:xfrm>
            <a:off x="6510528" y="1339595"/>
            <a:ext cx="2670048" cy="301751"/>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100">
                <a:solidFill>
                  <a:srgbClr val="FFFFFF"/>
                </a:solidFill>
                <a:latin typeface="Arial"/>
                <a:ea typeface="Arial"/>
                <a:cs typeface="Arial"/>
                <a:sym typeface="Arial"/>
              </a:rPr>
              <a:t>Food category</a:t>
            </a:r>
            <a:endParaRPr/>
          </a:p>
        </p:txBody>
      </p:sp>
      <p:sp>
        <p:nvSpPr>
          <p:cNvPr id="912" name="Google Shape;912;p21"/>
          <p:cNvSpPr/>
          <p:nvPr/>
        </p:nvSpPr>
        <p:spPr>
          <a:xfrm>
            <a:off x="9235440" y="1280160"/>
            <a:ext cx="891540" cy="374904"/>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13" name="Google Shape;913;p21"/>
          <p:cNvSpPr txBox="1"/>
          <p:nvPr/>
        </p:nvSpPr>
        <p:spPr>
          <a:xfrm>
            <a:off x="9299448" y="1339595"/>
            <a:ext cx="795528" cy="301751"/>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100">
                <a:solidFill>
                  <a:srgbClr val="FFFFFF"/>
                </a:solidFill>
                <a:latin typeface="Arial"/>
                <a:ea typeface="Arial"/>
                <a:cs typeface="Arial"/>
                <a:sym typeface="Arial"/>
              </a:rPr>
              <a:t>CNN</a:t>
            </a:r>
            <a:endParaRPr/>
          </a:p>
        </p:txBody>
      </p:sp>
      <p:sp>
        <p:nvSpPr>
          <p:cNvPr id="914" name="Google Shape;914;p21"/>
          <p:cNvSpPr/>
          <p:nvPr/>
        </p:nvSpPr>
        <p:spPr>
          <a:xfrm>
            <a:off x="10149840" y="1280160"/>
            <a:ext cx="982980" cy="374904"/>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15" name="Google Shape;915;p21"/>
          <p:cNvSpPr txBox="1"/>
          <p:nvPr/>
        </p:nvSpPr>
        <p:spPr>
          <a:xfrm>
            <a:off x="10213848" y="1339595"/>
            <a:ext cx="886968" cy="301751"/>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100">
                <a:solidFill>
                  <a:srgbClr val="FFFFFF"/>
                </a:solidFill>
                <a:latin typeface="Arial"/>
                <a:ea typeface="Arial"/>
                <a:cs typeface="Arial"/>
                <a:sym typeface="Arial"/>
              </a:rPr>
              <a:t>ResNet</a:t>
            </a:r>
            <a:endParaRPr/>
          </a:p>
        </p:txBody>
      </p:sp>
      <p:sp>
        <p:nvSpPr>
          <p:cNvPr id="916" name="Google Shape;916;p21"/>
          <p:cNvSpPr/>
          <p:nvPr/>
        </p:nvSpPr>
        <p:spPr>
          <a:xfrm>
            <a:off x="11155680" y="1280160"/>
            <a:ext cx="891540" cy="374904"/>
          </a:xfrm>
          <a:prstGeom prst="rect">
            <a:avLst/>
          </a:prstGeom>
          <a:solidFill>
            <a:srgbClr val="2031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17" name="Google Shape;917;p21"/>
          <p:cNvSpPr txBox="1"/>
          <p:nvPr/>
        </p:nvSpPr>
        <p:spPr>
          <a:xfrm>
            <a:off x="11219688" y="1339595"/>
            <a:ext cx="795528" cy="301751"/>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100">
                <a:solidFill>
                  <a:srgbClr val="FFFFFF"/>
                </a:solidFill>
                <a:latin typeface="Arial"/>
                <a:ea typeface="Arial"/>
                <a:cs typeface="Arial"/>
                <a:sym typeface="Arial"/>
              </a:rPr>
              <a:t>Gain</a:t>
            </a:r>
            <a:endParaRPr/>
          </a:p>
        </p:txBody>
      </p:sp>
      <p:sp>
        <p:nvSpPr>
          <p:cNvPr id="918" name="Google Shape;918;p21"/>
          <p:cNvSpPr/>
          <p:nvPr/>
        </p:nvSpPr>
        <p:spPr>
          <a:xfrm>
            <a:off x="6446520" y="1645920"/>
            <a:ext cx="276148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19" name="Google Shape;919;p21"/>
          <p:cNvSpPr txBox="1"/>
          <p:nvPr/>
        </p:nvSpPr>
        <p:spPr>
          <a:xfrm>
            <a:off x="6492240" y="1719072"/>
            <a:ext cx="272491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50">
                <a:solidFill>
                  <a:srgbClr val="203148"/>
                </a:solidFill>
                <a:latin typeface="Arial"/>
                <a:ea typeface="Arial"/>
                <a:cs typeface="Arial"/>
                <a:sym typeface="Arial"/>
              </a:rPr>
              <a:t>caesar salad</a:t>
            </a:r>
            <a:endParaRPr/>
          </a:p>
        </p:txBody>
      </p:sp>
      <p:sp>
        <p:nvSpPr>
          <p:cNvPr id="920" name="Google Shape;920;p21"/>
          <p:cNvSpPr/>
          <p:nvPr/>
        </p:nvSpPr>
        <p:spPr>
          <a:xfrm>
            <a:off x="9235440" y="1645920"/>
            <a:ext cx="88696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21" name="Google Shape;921;p21"/>
          <p:cNvSpPr txBox="1"/>
          <p:nvPr/>
        </p:nvSpPr>
        <p:spPr>
          <a:xfrm>
            <a:off x="9281160" y="1719072"/>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91.2%</a:t>
            </a:r>
            <a:endParaRPr/>
          </a:p>
        </p:txBody>
      </p:sp>
      <p:sp>
        <p:nvSpPr>
          <p:cNvPr id="922" name="Google Shape;922;p21"/>
          <p:cNvSpPr/>
          <p:nvPr/>
        </p:nvSpPr>
        <p:spPr>
          <a:xfrm>
            <a:off x="10149840" y="1645920"/>
            <a:ext cx="97840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23" name="Google Shape;923;p21"/>
          <p:cNvSpPr txBox="1"/>
          <p:nvPr/>
        </p:nvSpPr>
        <p:spPr>
          <a:xfrm>
            <a:off x="10195560" y="1719072"/>
            <a:ext cx="94183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94.0%</a:t>
            </a:r>
            <a:endParaRPr/>
          </a:p>
        </p:txBody>
      </p:sp>
      <p:sp>
        <p:nvSpPr>
          <p:cNvPr id="924" name="Google Shape;924;p21"/>
          <p:cNvSpPr/>
          <p:nvPr/>
        </p:nvSpPr>
        <p:spPr>
          <a:xfrm>
            <a:off x="11155680" y="1645920"/>
            <a:ext cx="88696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25" name="Google Shape;925;p21"/>
          <p:cNvSpPr txBox="1"/>
          <p:nvPr/>
        </p:nvSpPr>
        <p:spPr>
          <a:xfrm>
            <a:off x="11201400" y="1719072"/>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+2.8 pp</a:t>
            </a:r>
            <a:endParaRPr/>
          </a:p>
        </p:txBody>
      </p:sp>
      <p:sp>
        <p:nvSpPr>
          <p:cNvPr id="926" name="Google Shape;926;p21"/>
          <p:cNvSpPr/>
          <p:nvPr/>
        </p:nvSpPr>
        <p:spPr>
          <a:xfrm>
            <a:off x="6446520" y="2020824"/>
            <a:ext cx="276148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27" name="Google Shape;927;p21"/>
          <p:cNvSpPr txBox="1"/>
          <p:nvPr/>
        </p:nvSpPr>
        <p:spPr>
          <a:xfrm>
            <a:off x="6492240" y="2093976"/>
            <a:ext cx="272491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50">
                <a:solidFill>
                  <a:srgbClr val="203148"/>
                </a:solidFill>
                <a:latin typeface="Arial"/>
                <a:ea typeface="Arial"/>
                <a:cs typeface="Arial"/>
                <a:sym typeface="Arial"/>
              </a:rPr>
              <a:t>cannoli</a:t>
            </a:r>
            <a:endParaRPr/>
          </a:p>
        </p:txBody>
      </p:sp>
      <p:sp>
        <p:nvSpPr>
          <p:cNvPr id="928" name="Google Shape;928;p21"/>
          <p:cNvSpPr/>
          <p:nvPr/>
        </p:nvSpPr>
        <p:spPr>
          <a:xfrm>
            <a:off x="9235440" y="2020824"/>
            <a:ext cx="88696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29" name="Google Shape;929;p21"/>
          <p:cNvSpPr txBox="1"/>
          <p:nvPr/>
        </p:nvSpPr>
        <p:spPr>
          <a:xfrm>
            <a:off x="9281160" y="2093976"/>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50.8%</a:t>
            </a:r>
            <a:endParaRPr/>
          </a:p>
        </p:txBody>
      </p:sp>
      <p:sp>
        <p:nvSpPr>
          <p:cNvPr id="930" name="Google Shape;930;p21"/>
          <p:cNvSpPr/>
          <p:nvPr/>
        </p:nvSpPr>
        <p:spPr>
          <a:xfrm>
            <a:off x="10149840" y="2020824"/>
            <a:ext cx="97840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31" name="Google Shape;931;p21"/>
          <p:cNvSpPr txBox="1"/>
          <p:nvPr/>
        </p:nvSpPr>
        <p:spPr>
          <a:xfrm>
            <a:off x="10195560" y="2093976"/>
            <a:ext cx="94183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90.0%</a:t>
            </a:r>
            <a:endParaRPr/>
          </a:p>
        </p:txBody>
      </p:sp>
      <p:sp>
        <p:nvSpPr>
          <p:cNvPr id="932" name="Google Shape;932;p21"/>
          <p:cNvSpPr/>
          <p:nvPr/>
        </p:nvSpPr>
        <p:spPr>
          <a:xfrm>
            <a:off x="11155680" y="2020824"/>
            <a:ext cx="88696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33" name="Google Shape;933;p21"/>
          <p:cNvSpPr txBox="1"/>
          <p:nvPr/>
        </p:nvSpPr>
        <p:spPr>
          <a:xfrm>
            <a:off x="11201400" y="2093976"/>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+39.2 pp</a:t>
            </a:r>
            <a:endParaRPr/>
          </a:p>
        </p:txBody>
      </p:sp>
      <p:sp>
        <p:nvSpPr>
          <p:cNvPr id="934" name="Google Shape;934;p21"/>
          <p:cNvSpPr/>
          <p:nvPr/>
        </p:nvSpPr>
        <p:spPr>
          <a:xfrm>
            <a:off x="6446520" y="2395728"/>
            <a:ext cx="276148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35" name="Google Shape;935;p21"/>
          <p:cNvSpPr txBox="1"/>
          <p:nvPr/>
        </p:nvSpPr>
        <p:spPr>
          <a:xfrm>
            <a:off x="6492240" y="2468880"/>
            <a:ext cx="272491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50">
                <a:solidFill>
                  <a:srgbClr val="203148"/>
                </a:solidFill>
                <a:latin typeface="Arial"/>
                <a:ea typeface="Arial"/>
                <a:cs typeface="Arial"/>
                <a:sym typeface="Arial"/>
              </a:rPr>
              <a:t>caprese salad</a:t>
            </a:r>
            <a:endParaRPr/>
          </a:p>
        </p:txBody>
      </p:sp>
      <p:sp>
        <p:nvSpPr>
          <p:cNvPr id="936" name="Google Shape;936;p21"/>
          <p:cNvSpPr/>
          <p:nvPr/>
        </p:nvSpPr>
        <p:spPr>
          <a:xfrm>
            <a:off x="9235440" y="2395728"/>
            <a:ext cx="88696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37" name="Google Shape;937;p21"/>
          <p:cNvSpPr txBox="1"/>
          <p:nvPr/>
        </p:nvSpPr>
        <p:spPr>
          <a:xfrm>
            <a:off x="9281160" y="2468880"/>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71.2%</a:t>
            </a:r>
            <a:endParaRPr/>
          </a:p>
        </p:txBody>
      </p:sp>
      <p:sp>
        <p:nvSpPr>
          <p:cNvPr id="938" name="Google Shape;938;p21"/>
          <p:cNvSpPr/>
          <p:nvPr/>
        </p:nvSpPr>
        <p:spPr>
          <a:xfrm>
            <a:off x="10149840" y="2395728"/>
            <a:ext cx="97840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39" name="Google Shape;939;p21"/>
          <p:cNvSpPr txBox="1"/>
          <p:nvPr/>
        </p:nvSpPr>
        <p:spPr>
          <a:xfrm>
            <a:off x="10195560" y="2468880"/>
            <a:ext cx="94183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87.6%</a:t>
            </a:r>
            <a:endParaRPr/>
          </a:p>
        </p:txBody>
      </p:sp>
      <p:sp>
        <p:nvSpPr>
          <p:cNvPr id="940" name="Google Shape;940;p21"/>
          <p:cNvSpPr/>
          <p:nvPr/>
        </p:nvSpPr>
        <p:spPr>
          <a:xfrm>
            <a:off x="11155680" y="2395728"/>
            <a:ext cx="88696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1" name="Google Shape;941;p21"/>
          <p:cNvSpPr txBox="1"/>
          <p:nvPr/>
        </p:nvSpPr>
        <p:spPr>
          <a:xfrm>
            <a:off x="11201400" y="2468880"/>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+16.4 pp</a:t>
            </a:r>
            <a:endParaRPr/>
          </a:p>
        </p:txBody>
      </p:sp>
      <p:sp>
        <p:nvSpPr>
          <p:cNvPr id="942" name="Google Shape;942;p21"/>
          <p:cNvSpPr/>
          <p:nvPr/>
        </p:nvSpPr>
        <p:spPr>
          <a:xfrm>
            <a:off x="6446520" y="2770632"/>
            <a:ext cx="276148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3" name="Google Shape;943;p21"/>
          <p:cNvSpPr txBox="1"/>
          <p:nvPr/>
        </p:nvSpPr>
        <p:spPr>
          <a:xfrm>
            <a:off x="6492240" y="2843784"/>
            <a:ext cx="272491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50">
                <a:solidFill>
                  <a:srgbClr val="203148"/>
                </a:solidFill>
                <a:latin typeface="Arial"/>
                <a:ea typeface="Arial"/>
                <a:cs typeface="Arial"/>
                <a:sym typeface="Arial"/>
              </a:rPr>
              <a:t>carrot cake</a:t>
            </a:r>
            <a:endParaRPr/>
          </a:p>
        </p:txBody>
      </p:sp>
      <p:sp>
        <p:nvSpPr>
          <p:cNvPr id="944" name="Google Shape;944;p21"/>
          <p:cNvSpPr/>
          <p:nvPr/>
        </p:nvSpPr>
        <p:spPr>
          <a:xfrm>
            <a:off x="9235440" y="2770632"/>
            <a:ext cx="88696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5" name="Google Shape;945;p21"/>
          <p:cNvSpPr txBox="1"/>
          <p:nvPr/>
        </p:nvSpPr>
        <p:spPr>
          <a:xfrm>
            <a:off x="9281160" y="2843784"/>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65.6%</a:t>
            </a:r>
            <a:endParaRPr/>
          </a:p>
        </p:txBody>
      </p:sp>
      <p:sp>
        <p:nvSpPr>
          <p:cNvPr id="946" name="Google Shape;946;p21"/>
          <p:cNvSpPr/>
          <p:nvPr/>
        </p:nvSpPr>
        <p:spPr>
          <a:xfrm>
            <a:off x="10149840" y="2770632"/>
            <a:ext cx="97840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7" name="Google Shape;947;p21"/>
          <p:cNvSpPr txBox="1"/>
          <p:nvPr/>
        </p:nvSpPr>
        <p:spPr>
          <a:xfrm>
            <a:off x="10195560" y="2843784"/>
            <a:ext cx="94183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84.8%</a:t>
            </a:r>
            <a:endParaRPr/>
          </a:p>
        </p:txBody>
      </p:sp>
      <p:sp>
        <p:nvSpPr>
          <p:cNvPr id="948" name="Google Shape;948;p21"/>
          <p:cNvSpPr/>
          <p:nvPr/>
        </p:nvSpPr>
        <p:spPr>
          <a:xfrm>
            <a:off x="11155680" y="2770632"/>
            <a:ext cx="88696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9" name="Google Shape;949;p21"/>
          <p:cNvSpPr txBox="1"/>
          <p:nvPr/>
        </p:nvSpPr>
        <p:spPr>
          <a:xfrm>
            <a:off x="11201400" y="2843784"/>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+19.2 pp</a:t>
            </a:r>
            <a:endParaRPr/>
          </a:p>
        </p:txBody>
      </p:sp>
      <p:sp>
        <p:nvSpPr>
          <p:cNvPr id="950" name="Google Shape;950;p21"/>
          <p:cNvSpPr/>
          <p:nvPr/>
        </p:nvSpPr>
        <p:spPr>
          <a:xfrm>
            <a:off x="6446520" y="3145536"/>
            <a:ext cx="276148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1" name="Google Shape;951;p21"/>
          <p:cNvSpPr txBox="1"/>
          <p:nvPr/>
        </p:nvSpPr>
        <p:spPr>
          <a:xfrm>
            <a:off x="6492240" y="3218688"/>
            <a:ext cx="272491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50">
                <a:solidFill>
                  <a:srgbClr val="203148"/>
                </a:solidFill>
                <a:latin typeface="Arial"/>
                <a:ea typeface="Arial"/>
                <a:cs typeface="Arial"/>
                <a:sym typeface="Arial"/>
              </a:rPr>
              <a:t>ceviche</a:t>
            </a:r>
            <a:endParaRPr/>
          </a:p>
        </p:txBody>
      </p:sp>
      <p:sp>
        <p:nvSpPr>
          <p:cNvPr id="952" name="Google Shape;952;p21"/>
          <p:cNvSpPr/>
          <p:nvPr/>
        </p:nvSpPr>
        <p:spPr>
          <a:xfrm>
            <a:off x="9235440" y="3145536"/>
            <a:ext cx="88696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3" name="Google Shape;953;p21"/>
          <p:cNvSpPr txBox="1"/>
          <p:nvPr/>
        </p:nvSpPr>
        <p:spPr>
          <a:xfrm>
            <a:off x="9281160" y="3218688"/>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57.2%</a:t>
            </a:r>
            <a:endParaRPr/>
          </a:p>
        </p:txBody>
      </p:sp>
      <p:sp>
        <p:nvSpPr>
          <p:cNvPr id="954" name="Google Shape;954;p21"/>
          <p:cNvSpPr/>
          <p:nvPr/>
        </p:nvSpPr>
        <p:spPr>
          <a:xfrm>
            <a:off x="10149840" y="3145536"/>
            <a:ext cx="97840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5" name="Google Shape;955;p21"/>
          <p:cNvSpPr txBox="1"/>
          <p:nvPr/>
        </p:nvSpPr>
        <p:spPr>
          <a:xfrm>
            <a:off x="10195560" y="3218688"/>
            <a:ext cx="94183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86.4%</a:t>
            </a:r>
            <a:endParaRPr/>
          </a:p>
        </p:txBody>
      </p:sp>
      <p:sp>
        <p:nvSpPr>
          <p:cNvPr id="956" name="Google Shape;956;p21"/>
          <p:cNvSpPr/>
          <p:nvPr/>
        </p:nvSpPr>
        <p:spPr>
          <a:xfrm>
            <a:off x="11155680" y="3145536"/>
            <a:ext cx="88696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7" name="Google Shape;957;p21"/>
          <p:cNvSpPr txBox="1"/>
          <p:nvPr/>
        </p:nvSpPr>
        <p:spPr>
          <a:xfrm>
            <a:off x="11201400" y="3218688"/>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+29.2 pp</a:t>
            </a:r>
            <a:endParaRPr/>
          </a:p>
        </p:txBody>
      </p:sp>
      <p:sp>
        <p:nvSpPr>
          <p:cNvPr id="958" name="Google Shape;958;p21"/>
          <p:cNvSpPr/>
          <p:nvPr/>
        </p:nvSpPr>
        <p:spPr>
          <a:xfrm>
            <a:off x="6446520" y="3520439"/>
            <a:ext cx="276148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9" name="Google Shape;959;p21"/>
          <p:cNvSpPr txBox="1"/>
          <p:nvPr/>
        </p:nvSpPr>
        <p:spPr>
          <a:xfrm>
            <a:off x="6492240" y="3593591"/>
            <a:ext cx="272491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50">
                <a:solidFill>
                  <a:srgbClr val="203148"/>
                </a:solidFill>
                <a:latin typeface="Arial"/>
                <a:ea typeface="Arial"/>
                <a:cs typeface="Arial"/>
                <a:sym typeface="Arial"/>
              </a:rPr>
              <a:t>cheese plate</a:t>
            </a:r>
            <a:endParaRPr/>
          </a:p>
        </p:txBody>
      </p:sp>
      <p:sp>
        <p:nvSpPr>
          <p:cNvPr id="960" name="Google Shape;960;p21"/>
          <p:cNvSpPr/>
          <p:nvPr/>
        </p:nvSpPr>
        <p:spPr>
          <a:xfrm>
            <a:off x="9235440" y="3520439"/>
            <a:ext cx="88696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1" name="Google Shape;961;p21"/>
          <p:cNvSpPr txBox="1"/>
          <p:nvPr/>
        </p:nvSpPr>
        <p:spPr>
          <a:xfrm>
            <a:off x="9281160" y="3593591"/>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74.4%</a:t>
            </a:r>
            <a:endParaRPr/>
          </a:p>
        </p:txBody>
      </p:sp>
      <p:sp>
        <p:nvSpPr>
          <p:cNvPr id="962" name="Google Shape;962;p21"/>
          <p:cNvSpPr/>
          <p:nvPr/>
        </p:nvSpPr>
        <p:spPr>
          <a:xfrm>
            <a:off x="10149840" y="3520439"/>
            <a:ext cx="97840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3" name="Google Shape;963;p21"/>
          <p:cNvSpPr txBox="1"/>
          <p:nvPr/>
        </p:nvSpPr>
        <p:spPr>
          <a:xfrm>
            <a:off x="10195560" y="3593591"/>
            <a:ext cx="94183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92.4%</a:t>
            </a:r>
            <a:endParaRPr/>
          </a:p>
        </p:txBody>
      </p:sp>
      <p:sp>
        <p:nvSpPr>
          <p:cNvPr id="964" name="Google Shape;964;p21"/>
          <p:cNvSpPr/>
          <p:nvPr/>
        </p:nvSpPr>
        <p:spPr>
          <a:xfrm>
            <a:off x="11155680" y="3520439"/>
            <a:ext cx="88696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5" name="Google Shape;965;p21"/>
          <p:cNvSpPr txBox="1"/>
          <p:nvPr/>
        </p:nvSpPr>
        <p:spPr>
          <a:xfrm>
            <a:off x="11201400" y="3593591"/>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+18.0 pp</a:t>
            </a:r>
            <a:endParaRPr/>
          </a:p>
        </p:txBody>
      </p:sp>
      <p:sp>
        <p:nvSpPr>
          <p:cNvPr id="966" name="Google Shape;966;p21"/>
          <p:cNvSpPr/>
          <p:nvPr/>
        </p:nvSpPr>
        <p:spPr>
          <a:xfrm>
            <a:off x="6446520" y="3895344"/>
            <a:ext cx="276148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7" name="Google Shape;967;p21"/>
          <p:cNvSpPr txBox="1"/>
          <p:nvPr/>
        </p:nvSpPr>
        <p:spPr>
          <a:xfrm>
            <a:off x="6492240" y="3968496"/>
            <a:ext cx="272491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50">
                <a:solidFill>
                  <a:srgbClr val="203148"/>
                </a:solidFill>
                <a:latin typeface="Arial"/>
                <a:ea typeface="Arial"/>
                <a:cs typeface="Arial"/>
                <a:sym typeface="Arial"/>
              </a:rPr>
              <a:t>cheesecake</a:t>
            </a:r>
            <a:endParaRPr/>
          </a:p>
        </p:txBody>
      </p:sp>
      <p:sp>
        <p:nvSpPr>
          <p:cNvPr id="968" name="Google Shape;968;p21"/>
          <p:cNvSpPr/>
          <p:nvPr/>
        </p:nvSpPr>
        <p:spPr>
          <a:xfrm>
            <a:off x="9235440" y="3895344"/>
            <a:ext cx="88696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9" name="Google Shape;969;p21"/>
          <p:cNvSpPr txBox="1"/>
          <p:nvPr/>
        </p:nvSpPr>
        <p:spPr>
          <a:xfrm>
            <a:off x="9281160" y="3968496"/>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67.6%</a:t>
            </a:r>
            <a:endParaRPr/>
          </a:p>
        </p:txBody>
      </p:sp>
      <p:sp>
        <p:nvSpPr>
          <p:cNvPr id="970" name="Google Shape;970;p21"/>
          <p:cNvSpPr/>
          <p:nvPr/>
        </p:nvSpPr>
        <p:spPr>
          <a:xfrm>
            <a:off x="10149840" y="3895344"/>
            <a:ext cx="97840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1" name="Google Shape;971;p21"/>
          <p:cNvSpPr txBox="1"/>
          <p:nvPr/>
        </p:nvSpPr>
        <p:spPr>
          <a:xfrm>
            <a:off x="10195560" y="3968496"/>
            <a:ext cx="94183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81.6%</a:t>
            </a:r>
            <a:endParaRPr/>
          </a:p>
        </p:txBody>
      </p:sp>
      <p:sp>
        <p:nvSpPr>
          <p:cNvPr id="972" name="Google Shape;972;p21"/>
          <p:cNvSpPr/>
          <p:nvPr/>
        </p:nvSpPr>
        <p:spPr>
          <a:xfrm>
            <a:off x="11155680" y="3895344"/>
            <a:ext cx="88696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3" name="Google Shape;973;p21"/>
          <p:cNvSpPr txBox="1"/>
          <p:nvPr/>
        </p:nvSpPr>
        <p:spPr>
          <a:xfrm>
            <a:off x="11201400" y="3968496"/>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+14.0 pp</a:t>
            </a:r>
            <a:endParaRPr/>
          </a:p>
        </p:txBody>
      </p:sp>
      <p:sp>
        <p:nvSpPr>
          <p:cNvPr id="974" name="Google Shape;974;p21"/>
          <p:cNvSpPr/>
          <p:nvPr/>
        </p:nvSpPr>
        <p:spPr>
          <a:xfrm>
            <a:off x="6446520" y="4270248"/>
            <a:ext cx="276148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5" name="Google Shape;975;p21"/>
          <p:cNvSpPr txBox="1"/>
          <p:nvPr/>
        </p:nvSpPr>
        <p:spPr>
          <a:xfrm>
            <a:off x="6492240" y="4343400"/>
            <a:ext cx="272491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50">
                <a:solidFill>
                  <a:srgbClr val="203148"/>
                </a:solidFill>
                <a:latin typeface="Arial"/>
                <a:ea typeface="Arial"/>
                <a:cs typeface="Arial"/>
                <a:sym typeface="Arial"/>
              </a:rPr>
              <a:t>chicken curry</a:t>
            </a:r>
            <a:endParaRPr/>
          </a:p>
        </p:txBody>
      </p:sp>
      <p:sp>
        <p:nvSpPr>
          <p:cNvPr id="976" name="Google Shape;976;p21"/>
          <p:cNvSpPr/>
          <p:nvPr/>
        </p:nvSpPr>
        <p:spPr>
          <a:xfrm>
            <a:off x="9235440" y="4270248"/>
            <a:ext cx="88696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7" name="Google Shape;977;p21"/>
          <p:cNvSpPr txBox="1"/>
          <p:nvPr/>
        </p:nvSpPr>
        <p:spPr>
          <a:xfrm>
            <a:off x="9281160" y="4343400"/>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63.6%</a:t>
            </a:r>
            <a:endParaRPr/>
          </a:p>
        </p:txBody>
      </p:sp>
      <p:sp>
        <p:nvSpPr>
          <p:cNvPr id="978" name="Google Shape;978;p21"/>
          <p:cNvSpPr/>
          <p:nvPr/>
        </p:nvSpPr>
        <p:spPr>
          <a:xfrm>
            <a:off x="10149840" y="4270248"/>
            <a:ext cx="97840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9" name="Google Shape;979;p21"/>
          <p:cNvSpPr txBox="1"/>
          <p:nvPr/>
        </p:nvSpPr>
        <p:spPr>
          <a:xfrm>
            <a:off x="10195560" y="4343400"/>
            <a:ext cx="94183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91.2%</a:t>
            </a:r>
            <a:endParaRPr/>
          </a:p>
        </p:txBody>
      </p:sp>
      <p:sp>
        <p:nvSpPr>
          <p:cNvPr id="980" name="Google Shape;980;p21"/>
          <p:cNvSpPr/>
          <p:nvPr/>
        </p:nvSpPr>
        <p:spPr>
          <a:xfrm>
            <a:off x="11155680" y="4270248"/>
            <a:ext cx="88696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1" name="Google Shape;981;p21"/>
          <p:cNvSpPr txBox="1"/>
          <p:nvPr/>
        </p:nvSpPr>
        <p:spPr>
          <a:xfrm>
            <a:off x="11201400" y="4343400"/>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+27.6 pp</a:t>
            </a:r>
            <a:endParaRPr/>
          </a:p>
        </p:txBody>
      </p:sp>
      <p:sp>
        <p:nvSpPr>
          <p:cNvPr id="982" name="Google Shape;982;p21"/>
          <p:cNvSpPr/>
          <p:nvPr/>
        </p:nvSpPr>
        <p:spPr>
          <a:xfrm>
            <a:off x="6446520" y="4645152"/>
            <a:ext cx="276148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3" name="Google Shape;983;p21"/>
          <p:cNvSpPr txBox="1"/>
          <p:nvPr/>
        </p:nvSpPr>
        <p:spPr>
          <a:xfrm>
            <a:off x="6492240" y="4718304"/>
            <a:ext cx="272491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50">
                <a:solidFill>
                  <a:srgbClr val="203148"/>
                </a:solidFill>
                <a:latin typeface="Arial"/>
                <a:ea typeface="Arial"/>
                <a:cs typeface="Arial"/>
                <a:sym typeface="Arial"/>
              </a:rPr>
              <a:t>chicken quesadilla</a:t>
            </a:r>
            <a:endParaRPr/>
          </a:p>
        </p:txBody>
      </p:sp>
      <p:sp>
        <p:nvSpPr>
          <p:cNvPr id="984" name="Google Shape;984;p21"/>
          <p:cNvSpPr/>
          <p:nvPr/>
        </p:nvSpPr>
        <p:spPr>
          <a:xfrm>
            <a:off x="9235440" y="4645152"/>
            <a:ext cx="88696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5" name="Google Shape;985;p21"/>
          <p:cNvSpPr txBox="1"/>
          <p:nvPr/>
        </p:nvSpPr>
        <p:spPr>
          <a:xfrm>
            <a:off x="9281160" y="4718304"/>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78.4%</a:t>
            </a:r>
            <a:endParaRPr/>
          </a:p>
        </p:txBody>
      </p:sp>
      <p:sp>
        <p:nvSpPr>
          <p:cNvPr id="986" name="Google Shape;986;p21"/>
          <p:cNvSpPr/>
          <p:nvPr/>
        </p:nvSpPr>
        <p:spPr>
          <a:xfrm>
            <a:off x="10149840" y="4645152"/>
            <a:ext cx="97840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7" name="Google Shape;987;p21"/>
          <p:cNvSpPr txBox="1"/>
          <p:nvPr/>
        </p:nvSpPr>
        <p:spPr>
          <a:xfrm>
            <a:off x="10195560" y="4718304"/>
            <a:ext cx="94183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93.2%</a:t>
            </a:r>
            <a:endParaRPr/>
          </a:p>
        </p:txBody>
      </p:sp>
      <p:sp>
        <p:nvSpPr>
          <p:cNvPr id="988" name="Google Shape;988;p21"/>
          <p:cNvSpPr/>
          <p:nvPr/>
        </p:nvSpPr>
        <p:spPr>
          <a:xfrm>
            <a:off x="11155680" y="4645152"/>
            <a:ext cx="886968" cy="365760"/>
          </a:xfrm>
          <a:prstGeom prst="rect">
            <a:avLst/>
          </a:prstGeom>
          <a:solidFill>
            <a:srgbClr val="F2F7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9" name="Google Shape;989;p21"/>
          <p:cNvSpPr txBox="1"/>
          <p:nvPr/>
        </p:nvSpPr>
        <p:spPr>
          <a:xfrm>
            <a:off x="11201400" y="4718304"/>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+14.8 pp</a:t>
            </a:r>
            <a:endParaRPr/>
          </a:p>
        </p:txBody>
      </p:sp>
      <p:sp>
        <p:nvSpPr>
          <p:cNvPr id="990" name="Google Shape;990;p21"/>
          <p:cNvSpPr/>
          <p:nvPr/>
        </p:nvSpPr>
        <p:spPr>
          <a:xfrm>
            <a:off x="6446520" y="5020056"/>
            <a:ext cx="276148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91" name="Google Shape;991;p21"/>
          <p:cNvSpPr txBox="1"/>
          <p:nvPr/>
        </p:nvSpPr>
        <p:spPr>
          <a:xfrm>
            <a:off x="6492240" y="5093208"/>
            <a:ext cx="272491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50">
                <a:solidFill>
                  <a:srgbClr val="203148"/>
                </a:solidFill>
                <a:latin typeface="Arial"/>
                <a:ea typeface="Arial"/>
                <a:cs typeface="Arial"/>
                <a:sym typeface="Arial"/>
              </a:rPr>
              <a:t>chicken wings</a:t>
            </a:r>
            <a:endParaRPr/>
          </a:p>
        </p:txBody>
      </p:sp>
      <p:sp>
        <p:nvSpPr>
          <p:cNvPr id="992" name="Google Shape;992;p21"/>
          <p:cNvSpPr/>
          <p:nvPr/>
        </p:nvSpPr>
        <p:spPr>
          <a:xfrm>
            <a:off x="9235440" y="5020056"/>
            <a:ext cx="88696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93" name="Google Shape;993;p21"/>
          <p:cNvSpPr txBox="1"/>
          <p:nvPr/>
        </p:nvSpPr>
        <p:spPr>
          <a:xfrm>
            <a:off x="9281160" y="5093208"/>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66.8%</a:t>
            </a:r>
            <a:endParaRPr/>
          </a:p>
        </p:txBody>
      </p:sp>
      <p:sp>
        <p:nvSpPr>
          <p:cNvPr id="994" name="Google Shape;994;p21"/>
          <p:cNvSpPr/>
          <p:nvPr/>
        </p:nvSpPr>
        <p:spPr>
          <a:xfrm>
            <a:off x="10149840" y="5020056"/>
            <a:ext cx="97840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95" name="Google Shape;995;p21"/>
          <p:cNvSpPr txBox="1"/>
          <p:nvPr/>
        </p:nvSpPr>
        <p:spPr>
          <a:xfrm>
            <a:off x="10195560" y="5093208"/>
            <a:ext cx="94183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97.2%</a:t>
            </a:r>
            <a:endParaRPr/>
          </a:p>
        </p:txBody>
      </p:sp>
      <p:sp>
        <p:nvSpPr>
          <p:cNvPr id="996" name="Google Shape;996;p21"/>
          <p:cNvSpPr/>
          <p:nvPr/>
        </p:nvSpPr>
        <p:spPr>
          <a:xfrm>
            <a:off x="11155680" y="5020056"/>
            <a:ext cx="886968" cy="3657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97" name="Google Shape;997;p21"/>
          <p:cNvSpPr txBox="1"/>
          <p:nvPr/>
        </p:nvSpPr>
        <p:spPr>
          <a:xfrm>
            <a:off x="11201400" y="5093208"/>
            <a:ext cx="850392" cy="2011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50">
                <a:solidFill>
                  <a:srgbClr val="203148"/>
                </a:solidFill>
                <a:latin typeface="Arial"/>
                <a:ea typeface="Arial"/>
                <a:cs typeface="Arial"/>
                <a:sym typeface="Arial"/>
              </a:rPr>
              <a:t>+30.4 pp</a:t>
            </a:r>
            <a:endParaRPr/>
          </a:p>
        </p:txBody>
      </p:sp>
      <p:sp>
        <p:nvSpPr>
          <p:cNvPr id="998" name="Google Shape;998;p21"/>
          <p:cNvSpPr/>
          <p:nvPr/>
        </p:nvSpPr>
        <p:spPr>
          <a:xfrm>
            <a:off x="658368" y="6117336"/>
            <a:ext cx="10817352" cy="420624"/>
          </a:xfrm>
          <a:prstGeom prst="roundRect">
            <a:avLst>
              <a:gd fmla="val 15000" name="adj"/>
            </a:avLst>
          </a:prstGeom>
          <a:solidFill>
            <a:srgbClr val="EDF5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99" name="Google Shape;999;p21"/>
          <p:cNvSpPr txBox="1"/>
          <p:nvPr/>
        </p:nvSpPr>
        <p:spPr>
          <a:xfrm>
            <a:off x="822960" y="6190488"/>
            <a:ext cx="10469880" cy="2651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200">
                <a:solidFill>
                  <a:srgbClr val="203148"/>
                </a:solidFill>
                <a:latin typeface="Arial"/>
                <a:ea typeface="Arial"/>
                <a:cs typeface="Arial"/>
                <a:sym typeface="Arial"/>
              </a:rPr>
              <a:t>250 test images per class. All per-class values taken from the supplied scratch and ResNet CSV outputs.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3" name="Shape 1003"/>
        <p:cNvGrpSpPr/>
        <p:nvPr/>
      </p:nvGrpSpPr>
      <p:grpSpPr>
        <a:xfrm>
          <a:off x="0" y="0"/>
          <a:ext cx="0" cy="0"/>
          <a:chOff x="0" y="0"/>
          <a:chExt cx="0" cy="0"/>
        </a:xfrm>
      </p:grpSpPr>
      <p:sp>
        <p:nvSpPr>
          <p:cNvPr id="1004" name="Google Shape;1004;p22"/>
          <p:cNvSpPr/>
          <p:nvPr/>
        </p:nvSpPr>
        <p:spPr>
          <a:xfrm>
            <a:off x="566928" y="548640"/>
            <a:ext cx="1051560" cy="41148"/>
          </a:xfrm>
          <a:prstGeom prst="rect">
            <a:avLst/>
          </a:prstGeom>
          <a:solidFill>
            <a:srgbClr val="0DAE9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05" name="Google Shape;1005;p22"/>
          <p:cNvSpPr txBox="1"/>
          <p:nvPr/>
        </p:nvSpPr>
        <p:spPr>
          <a:xfrm>
            <a:off x="566928" y="274320"/>
            <a:ext cx="10058400" cy="21945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00">
                <a:solidFill>
                  <a:srgbClr val="0DAE9A"/>
                </a:solidFill>
                <a:latin typeface="Arial"/>
                <a:ea typeface="Arial"/>
                <a:cs typeface="Arial"/>
                <a:sym typeface="Arial"/>
              </a:rPr>
              <a:t>APPENDIX · LEARNING CURVES</a:t>
            </a:r>
            <a:endParaRPr/>
          </a:p>
        </p:txBody>
      </p:sp>
      <p:sp>
        <p:nvSpPr>
          <p:cNvPr id="1006" name="Google Shape;1006;p22"/>
          <p:cNvSpPr txBox="1"/>
          <p:nvPr/>
        </p:nvSpPr>
        <p:spPr>
          <a:xfrm>
            <a:off x="566928" y="694944"/>
            <a:ext cx="10972800" cy="5669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2700">
                <a:solidFill>
                  <a:srgbClr val="101A2B"/>
                </a:solidFill>
                <a:latin typeface="Arial"/>
                <a:ea typeface="Arial"/>
                <a:cs typeface="Arial"/>
                <a:sym typeface="Arial"/>
              </a:rPr>
              <a:t>Backup · Learning curves: C1 dropout .5 + augmentation</a:t>
            </a:r>
            <a:endParaRPr/>
          </a:p>
        </p:txBody>
      </p:sp>
      <p:sp>
        <p:nvSpPr>
          <p:cNvPr id="1007" name="Google Shape;1007;p22"/>
          <p:cNvSpPr txBox="1"/>
          <p:nvPr/>
        </p:nvSpPr>
        <p:spPr>
          <a:xfrm>
            <a:off x="11018520" y="6492240"/>
            <a:ext cx="594360" cy="18288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00">
                <a:solidFill>
                  <a:srgbClr val="718198"/>
                </a:solidFill>
                <a:latin typeface="Arial"/>
                <a:ea typeface="Arial"/>
                <a:cs typeface="Arial"/>
                <a:sym typeface="Arial"/>
              </a:rPr>
              <a:t>20</a:t>
            </a:r>
            <a:endParaRPr/>
          </a:p>
        </p:txBody>
      </p:sp>
      <p:pic>
        <p:nvPicPr>
          <p:cNvPr descr="curves_cnn_1.png" id="1008" name="Google Shape;1008;p22"/>
          <p:cNvPicPr preferRelativeResize="0"/>
          <p:nvPr/>
        </p:nvPicPr>
        <p:blipFill rotWithShape="1">
          <a:blip r:embed="rId3">
            <a:alphaModFix/>
          </a:blip>
          <a:srcRect b="0" l="0" r="0" t="0"/>
          <a:stretch/>
        </p:blipFill>
        <p:spPr>
          <a:xfrm>
            <a:off x="749808" y="1905000"/>
            <a:ext cx="10680192" cy="3560064"/>
          </a:xfrm>
          <a:prstGeom prst="rect">
            <a:avLst/>
          </a:prstGeom>
          <a:noFill/>
          <a:ln>
            <a:noFill/>
          </a:ln>
        </p:spPr>
      </p:pic>
      <p:sp>
        <p:nvSpPr>
          <p:cNvPr id="1009" name="Google Shape;1009;p22"/>
          <p:cNvSpPr/>
          <p:nvPr/>
        </p:nvSpPr>
        <p:spPr>
          <a:xfrm>
            <a:off x="658368" y="6117336"/>
            <a:ext cx="10817352" cy="420624"/>
          </a:xfrm>
          <a:prstGeom prst="roundRect">
            <a:avLst>
              <a:gd fmla="val 15000" name="adj"/>
            </a:avLst>
          </a:prstGeom>
          <a:solidFill>
            <a:srgbClr val="EDF5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0" name="Google Shape;1010;p22"/>
          <p:cNvSpPr txBox="1"/>
          <p:nvPr/>
        </p:nvSpPr>
        <p:spPr>
          <a:xfrm>
            <a:off x="822960" y="6190488"/>
            <a:ext cx="10469880" cy="2651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200">
                <a:solidFill>
                  <a:srgbClr val="203148"/>
                </a:solidFill>
                <a:latin typeface="Arial"/>
                <a:ea typeface="Arial"/>
                <a:cs typeface="Arial"/>
                <a:sym typeface="Arial"/>
              </a:rPr>
              <a:t>Blue = training; orange = validation; gray dashed = best checkpoint; red dotted (ResNet R2–R6) = unfreeze.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4" name="Shape 1014"/>
        <p:cNvGrpSpPr/>
        <p:nvPr/>
      </p:nvGrpSpPr>
      <p:grpSpPr>
        <a:xfrm>
          <a:off x="0" y="0"/>
          <a:ext cx="0" cy="0"/>
          <a:chOff x="0" y="0"/>
          <a:chExt cx="0" cy="0"/>
        </a:xfrm>
      </p:grpSpPr>
      <p:sp>
        <p:nvSpPr>
          <p:cNvPr id="1015" name="Google Shape;1015;p23"/>
          <p:cNvSpPr/>
          <p:nvPr/>
        </p:nvSpPr>
        <p:spPr>
          <a:xfrm>
            <a:off x="566928" y="548640"/>
            <a:ext cx="1051560" cy="41148"/>
          </a:xfrm>
          <a:prstGeom prst="rect">
            <a:avLst/>
          </a:prstGeom>
          <a:solidFill>
            <a:srgbClr val="0DAE9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6" name="Google Shape;1016;p23"/>
          <p:cNvSpPr txBox="1"/>
          <p:nvPr/>
        </p:nvSpPr>
        <p:spPr>
          <a:xfrm>
            <a:off x="566928" y="274320"/>
            <a:ext cx="10058400" cy="21945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00">
                <a:solidFill>
                  <a:srgbClr val="0DAE9A"/>
                </a:solidFill>
                <a:latin typeface="Arial"/>
                <a:ea typeface="Arial"/>
                <a:cs typeface="Arial"/>
                <a:sym typeface="Arial"/>
              </a:rPr>
              <a:t>APPENDIX · LEARNING CURVES</a:t>
            </a:r>
            <a:endParaRPr/>
          </a:p>
        </p:txBody>
      </p:sp>
      <p:sp>
        <p:nvSpPr>
          <p:cNvPr id="1017" name="Google Shape;1017;p23"/>
          <p:cNvSpPr txBox="1"/>
          <p:nvPr/>
        </p:nvSpPr>
        <p:spPr>
          <a:xfrm>
            <a:off x="566928" y="694944"/>
            <a:ext cx="10972800" cy="5669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2700">
                <a:solidFill>
                  <a:srgbClr val="101A2B"/>
                </a:solidFill>
                <a:latin typeface="Arial"/>
                <a:ea typeface="Arial"/>
                <a:cs typeface="Arial"/>
                <a:sym typeface="Arial"/>
              </a:rPr>
              <a:t>Backup · Learning curves: C2 dropout .5, no augmentation</a:t>
            </a:r>
            <a:endParaRPr/>
          </a:p>
        </p:txBody>
      </p:sp>
      <p:sp>
        <p:nvSpPr>
          <p:cNvPr id="1018" name="Google Shape;1018;p23"/>
          <p:cNvSpPr txBox="1"/>
          <p:nvPr/>
        </p:nvSpPr>
        <p:spPr>
          <a:xfrm>
            <a:off x="11018520" y="6492240"/>
            <a:ext cx="594360" cy="18288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00">
                <a:solidFill>
                  <a:srgbClr val="718198"/>
                </a:solidFill>
                <a:latin typeface="Arial"/>
                <a:ea typeface="Arial"/>
                <a:cs typeface="Arial"/>
                <a:sym typeface="Arial"/>
              </a:rPr>
              <a:t>21</a:t>
            </a:r>
            <a:endParaRPr/>
          </a:p>
        </p:txBody>
      </p:sp>
      <p:pic>
        <p:nvPicPr>
          <p:cNvPr descr="curves_cnn_2.png" id="1019" name="Google Shape;1019;p23"/>
          <p:cNvPicPr preferRelativeResize="0"/>
          <p:nvPr/>
        </p:nvPicPr>
        <p:blipFill rotWithShape="1">
          <a:blip r:embed="rId3">
            <a:alphaModFix/>
          </a:blip>
          <a:srcRect b="0" l="0" r="0" t="0"/>
          <a:stretch/>
        </p:blipFill>
        <p:spPr>
          <a:xfrm>
            <a:off x="749808" y="1905000"/>
            <a:ext cx="10680192" cy="3560064"/>
          </a:xfrm>
          <a:prstGeom prst="rect">
            <a:avLst/>
          </a:prstGeom>
          <a:noFill/>
          <a:ln>
            <a:noFill/>
          </a:ln>
        </p:spPr>
      </p:pic>
      <p:sp>
        <p:nvSpPr>
          <p:cNvPr id="1020" name="Google Shape;1020;p23"/>
          <p:cNvSpPr/>
          <p:nvPr/>
        </p:nvSpPr>
        <p:spPr>
          <a:xfrm>
            <a:off x="658368" y="6117336"/>
            <a:ext cx="10817352" cy="420624"/>
          </a:xfrm>
          <a:prstGeom prst="roundRect">
            <a:avLst>
              <a:gd fmla="val 15000" name="adj"/>
            </a:avLst>
          </a:prstGeom>
          <a:solidFill>
            <a:srgbClr val="EDF5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21" name="Google Shape;1021;p23"/>
          <p:cNvSpPr txBox="1"/>
          <p:nvPr/>
        </p:nvSpPr>
        <p:spPr>
          <a:xfrm>
            <a:off x="822960" y="6190488"/>
            <a:ext cx="10469880" cy="2651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200">
                <a:solidFill>
                  <a:srgbClr val="203148"/>
                </a:solidFill>
                <a:latin typeface="Arial"/>
                <a:ea typeface="Arial"/>
                <a:cs typeface="Arial"/>
                <a:sym typeface="Arial"/>
              </a:rPr>
              <a:t>Blue = training; orange = validation; gray dashed = best checkpoint; red dotted (ResNet R2–R6) = unfreeze.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5" name="Shape 1025"/>
        <p:cNvGrpSpPr/>
        <p:nvPr/>
      </p:nvGrpSpPr>
      <p:grpSpPr>
        <a:xfrm>
          <a:off x="0" y="0"/>
          <a:ext cx="0" cy="0"/>
          <a:chOff x="0" y="0"/>
          <a:chExt cx="0" cy="0"/>
        </a:xfrm>
      </p:grpSpPr>
      <p:sp>
        <p:nvSpPr>
          <p:cNvPr id="1026" name="Google Shape;1026;p24"/>
          <p:cNvSpPr/>
          <p:nvPr/>
        </p:nvSpPr>
        <p:spPr>
          <a:xfrm>
            <a:off x="566928" y="548640"/>
            <a:ext cx="1051560" cy="41148"/>
          </a:xfrm>
          <a:prstGeom prst="rect">
            <a:avLst/>
          </a:prstGeom>
          <a:solidFill>
            <a:srgbClr val="0DAE9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27" name="Google Shape;1027;p24"/>
          <p:cNvSpPr txBox="1"/>
          <p:nvPr/>
        </p:nvSpPr>
        <p:spPr>
          <a:xfrm>
            <a:off x="566928" y="274320"/>
            <a:ext cx="10058400" cy="21945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00">
                <a:solidFill>
                  <a:srgbClr val="0DAE9A"/>
                </a:solidFill>
                <a:latin typeface="Arial"/>
                <a:ea typeface="Arial"/>
                <a:cs typeface="Arial"/>
                <a:sym typeface="Arial"/>
              </a:rPr>
              <a:t>APPENDIX · LEARNING CURVES</a:t>
            </a:r>
            <a:endParaRPr/>
          </a:p>
        </p:txBody>
      </p:sp>
      <p:sp>
        <p:nvSpPr>
          <p:cNvPr id="1028" name="Google Shape;1028;p24"/>
          <p:cNvSpPr txBox="1"/>
          <p:nvPr/>
        </p:nvSpPr>
        <p:spPr>
          <a:xfrm>
            <a:off x="566928" y="694944"/>
            <a:ext cx="10972800" cy="5669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2700">
                <a:solidFill>
                  <a:srgbClr val="101A2B"/>
                </a:solidFill>
                <a:latin typeface="Arial"/>
                <a:ea typeface="Arial"/>
                <a:cs typeface="Arial"/>
                <a:sym typeface="Arial"/>
              </a:rPr>
              <a:t>Backup · Learning curves: C3 no dropout + augmentation</a:t>
            </a:r>
            <a:endParaRPr/>
          </a:p>
        </p:txBody>
      </p:sp>
      <p:sp>
        <p:nvSpPr>
          <p:cNvPr id="1029" name="Google Shape;1029;p24"/>
          <p:cNvSpPr txBox="1"/>
          <p:nvPr/>
        </p:nvSpPr>
        <p:spPr>
          <a:xfrm>
            <a:off x="11018520" y="6492240"/>
            <a:ext cx="594360" cy="18288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00">
                <a:solidFill>
                  <a:srgbClr val="718198"/>
                </a:solidFill>
                <a:latin typeface="Arial"/>
                <a:ea typeface="Arial"/>
                <a:cs typeface="Arial"/>
                <a:sym typeface="Arial"/>
              </a:rPr>
              <a:t>22</a:t>
            </a:r>
            <a:endParaRPr/>
          </a:p>
        </p:txBody>
      </p:sp>
      <p:pic>
        <p:nvPicPr>
          <p:cNvPr descr="curves_cnn_3.png" id="1030" name="Google Shape;1030;p24"/>
          <p:cNvPicPr preferRelativeResize="0"/>
          <p:nvPr/>
        </p:nvPicPr>
        <p:blipFill rotWithShape="1">
          <a:blip r:embed="rId3">
            <a:alphaModFix/>
          </a:blip>
          <a:srcRect b="0" l="0" r="0" t="0"/>
          <a:stretch/>
        </p:blipFill>
        <p:spPr>
          <a:xfrm>
            <a:off x="749808" y="1905000"/>
            <a:ext cx="10680192" cy="3560064"/>
          </a:xfrm>
          <a:prstGeom prst="rect">
            <a:avLst/>
          </a:prstGeom>
          <a:noFill/>
          <a:ln>
            <a:noFill/>
          </a:ln>
        </p:spPr>
      </p:pic>
      <p:sp>
        <p:nvSpPr>
          <p:cNvPr id="1031" name="Google Shape;1031;p24"/>
          <p:cNvSpPr/>
          <p:nvPr/>
        </p:nvSpPr>
        <p:spPr>
          <a:xfrm>
            <a:off x="658368" y="6117336"/>
            <a:ext cx="10817352" cy="420624"/>
          </a:xfrm>
          <a:prstGeom prst="roundRect">
            <a:avLst>
              <a:gd fmla="val 15000" name="adj"/>
            </a:avLst>
          </a:prstGeom>
          <a:solidFill>
            <a:srgbClr val="EDF5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32" name="Google Shape;1032;p24"/>
          <p:cNvSpPr txBox="1"/>
          <p:nvPr/>
        </p:nvSpPr>
        <p:spPr>
          <a:xfrm>
            <a:off x="822960" y="6190488"/>
            <a:ext cx="10469880" cy="2651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200">
                <a:solidFill>
                  <a:srgbClr val="203148"/>
                </a:solidFill>
                <a:latin typeface="Arial"/>
                <a:ea typeface="Arial"/>
                <a:cs typeface="Arial"/>
                <a:sym typeface="Arial"/>
              </a:rPr>
              <a:t>Blue = training; orange = validation; gray dashed = best checkpoint; red dotted (ResNet R2–R6) = unfreeze.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6" name="Shape 1036"/>
        <p:cNvGrpSpPr/>
        <p:nvPr/>
      </p:nvGrpSpPr>
      <p:grpSpPr>
        <a:xfrm>
          <a:off x="0" y="0"/>
          <a:ext cx="0" cy="0"/>
          <a:chOff x="0" y="0"/>
          <a:chExt cx="0" cy="0"/>
        </a:xfrm>
      </p:grpSpPr>
      <p:sp>
        <p:nvSpPr>
          <p:cNvPr id="1037" name="Google Shape;1037;p25"/>
          <p:cNvSpPr/>
          <p:nvPr/>
        </p:nvSpPr>
        <p:spPr>
          <a:xfrm>
            <a:off x="566928" y="548640"/>
            <a:ext cx="1051560" cy="41148"/>
          </a:xfrm>
          <a:prstGeom prst="rect">
            <a:avLst/>
          </a:prstGeom>
          <a:solidFill>
            <a:srgbClr val="0DAE9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38" name="Google Shape;1038;p25"/>
          <p:cNvSpPr txBox="1"/>
          <p:nvPr/>
        </p:nvSpPr>
        <p:spPr>
          <a:xfrm>
            <a:off x="566928" y="274320"/>
            <a:ext cx="10058400" cy="21945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00">
                <a:solidFill>
                  <a:srgbClr val="0DAE9A"/>
                </a:solidFill>
                <a:latin typeface="Arial"/>
                <a:ea typeface="Arial"/>
                <a:cs typeface="Arial"/>
                <a:sym typeface="Arial"/>
              </a:rPr>
              <a:t>APPENDIX · LEARNING CURVES</a:t>
            </a:r>
            <a:endParaRPr/>
          </a:p>
        </p:txBody>
      </p:sp>
      <p:sp>
        <p:nvSpPr>
          <p:cNvPr id="1039" name="Google Shape;1039;p25"/>
          <p:cNvSpPr txBox="1"/>
          <p:nvPr/>
        </p:nvSpPr>
        <p:spPr>
          <a:xfrm>
            <a:off x="566928" y="694944"/>
            <a:ext cx="10972800" cy="5669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2700">
                <a:solidFill>
                  <a:srgbClr val="101A2B"/>
                </a:solidFill>
                <a:latin typeface="Arial"/>
                <a:ea typeface="Arial"/>
                <a:cs typeface="Arial"/>
                <a:sym typeface="Arial"/>
              </a:rPr>
              <a:t>Backup · Learning curves: C4 no dropout, no augmentation</a:t>
            </a:r>
            <a:endParaRPr/>
          </a:p>
        </p:txBody>
      </p:sp>
      <p:sp>
        <p:nvSpPr>
          <p:cNvPr id="1040" name="Google Shape;1040;p25"/>
          <p:cNvSpPr txBox="1"/>
          <p:nvPr/>
        </p:nvSpPr>
        <p:spPr>
          <a:xfrm>
            <a:off x="11018520" y="6492240"/>
            <a:ext cx="594360" cy="18288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00">
                <a:solidFill>
                  <a:srgbClr val="718198"/>
                </a:solidFill>
                <a:latin typeface="Arial"/>
                <a:ea typeface="Arial"/>
                <a:cs typeface="Arial"/>
                <a:sym typeface="Arial"/>
              </a:rPr>
              <a:t>23</a:t>
            </a:r>
            <a:endParaRPr/>
          </a:p>
        </p:txBody>
      </p:sp>
      <p:pic>
        <p:nvPicPr>
          <p:cNvPr descr="curves_cnn_4.png" id="1041" name="Google Shape;1041;p25"/>
          <p:cNvPicPr preferRelativeResize="0"/>
          <p:nvPr/>
        </p:nvPicPr>
        <p:blipFill rotWithShape="1">
          <a:blip r:embed="rId3">
            <a:alphaModFix/>
          </a:blip>
          <a:srcRect b="0" l="0" r="0" t="0"/>
          <a:stretch/>
        </p:blipFill>
        <p:spPr>
          <a:xfrm>
            <a:off x="749808" y="1905000"/>
            <a:ext cx="10680192" cy="3560064"/>
          </a:xfrm>
          <a:prstGeom prst="rect">
            <a:avLst/>
          </a:prstGeom>
          <a:noFill/>
          <a:ln>
            <a:noFill/>
          </a:ln>
        </p:spPr>
      </p:pic>
      <p:sp>
        <p:nvSpPr>
          <p:cNvPr id="1042" name="Google Shape;1042;p25"/>
          <p:cNvSpPr/>
          <p:nvPr/>
        </p:nvSpPr>
        <p:spPr>
          <a:xfrm>
            <a:off x="658368" y="6117336"/>
            <a:ext cx="10817352" cy="420624"/>
          </a:xfrm>
          <a:prstGeom prst="roundRect">
            <a:avLst>
              <a:gd fmla="val 15000" name="adj"/>
            </a:avLst>
          </a:prstGeom>
          <a:solidFill>
            <a:srgbClr val="EDF5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3" name="Google Shape;1043;p25"/>
          <p:cNvSpPr txBox="1"/>
          <p:nvPr/>
        </p:nvSpPr>
        <p:spPr>
          <a:xfrm>
            <a:off x="822960" y="6190488"/>
            <a:ext cx="10469880" cy="2651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200">
                <a:solidFill>
                  <a:srgbClr val="203148"/>
                </a:solidFill>
                <a:latin typeface="Arial"/>
                <a:ea typeface="Arial"/>
                <a:cs typeface="Arial"/>
                <a:sym typeface="Arial"/>
              </a:rPr>
              <a:t>Blue = training; orange = validation; gray dashed = best checkpoint; red dotted (ResNet R2–R6) = unfreeze.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7" name="Shape 1047"/>
        <p:cNvGrpSpPr/>
        <p:nvPr/>
      </p:nvGrpSpPr>
      <p:grpSpPr>
        <a:xfrm>
          <a:off x="0" y="0"/>
          <a:ext cx="0" cy="0"/>
          <a:chOff x="0" y="0"/>
          <a:chExt cx="0" cy="0"/>
        </a:xfrm>
      </p:grpSpPr>
      <p:sp>
        <p:nvSpPr>
          <p:cNvPr id="1048" name="Google Shape;1048;p26"/>
          <p:cNvSpPr/>
          <p:nvPr/>
        </p:nvSpPr>
        <p:spPr>
          <a:xfrm>
            <a:off x="566928" y="548640"/>
            <a:ext cx="1051560" cy="41148"/>
          </a:xfrm>
          <a:prstGeom prst="rect">
            <a:avLst/>
          </a:prstGeom>
          <a:solidFill>
            <a:srgbClr val="0DAE9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9" name="Google Shape;1049;p26"/>
          <p:cNvSpPr txBox="1"/>
          <p:nvPr/>
        </p:nvSpPr>
        <p:spPr>
          <a:xfrm>
            <a:off x="566928" y="274320"/>
            <a:ext cx="10058400" cy="21945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00">
                <a:solidFill>
                  <a:srgbClr val="0DAE9A"/>
                </a:solidFill>
                <a:latin typeface="Arial"/>
                <a:ea typeface="Arial"/>
                <a:cs typeface="Arial"/>
                <a:sym typeface="Arial"/>
              </a:rPr>
              <a:t>APPENDIX · LEARNING CURVES</a:t>
            </a:r>
            <a:endParaRPr/>
          </a:p>
        </p:txBody>
      </p:sp>
      <p:sp>
        <p:nvSpPr>
          <p:cNvPr id="1050" name="Google Shape;1050;p26"/>
          <p:cNvSpPr txBox="1"/>
          <p:nvPr/>
        </p:nvSpPr>
        <p:spPr>
          <a:xfrm>
            <a:off x="566928" y="694944"/>
            <a:ext cx="10972800" cy="5669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2700">
                <a:solidFill>
                  <a:srgbClr val="101A2B"/>
                </a:solidFill>
                <a:latin typeface="Arial"/>
                <a:ea typeface="Arial"/>
                <a:cs typeface="Arial"/>
                <a:sym typeface="Arial"/>
              </a:rPr>
              <a:t>Backup · Learning curves: C5 dropout .3 + augmentation</a:t>
            </a:r>
            <a:endParaRPr/>
          </a:p>
        </p:txBody>
      </p:sp>
      <p:sp>
        <p:nvSpPr>
          <p:cNvPr id="1051" name="Google Shape;1051;p26"/>
          <p:cNvSpPr txBox="1"/>
          <p:nvPr/>
        </p:nvSpPr>
        <p:spPr>
          <a:xfrm>
            <a:off x="11018520" y="6492240"/>
            <a:ext cx="594360" cy="18288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00">
                <a:solidFill>
                  <a:srgbClr val="718198"/>
                </a:solidFill>
                <a:latin typeface="Arial"/>
                <a:ea typeface="Arial"/>
                <a:cs typeface="Arial"/>
                <a:sym typeface="Arial"/>
              </a:rPr>
              <a:t>24</a:t>
            </a:r>
            <a:endParaRPr/>
          </a:p>
        </p:txBody>
      </p:sp>
      <p:pic>
        <p:nvPicPr>
          <p:cNvPr descr="curves_cnn_5.png" id="1052" name="Google Shape;1052;p26"/>
          <p:cNvPicPr preferRelativeResize="0"/>
          <p:nvPr/>
        </p:nvPicPr>
        <p:blipFill rotWithShape="1">
          <a:blip r:embed="rId3">
            <a:alphaModFix/>
          </a:blip>
          <a:srcRect b="0" l="0" r="0" t="0"/>
          <a:stretch/>
        </p:blipFill>
        <p:spPr>
          <a:xfrm>
            <a:off x="749808" y="1905000"/>
            <a:ext cx="10680192" cy="3560064"/>
          </a:xfrm>
          <a:prstGeom prst="rect">
            <a:avLst/>
          </a:prstGeom>
          <a:noFill/>
          <a:ln>
            <a:noFill/>
          </a:ln>
        </p:spPr>
      </p:pic>
      <p:sp>
        <p:nvSpPr>
          <p:cNvPr id="1053" name="Google Shape;1053;p26"/>
          <p:cNvSpPr/>
          <p:nvPr/>
        </p:nvSpPr>
        <p:spPr>
          <a:xfrm>
            <a:off x="658368" y="6117336"/>
            <a:ext cx="10817352" cy="420624"/>
          </a:xfrm>
          <a:prstGeom prst="roundRect">
            <a:avLst>
              <a:gd fmla="val 15000" name="adj"/>
            </a:avLst>
          </a:prstGeom>
          <a:solidFill>
            <a:srgbClr val="EDF5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4" name="Google Shape;1054;p26"/>
          <p:cNvSpPr txBox="1"/>
          <p:nvPr/>
        </p:nvSpPr>
        <p:spPr>
          <a:xfrm>
            <a:off x="822960" y="6190488"/>
            <a:ext cx="10469880" cy="2651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200">
                <a:solidFill>
                  <a:srgbClr val="203148"/>
                </a:solidFill>
                <a:latin typeface="Arial"/>
                <a:ea typeface="Arial"/>
                <a:cs typeface="Arial"/>
                <a:sym typeface="Arial"/>
              </a:rPr>
              <a:t>Blue = training; orange = validation; gray dashed = best checkpoint; red dotted (ResNet R2–R6) = unfreeze.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8" name="Shape 1058"/>
        <p:cNvGrpSpPr/>
        <p:nvPr/>
      </p:nvGrpSpPr>
      <p:grpSpPr>
        <a:xfrm>
          <a:off x="0" y="0"/>
          <a:ext cx="0" cy="0"/>
          <a:chOff x="0" y="0"/>
          <a:chExt cx="0" cy="0"/>
        </a:xfrm>
      </p:grpSpPr>
      <p:sp>
        <p:nvSpPr>
          <p:cNvPr id="1059" name="Google Shape;1059;p27"/>
          <p:cNvSpPr/>
          <p:nvPr/>
        </p:nvSpPr>
        <p:spPr>
          <a:xfrm>
            <a:off x="566928" y="548640"/>
            <a:ext cx="1051560" cy="41148"/>
          </a:xfrm>
          <a:prstGeom prst="rect">
            <a:avLst/>
          </a:prstGeom>
          <a:solidFill>
            <a:srgbClr val="0DAE9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60" name="Google Shape;1060;p27"/>
          <p:cNvSpPr txBox="1"/>
          <p:nvPr/>
        </p:nvSpPr>
        <p:spPr>
          <a:xfrm>
            <a:off x="566928" y="274320"/>
            <a:ext cx="10058400" cy="21945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00">
                <a:solidFill>
                  <a:srgbClr val="0DAE9A"/>
                </a:solidFill>
                <a:latin typeface="Arial"/>
                <a:ea typeface="Arial"/>
                <a:cs typeface="Arial"/>
                <a:sym typeface="Arial"/>
              </a:rPr>
              <a:t>APPENDIX · LEARNING CURVES</a:t>
            </a:r>
            <a:endParaRPr/>
          </a:p>
        </p:txBody>
      </p:sp>
      <p:sp>
        <p:nvSpPr>
          <p:cNvPr id="1061" name="Google Shape;1061;p27"/>
          <p:cNvSpPr txBox="1"/>
          <p:nvPr/>
        </p:nvSpPr>
        <p:spPr>
          <a:xfrm>
            <a:off x="566928" y="694944"/>
            <a:ext cx="10972800" cy="5669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2700">
                <a:solidFill>
                  <a:srgbClr val="101A2B"/>
                </a:solidFill>
                <a:latin typeface="Arial"/>
                <a:ea typeface="Arial"/>
                <a:cs typeface="Arial"/>
                <a:sym typeface="Arial"/>
              </a:rPr>
              <a:t>Backup · Learning curves: R1 head-only</a:t>
            </a:r>
            <a:endParaRPr/>
          </a:p>
        </p:txBody>
      </p:sp>
      <p:sp>
        <p:nvSpPr>
          <p:cNvPr id="1062" name="Google Shape;1062;p27"/>
          <p:cNvSpPr txBox="1"/>
          <p:nvPr/>
        </p:nvSpPr>
        <p:spPr>
          <a:xfrm>
            <a:off x="11018520" y="6492240"/>
            <a:ext cx="594360" cy="18288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00">
                <a:solidFill>
                  <a:srgbClr val="718198"/>
                </a:solidFill>
                <a:latin typeface="Arial"/>
                <a:ea typeface="Arial"/>
                <a:cs typeface="Arial"/>
                <a:sym typeface="Arial"/>
              </a:rPr>
              <a:t>25</a:t>
            </a:r>
            <a:endParaRPr/>
          </a:p>
        </p:txBody>
      </p:sp>
      <p:pic>
        <p:nvPicPr>
          <p:cNvPr descr="curves_resnet_1.png" id="1063" name="Google Shape;1063;p27"/>
          <p:cNvPicPr preferRelativeResize="0"/>
          <p:nvPr/>
        </p:nvPicPr>
        <p:blipFill rotWithShape="1">
          <a:blip r:embed="rId3">
            <a:alphaModFix/>
          </a:blip>
          <a:srcRect b="0" l="0" r="0" t="0"/>
          <a:stretch/>
        </p:blipFill>
        <p:spPr>
          <a:xfrm>
            <a:off x="749808" y="1905000"/>
            <a:ext cx="10680192" cy="3560064"/>
          </a:xfrm>
          <a:prstGeom prst="rect">
            <a:avLst/>
          </a:prstGeom>
          <a:noFill/>
          <a:ln>
            <a:noFill/>
          </a:ln>
        </p:spPr>
      </p:pic>
      <p:sp>
        <p:nvSpPr>
          <p:cNvPr id="1064" name="Google Shape;1064;p27"/>
          <p:cNvSpPr/>
          <p:nvPr/>
        </p:nvSpPr>
        <p:spPr>
          <a:xfrm>
            <a:off x="658368" y="6117336"/>
            <a:ext cx="10817352" cy="420624"/>
          </a:xfrm>
          <a:prstGeom prst="roundRect">
            <a:avLst>
              <a:gd fmla="val 15000" name="adj"/>
            </a:avLst>
          </a:prstGeom>
          <a:solidFill>
            <a:srgbClr val="EDF5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65" name="Google Shape;1065;p27"/>
          <p:cNvSpPr txBox="1"/>
          <p:nvPr/>
        </p:nvSpPr>
        <p:spPr>
          <a:xfrm>
            <a:off x="822960" y="6190488"/>
            <a:ext cx="10469880" cy="2651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200">
                <a:solidFill>
                  <a:srgbClr val="203148"/>
                </a:solidFill>
                <a:latin typeface="Arial"/>
                <a:ea typeface="Arial"/>
                <a:cs typeface="Arial"/>
                <a:sym typeface="Arial"/>
              </a:rPr>
              <a:t>Blue = training; orange = validation; gray dashed = best checkpoint; red dotted (ResNet R2–R6) = unfreeze.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9" name="Shape 1069"/>
        <p:cNvGrpSpPr/>
        <p:nvPr/>
      </p:nvGrpSpPr>
      <p:grpSpPr>
        <a:xfrm>
          <a:off x="0" y="0"/>
          <a:ext cx="0" cy="0"/>
          <a:chOff x="0" y="0"/>
          <a:chExt cx="0" cy="0"/>
        </a:xfrm>
      </p:grpSpPr>
      <p:sp>
        <p:nvSpPr>
          <p:cNvPr id="1070" name="Google Shape;1070;p28"/>
          <p:cNvSpPr/>
          <p:nvPr/>
        </p:nvSpPr>
        <p:spPr>
          <a:xfrm>
            <a:off x="566928" y="548640"/>
            <a:ext cx="1051560" cy="41148"/>
          </a:xfrm>
          <a:prstGeom prst="rect">
            <a:avLst/>
          </a:prstGeom>
          <a:solidFill>
            <a:srgbClr val="0DAE9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71" name="Google Shape;1071;p28"/>
          <p:cNvSpPr txBox="1"/>
          <p:nvPr/>
        </p:nvSpPr>
        <p:spPr>
          <a:xfrm>
            <a:off x="566928" y="274320"/>
            <a:ext cx="10058400" cy="21945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00">
                <a:solidFill>
                  <a:srgbClr val="0DAE9A"/>
                </a:solidFill>
                <a:latin typeface="Arial"/>
                <a:ea typeface="Arial"/>
                <a:cs typeface="Arial"/>
                <a:sym typeface="Arial"/>
              </a:rPr>
              <a:t>APPENDIX · LEARNING CURVES</a:t>
            </a:r>
            <a:endParaRPr/>
          </a:p>
        </p:txBody>
      </p:sp>
      <p:sp>
        <p:nvSpPr>
          <p:cNvPr id="1072" name="Google Shape;1072;p28"/>
          <p:cNvSpPr txBox="1"/>
          <p:nvPr/>
        </p:nvSpPr>
        <p:spPr>
          <a:xfrm>
            <a:off x="566928" y="694944"/>
            <a:ext cx="10972800" cy="5669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2700">
                <a:solidFill>
                  <a:srgbClr val="101A2B"/>
                </a:solidFill>
                <a:latin typeface="Arial"/>
                <a:ea typeface="Arial"/>
                <a:cs typeface="Arial"/>
                <a:sym typeface="Arial"/>
              </a:rPr>
              <a:t>Backup · Learning curves: R2 fine-tuned layer4</a:t>
            </a:r>
            <a:endParaRPr/>
          </a:p>
        </p:txBody>
      </p:sp>
      <p:sp>
        <p:nvSpPr>
          <p:cNvPr id="1073" name="Google Shape;1073;p28"/>
          <p:cNvSpPr txBox="1"/>
          <p:nvPr/>
        </p:nvSpPr>
        <p:spPr>
          <a:xfrm>
            <a:off x="11018520" y="6492240"/>
            <a:ext cx="594360" cy="18288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00">
                <a:solidFill>
                  <a:srgbClr val="718198"/>
                </a:solidFill>
                <a:latin typeface="Arial"/>
                <a:ea typeface="Arial"/>
                <a:cs typeface="Arial"/>
                <a:sym typeface="Arial"/>
              </a:rPr>
              <a:t>26</a:t>
            </a:r>
            <a:endParaRPr/>
          </a:p>
        </p:txBody>
      </p:sp>
      <p:pic>
        <p:nvPicPr>
          <p:cNvPr descr="curves_resnet_2.png" id="1074" name="Google Shape;1074;p28"/>
          <p:cNvPicPr preferRelativeResize="0"/>
          <p:nvPr/>
        </p:nvPicPr>
        <p:blipFill rotWithShape="1">
          <a:blip r:embed="rId3">
            <a:alphaModFix/>
          </a:blip>
          <a:srcRect b="0" l="0" r="0" t="0"/>
          <a:stretch/>
        </p:blipFill>
        <p:spPr>
          <a:xfrm>
            <a:off x="749808" y="1905000"/>
            <a:ext cx="10680192" cy="3560064"/>
          </a:xfrm>
          <a:prstGeom prst="rect">
            <a:avLst/>
          </a:prstGeom>
          <a:noFill/>
          <a:ln>
            <a:noFill/>
          </a:ln>
        </p:spPr>
      </p:pic>
      <p:sp>
        <p:nvSpPr>
          <p:cNvPr id="1075" name="Google Shape;1075;p28"/>
          <p:cNvSpPr/>
          <p:nvPr/>
        </p:nvSpPr>
        <p:spPr>
          <a:xfrm>
            <a:off x="658368" y="6117336"/>
            <a:ext cx="10817352" cy="420624"/>
          </a:xfrm>
          <a:prstGeom prst="roundRect">
            <a:avLst>
              <a:gd fmla="val 15000" name="adj"/>
            </a:avLst>
          </a:prstGeom>
          <a:solidFill>
            <a:srgbClr val="EDF5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76" name="Google Shape;1076;p28"/>
          <p:cNvSpPr txBox="1"/>
          <p:nvPr/>
        </p:nvSpPr>
        <p:spPr>
          <a:xfrm>
            <a:off x="822960" y="6190488"/>
            <a:ext cx="10469880" cy="2651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200">
                <a:solidFill>
                  <a:srgbClr val="203148"/>
                </a:solidFill>
                <a:latin typeface="Arial"/>
                <a:ea typeface="Arial"/>
                <a:cs typeface="Arial"/>
                <a:sym typeface="Arial"/>
              </a:rPr>
              <a:t>Blue = training; orange = validation; gray dashed = best checkpoint; red dotted (ResNet R2–R6) = unfreeze.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0" name="Shape 1080"/>
        <p:cNvGrpSpPr/>
        <p:nvPr/>
      </p:nvGrpSpPr>
      <p:grpSpPr>
        <a:xfrm>
          <a:off x="0" y="0"/>
          <a:ext cx="0" cy="0"/>
          <a:chOff x="0" y="0"/>
          <a:chExt cx="0" cy="0"/>
        </a:xfrm>
      </p:grpSpPr>
      <p:sp>
        <p:nvSpPr>
          <p:cNvPr id="1081" name="Google Shape;1081;p29"/>
          <p:cNvSpPr/>
          <p:nvPr/>
        </p:nvSpPr>
        <p:spPr>
          <a:xfrm>
            <a:off x="566928" y="548640"/>
            <a:ext cx="1051560" cy="41148"/>
          </a:xfrm>
          <a:prstGeom prst="rect">
            <a:avLst/>
          </a:prstGeom>
          <a:solidFill>
            <a:srgbClr val="0DAE9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82" name="Google Shape;1082;p29"/>
          <p:cNvSpPr txBox="1"/>
          <p:nvPr/>
        </p:nvSpPr>
        <p:spPr>
          <a:xfrm>
            <a:off x="566928" y="274320"/>
            <a:ext cx="10058400" cy="21945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00">
                <a:solidFill>
                  <a:srgbClr val="0DAE9A"/>
                </a:solidFill>
                <a:latin typeface="Arial"/>
                <a:ea typeface="Arial"/>
                <a:cs typeface="Arial"/>
                <a:sym typeface="Arial"/>
              </a:rPr>
              <a:t>APPENDIX · LEARNING CURVES</a:t>
            </a:r>
            <a:endParaRPr/>
          </a:p>
        </p:txBody>
      </p:sp>
      <p:sp>
        <p:nvSpPr>
          <p:cNvPr id="1083" name="Google Shape;1083;p29"/>
          <p:cNvSpPr txBox="1"/>
          <p:nvPr/>
        </p:nvSpPr>
        <p:spPr>
          <a:xfrm>
            <a:off x="566928" y="694944"/>
            <a:ext cx="10972800" cy="5669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2700">
                <a:solidFill>
                  <a:srgbClr val="101A2B"/>
                </a:solidFill>
                <a:latin typeface="Arial"/>
                <a:ea typeface="Arial"/>
                <a:cs typeface="Arial"/>
                <a:sym typeface="Arial"/>
              </a:rPr>
              <a:t>Backup · Learning curves: R3 fine-tuned layer3+4</a:t>
            </a:r>
            <a:endParaRPr/>
          </a:p>
        </p:txBody>
      </p:sp>
      <p:sp>
        <p:nvSpPr>
          <p:cNvPr id="1084" name="Google Shape;1084;p29"/>
          <p:cNvSpPr txBox="1"/>
          <p:nvPr/>
        </p:nvSpPr>
        <p:spPr>
          <a:xfrm>
            <a:off x="11018520" y="6492240"/>
            <a:ext cx="594360" cy="18288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00">
                <a:solidFill>
                  <a:srgbClr val="718198"/>
                </a:solidFill>
                <a:latin typeface="Arial"/>
                <a:ea typeface="Arial"/>
                <a:cs typeface="Arial"/>
                <a:sym typeface="Arial"/>
              </a:rPr>
              <a:t>27</a:t>
            </a:r>
            <a:endParaRPr/>
          </a:p>
        </p:txBody>
      </p:sp>
      <p:pic>
        <p:nvPicPr>
          <p:cNvPr descr="curves_resnet_3.png" id="1085" name="Google Shape;1085;p29"/>
          <p:cNvPicPr preferRelativeResize="0"/>
          <p:nvPr/>
        </p:nvPicPr>
        <p:blipFill rotWithShape="1">
          <a:blip r:embed="rId3">
            <a:alphaModFix/>
          </a:blip>
          <a:srcRect b="0" l="0" r="0" t="0"/>
          <a:stretch/>
        </p:blipFill>
        <p:spPr>
          <a:xfrm>
            <a:off x="749808" y="1905000"/>
            <a:ext cx="10680192" cy="3560064"/>
          </a:xfrm>
          <a:prstGeom prst="rect">
            <a:avLst/>
          </a:prstGeom>
          <a:noFill/>
          <a:ln>
            <a:noFill/>
          </a:ln>
        </p:spPr>
      </p:pic>
      <p:sp>
        <p:nvSpPr>
          <p:cNvPr id="1086" name="Google Shape;1086;p29"/>
          <p:cNvSpPr/>
          <p:nvPr/>
        </p:nvSpPr>
        <p:spPr>
          <a:xfrm>
            <a:off x="658368" y="6117336"/>
            <a:ext cx="10817352" cy="420624"/>
          </a:xfrm>
          <a:prstGeom prst="roundRect">
            <a:avLst>
              <a:gd fmla="val 15000" name="adj"/>
            </a:avLst>
          </a:prstGeom>
          <a:solidFill>
            <a:srgbClr val="EDF5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87" name="Google Shape;1087;p29"/>
          <p:cNvSpPr txBox="1"/>
          <p:nvPr/>
        </p:nvSpPr>
        <p:spPr>
          <a:xfrm>
            <a:off x="822960" y="6190488"/>
            <a:ext cx="10469880" cy="2651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200">
                <a:solidFill>
                  <a:srgbClr val="203148"/>
                </a:solidFill>
                <a:latin typeface="Arial"/>
                <a:ea typeface="Arial"/>
                <a:cs typeface="Arial"/>
                <a:sym typeface="Arial"/>
              </a:rPr>
              <a:t>Blue = training; orange = validation; gray dashed = best checkpoint; red dotted (ResNet R2–R6) = unfreeze.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1" name="Shape 1091"/>
        <p:cNvGrpSpPr/>
        <p:nvPr/>
      </p:nvGrpSpPr>
      <p:grpSpPr>
        <a:xfrm>
          <a:off x="0" y="0"/>
          <a:ext cx="0" cy="0"/>
          <a:chOff x="0" y="0"/>
          <a:chExt cx="0" cy="0"/>
        </a:xfrm>
      </p:grpSpPr>
      <p:sp>
        <p:nvSpPr>
          <p:cNvPr id="1092" name="Google Shape;1092;p30"/>
          <p:cNvSpPr/>
          <p:nvPr/>
        </p:nvSpPr>
        <p:spPr>
          <a:xfrm>
            <a:off x="566928" y="548640"/>
            <a:ext cx="1051560" cy="41148"/>
          </a:xfrm>
          <a:prstGeom prst="rect">
            <a:avLst/>
          </a:prstGeom>
          <a:solidFill>
            <a:srgbClr val="0DAE9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3" name="Google Shape;1093;p30"/>
          <p:cNvSpPr txBox="1"/>
          <p:nvPr/>
        </p:nvSpPr>
        <p:spPr>
          <a:xfrm>
            <a:off x="566928" y="274320"/>
            <a:ext cx="10058400" cy="21945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00">
                <a:solidFill>
                  <a:srgbClr val="0DAE9A"/>
                </a:solidFill>
                <a:latin typeface="Arial"/>
                <a:ea typeface="Arial"/>
                <a:cs typeface="Arial"/>
                <a:sym typeface="Arial"/>
              </a:rPr>
              <a:t>APPENDIX · LEARNING CURVES</a:t>
            </a:r>
            <a:endParaRPr/>
          </a:p>
        </p:txBody>
      </p:sp>
      <p:sp>
        <p:nvSpPr>
          <p:cNvPr id="1094" name="Google Shape;1094;p30"/>
          <p:cNvSpPr txBox="1"/>
          <p:nvPr/>
        </p:nvSpPr>
        <p:spPr>
          <a:xfrm>
            <a:off x="566928" y="694944"/>
            <a:ext cx="10972800" cy="5669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2700">
                <a:solidFill>
                  <a:srgbClr val="101A2B"/>
                </a:solidFill>
                <a:latin typeface="Arial"/>
                <a:ea typeface="Arial"/>
                <a:cs typeface="Arial"/>
                <a:sym typeface="Arial"/>
              </a:rPr>
              <a:t>Backup · Learning curves: R4 without augmentation</a:t>
            </a:r>
            <a:endParaRPr/>
          </a:p>
        </p:txBody>
      </p:sp>
      <p:sp>
        <p:nvSpPr>
          <p:cNvPr id="1095" name="Google Shape;1095;p30"/>
          <p:cNvSpPr txBox="1"/>
          <p:nvPr/>
        </p:nvSpPr>
        <p:spPr>
          <a:xfrm>
            <a:off x="11018520" y="6492240"/>
            <a:ext cx="594360" cy="18288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00">
                <a:solidFill>
                  <a:srgbClr val="718198"/>
                </a:solidFill>
                <a:latin typeface="Arial"/>
                <a:ea typeface="Arial"/>
                <a:cs typeface="Arial"/>
                <a:sym typeface="Arial"/>
              </a:rPr>
              <a:t>28</a:t>
            </a:r>
            <a:endParaRPr/>
          </a:p>
        </p:txBody>
      </p:sp>
      <p:pic>
        <p:nvPicPr>
          <p:cNvPr descr="curves_resnet_4.png" id="1096" name="Google Shape;1096;p30"/>
          <p:cNvPicPr preferRelativeResize="0"/>
          <p:nvPr/>
        </p:nvPicPr>
        <p:blipFill rotWithShape="1">
          <a:blip r:embed="rId3">
            <a:alphaModFix/>
          </a:blip>
          <a:srcRect b="0" l="0" r="0" t="0"/>
          <a:stretch/>
        </p:blipFill>
        <p:spPr>
          <a:xfrm>
            <a:off x="749808" y="1905000"/>
            <a:ext cx="10680192" cy="3560064"/>
          </a:xfrm>
          <a:prstGeom prst="rect">
            <a:avLst/>
          </a:prstGeom>
          <a:noFill/>
          <a:ln>
            <a:noFill/>
          </a:ln>
        </p:spPr>
      </p:pic>
      <p:sp>
        <p:nvSpPr>
          <p:cNvPr id="1097" name="Google Shape;1097;p30"/>
          <p:cNvSpPr/>
          <p:nvPr/>
        </p:nvSpPr>
        <p:spPr>
          <a:xfrm>
            <a:off x="658368" y="6117336"/>
            <a:ext cx="10817352" cy="420624"/>
          </a:xfrm>
          <a:prstGeom prst="roundRect">
            <a:avLst>
              <a:gd fmla="val 15000" name="adj"/>
            </a:avLst>
          </a:prstGeom>
          <a:solidFill>
            <a:srgbClr val="EDF5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8" name="Google Shape;1098;p30"/>
          <p:cNvSpPr txBox="1"/>
          <p:nvPr/>
        </p:nvSpPr>
        <p:spPr>
          <a:xfrm>
            <a:off x="822960" y="6190488"/>
            <a:ext cx="10469880" cy="2651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200">
                <a:solidFill>
                  <a:srgbClr val="203148"/>
                </a:solidFill>
                <a:latin typeface="Arial"/>
                <a:ea typeface="Arial"/>
                <a:cs typeface="Arial"/>
                <a:sym typeface="Arial"/>
              </a:rPr>
              <a:t>Blue = training; orange = validation; gray dashed = best checkpoint; red dotted (ResNet R2–R6) = unfreeze.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2" name="Shape 1102"/>
        <p:cNvGrpSpPr/>
        <p:nvPr/>
      </p:nvGrpSpPr>
      <p:grpSpPr>
        <a:xfrm>
          <a:off x="0" y="0"/>
          <a:ext cx="0" cy="0"/>
          <a:chOff x="0" y="0"/>
          <a:chExt cx="0" cy="0"/>
        </a:xfrm>
      </p:grpSpPr>
      <p:sp>
        <p:nvSpPr>
          <p:cNvPr id="1103" name="Google Shape;1103;p31"/>
          <p:cNvSpPr/>
          <p:nvPr/>
        </p:nvSpPr>
        <p:spPr>
          <a:xfrm>
            <a:off x="566928" y="548640"/>
            <a:ext cx="1051560" cy="41148"/>
          </a:xfrm>
          <a:prstGeom prst="rect">
            <a:avLst/>
          </a:prstGeom>
          <a:solidFill>
            <a:srgbClr val="0DAE9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04" name="Google Shape;1104;p31"/>
          <p:cNvSpPr txBox="1"/>
          <p:nvPr/>
        </p:nvSpPr>
        <p:spPr>
          <a:xfrm>
            <a:off x="566928" y="274320"/>
            <a:ext cx="10058400" cy="21945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00">
                <a:solidFill>
                  <a:srgbClr val="0DAE9A"/>
                </a:solidFill>
                <a:latin typeface="Arial"/>
                <a:ea typeface="Arial"/>
                <a:cs typeface="Arial"/>
                <a:sym typeface="Arial"/>
              </a:rPr>
              <a:t>APPENDIX · LEARNING CURVES</a:t>
            </a:r>
            <a:endParaRPr/>
          </a:p>
        </p:txBody>
      </p:sp>
      <p:sp>
        <p:nvSpPr>
          <p:cNvPr id="1105" name="Google Shape;1105;p31"/>
          <p:cNvSpPr txBox="1"/>
          <p:nvPr/>
        </p:nvSpPr>
        <p:spPr>
          <a:xfrm>
            <a:off x="566928" y="694944"/>
            <a:ext cx="10972800" cy="5669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2700">
                <a:solidFill>
                  <a:srgbClr val="101A2B"/>
                </a:solidFill>
                <a:latin typeface="Arial"/>
                <a:ea typeface="Arial"/>
                <a:cs typeface="Arial"/>
                <a:sym typeface="Arial"/>
              </a:rPr>
              <a:t>Backup · Learning curves: R5 fine-tune LR 1e−3</a:t>
            </a:r>
            <a:endParaRPr/>
          </a:p>
        </p:txBody>
      </p:sp>
      <p:sp>
        <p:nvSpPr>
          <p:cNvPr id="1106" name="Google Shape;1106;p31"/>
          <p:cNvSpPr txBox="1"/>
          <p:nvPr/>
        </p:nvSpPr>
        <p:spPr>
          <a:xfrm>
            <a:off x="11018520" y="6492240"/>
            <a:ext cx="594360" cy="18288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00">
                <a:solidFill>
                  <a:srgbClr val="718198"/>
                </a:solidFill>
                <a:latin typeface="Arial"/>
                <a:ea typeface="Arial"/>
                <a:cs typeface="Arial"/>
                <a:sym typeface="Arial"/>
              </a:rPr>
              <a:t>29</a:t>
            </a:r>
            <a:endParaRPr/>
          </a:p>
        </p:txBody>
      </p:sp>
      <p:pic>
        <p:nvPicPr>
          <p:cNvPr descr="curves_resnet_5.png" id="1107" name="Google Shape;1107;p31"/>
          <p:cNvPicPr preferRelativeResize="0"/>
          <p:nvPr/>
        </p:nvPicPr>
        <p:blipFill rotWithShape="1">
          <a:blip r:embed="rId3">
            <a:alphaModFix/>
          </a:blip>
          <a:srcRect b="0" l="0" r="0" t="0"/>
          <a:stretch/>
        </p:blipFill>
        <p:spPr>
          <a:xfrm>
            <a:off x="749808" y="1905000"/>
            <a:ext cx="10680192" cy="3560064"/>
          </a:xfrm>
          <a:prstGeom prst="rect">
            <a:avLst/>
          </a:prstGeom>
          <a:noFill/>
          <a:ln>
            <a:noFill/>
          </a:ln>
        </p:spPr>
      </p:pic>
      <p:sp>
        <p:nvSpPr>
          <p:cNvPr id="1108" name="Google Shape;1108;p31"/>
          <p:cNvSpPr/>
          <p:nvPr/>
        </p:nvSpPr>
        <p:spPr>
          <a:xfrm>
            <a:off x="658368" y="6117336"/>
            <a:ext cx="10817352" cy="420624"/>
          </a:xfrm>
          <a:prstGeom prst="roundRect">
            <a:avLst>
              <a:gd fmla="val 15000" name="adj"/>
            </a:avLst>
          </a:prstGeom>
          <a:solidFill>
            <a:srgbClr val="EDF5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09" name="Google Shape;1109;p31"/>
          <p:cNvSpPr txBox="1"/>
          <p:nvPr/>
        </p:nvSpPr>
        <p:spPr>
          <a:xfrm>
            <a:off x="822960" y="6190488"/>
            <a:ext cx="10469880" cy="2651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200">
                <a:solidFill>
                  <a:srgbClr val="203148"/>
                </a:solidFill>
                <a:latin typeface="Arial"/>
                <a:ea typeface="Arial"/>
                <a:cs typeface="Arial"/>
                <a:sym typeface="Arial"/>
              </a:rPr>
              <a:t>Blue = training; orange = validation; gray dashed = best checkpoint; red dotted (ResNet R2–R6) = unfreeze.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3" name="Shape 1113"/>
        <p:cNvGrpSpPr/>
        <p:nvPr/>
      </p:nvGrpSpPr>
      <p:grpSpPr>
        <a:xfrm>
          <a:off x="0" y="0"/>
          <a:ext cx="0" cy="0"/>
          <a:chOff x="0" y="0"/>
          <a:chExt cx="0" cy="0"/>
        </a:xfrm>
      </p:grpSpPr>
      <p:sp>
        <p:nvSpPr>
          <p:cNvPr id="1114" name="Google Shape;1114;p32"/>
          <p:cNvSpPr/>
          <p:nvPr/>
        </p:nvSpPr>
        <p:spPr>
          <a:xfrm>
            <a:off x="566928" y="548640"/>
            <a:ext cx="1051560" cy="41148"/>
          </a:xfrm>
          <a:prstGeom prst="rect">
            <a:avLst/>
          </a:prstGeom>
          <a:solidFill>
            <a:srgbClr val="0DAE9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15" name="Google Shape;1115;p32"/>
          <p:cNvSpPr txBox="1"/>
          <p:nvPr/>
        </p:nvSpPr>
        <p:spPr>
          <a:xfrm>
            <a:off x="566928" y="274320"/>
            <a:ext cx="10058400" cy="21945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00">
                <a:solidFill>
                  <a:srgbClr val="0DAE9A"/>
                </a:solidFill>
                <a:latin typeface="Arial"/>
                <a:ea typeface="Arial"/>
                <a:cs typeface="Arial"/>
                <a:sym typeface="Arial"/>
              </a:rPr>
              <a:t>APPENDIX · LEARNING CURVES</a:t>
            </a:r>
            <a:endParaRPr/>
          </a:p>
        </p:txBody>
      </p:sp>
      <p:sp>
        <p:nvSpPr>
          <p:cNvPr id="1116" name="Google Shape;1116;p32"/>
          <p:cNvSpPr txBox="1"/>
          <p:nvPr/>
        </p:nvSpPr>
        <p:spPr>
          <a:xfrm>
            <a:off x="566928" y="694944"/>
            <a:ext cx="10972800" cy="5669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2700">
                <a:solidFill>
                  <a:srgbClr val="101A2B"/>
                </a:solidFill>
                <a:latin typeface="Arial"/>
                <a:ea typeface="Arial"/>
                <a:cs typeface="Arial"/>
                <a:sym typeface="Arial"/>
              </a:rPr>
              <a:t>Backup · Learning curves: R6 without dropout</a:t>
            </a:r>
            <a:endParaRPr/>
          </a:p>
        </p:txBody>
      </p:sp>
      <p:sp>
        <p:nvSpPr>
          <p:cNvPr id="1117" name="Google Shape;1117;p32"/>
          <p:cNvSpPr txBox="1"/>
          <p:nvPr/>
        </p:nvSpPr>
        <p:spPr>
          <a:xfrm>
            <a:off x="11018520" y="6492240"/>
            <a:ext cx="594360" cy="18288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00">
                <a:solidFill>
                  <a:srgbClr val="718198"/>
                </a:solidFill>
                <a:latin typeface="Arial"/>
                <a:ea typeface="Arial"/>
                <a:cs typeface="Arial"/>
                <a:sym typeface="Arial"/>
              </a:rPr>
              <a:t>30</a:t>
            </a:r>
            <a:endParaRPr/>
          </a:p>
        </p:txBody>
      </p:sp>
      <p:pic>
        <p:nvPicPr>
          <p:cNvPr descr="curves_resnet_6.png" id="1118" name="Google Shape;1118;p32"/>
          <p:cNvPicPr preferRelativeResize="0"/>
          <p:nvPr/>
        </p:nvPicPr>
        <p:blipFill rotWithShape="1">
          <a:blip r:embed="rId3">
            <a:alphaModFix/>
          </a:blip>
          <a:srcRect b="0" l="0" r="0" t="0"/>
          <a:stretch/>
        </p:blipFill>
        <p:spPr>
          <a:xfrm>
            <a:off x="749808" y="1905000"/>
            <a:ext cx="10680192" cy="3560064"/>
          </a:xfrm>
          <a:prstGeom prst="rect">
            <a:avLst/>
          </a:prstGeom>
          <a:noFill/>
          <a:ln>
            <a:noFill/>
          </a:ln>
        </p:spPr>
      </p:pic>
      <p:sp>
        <p:nvSpPr>
          <p:cNvPr id="1119" name="Google Shape;1119;p32"/>
          <p:cNvSpPr/>
          <p:nvPr/>
        </p:nvSpPr>
        <p:spPr>
          <a:xfrm>
            <a:off x="658368" y="6117336"/>
            <a:ext cx="10817352" cy="420624"/>
          </a:xfrm>
          <a:prstGeom prst="roundRect">
            <a:avLst>
              <a:gd fmla="val 15000" name="adj"/>
            </a:avLst>
          </a:prstGeom>
          <a:solidFill>
            <a:srgbClr val="EDF5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20" name="Google Shape;1120;p32"/>
          <p:cNvSpPr txBox="1"/>
          <p:nvPr/>
        </p:nvSpPr>
        <p:spPr>
          <a:xfrm>
            <a:off x="822960" y="6190488"/>
            <a:ext cx="10469880" cy="2651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200">
                <a:solidFill>
                  <a:srgbClr val="203148"/>
                </a:solidFill>
                <a:latin typeface="Arial"/>
                <a:ea typeface="Arial"/>
                <a:cs typeface="Arial"/>
                <a:sym typeface="Arial"/>
              </a:rPr>
              <a:t>Blue = training; orange = validation; gray dashed = best checkpoint; red dotted (ResNet R2–R6) = unfreeze.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4" name="Shape 1124"/>
        <p:cNvGrpSpPr/>
        <p:nvPr/>
      </p:nvGrpSpPr>
      <p:grpSpPr>
        <a:xfrm>
          <a:off x="0" y="0"/>
          <a:ext cx="0" cy="0"/>
          <a:chOff x="0" y="0"/>
          <a:chExt cx="0" cy="0"/>
        </a:xfrm>
      </p:grpSpPr>
      <p:sp>
        <p:nvSpPr>
          <p:cNvPr id="1125" name="Google Shape;1125;p33"/>
          <p:cNvSpPr/>
          <p:nvPr/>
        </p:nvSpPr>
        <p:spPr>
          <a:xfrm>
            <a:off x="566928" y="548640"/>
            <a:ext cx="1051560" cy="41148"/>
          </a:xfrm>
          <a:prstGeom prst="rect">
            <a:avLst/>
          </a:prstGeom>
          <a:solidFill>
            <a:srgbClr val="0DAE9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26" name="Google Shape;1126;p33"/>
          <p:cNvSpPr txBox="1"/>
          <p:nvPr/>
        </p:nvSpPr>
        <p:spPr>
          <a:xfrm>
            <a:off x="566928" y="274320"/>
            <a:ext cx="10058400" cy="21945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00">
                <a:solidFill>
                  <a:srgbClr val="0DAE9A"/>
                </a:solidFill>
                <a:latin typeface="Arial"/>
                <a:ea typeface="Arial"/>
                <a:cs typeface="Arial"/>
                <a:sym typeface="Arial"/>
              </a:rPr>
              <a:t>APPENDIX · ERROR ANALYSIS</a:t>
            </a:r>
            <a:endParaRPr/>
          </a:p>
        </p:txBody>
      </p:sp>
      <p:sp>
        <p:nvSpPr>
          <p:cNvPr id="1127" name="Google Shape;1127;p33"/>
          <p:cNvSpPr txBox="1"/>
          <p:nvPr/>
        </p:nvSpPr>
        <p:spPr>
          <a:xfrm>
            <a:off x="566928" y="694944"/>
            <a:ext cx="10972800" cy="5669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2700">
                <a:solidFill>
                  <a:srgbClr val="101A2B"/>
                </a:solidFill>
                <a:latin typeface="Arial"/>
                <a:ea typeface="Arial"/>
                <a:cs typeface="Arial"/>
                <a:sym typeface="Arial"/>
              </a:rPr>
              <a:t>Backup · Scratch CNN high-confidence mistakes</a:t>
            </a:r>
            <a:endParaRPr/>
          </a:p>
        </p:txBody>
      </p:sp>
      <p:sp>
        <p:nvSpPr>
          <p:cNvPr id="1128" name="Google Shape;1128;p33"/>
          <p:cNvSpPr txBox="1"/>
          <p:nvPr/>
        </p:nvSpPr>
        <p:spPr>
          <a:xfrm>
            <a:off x="11018520" y="6492240"/>
            <a:ext cx="594360" cy="18288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00">
                <a:solidFill>
                  <a:srgbClr val="718198"/>
                </a:solidFill>
                <a:latin typeface="Arial"/>
                <a:ea typeface="Arial"/>
                <a:cs typeface="Arial"/>
                <a:sym typeface="Arial"/>
              </a:rPr>
              <a:t>31</a:t>
            </a:r>
            <a:endParaRPr/>
          </a:p>
        </p:txBody>
      </p:sp>
      <p:pic>
        <p:nvPicPr>
          <p:cNvPr descr="mistakes_scratch_cnn.png" id="1129" name="Google Shape;1129;p33"/>
          <p:cNvPicPr preferRelativeResize="0"/>
          <p:nvPr/>
        </p:nvPicPr>
        <p:blipFill rotWithShape="1">
          <a:blip r:embed="rId3">
            <a:alphaModFix/>
          </a:blip>
          <a:srcRect b="0" l="0" r="0" t="0"/>
          <a:stretch/>
        </p:blipFill>
        <p:spPr>
          <a:xfrm>
            <a:off x="2985973" y="1325880"/>
            <a:ext cx="6217005" cy="4782312"/>
          </a:xfrm>
          <a:prstGeom prst="rect">
            <a:avLst/>
          </a:prstGeom>
          <a:noFill/>
          <a:ln>
            <a:noFill/>
          </a:ln>
        </p:spPr>
      </p:pic>
      <p:sp>
        <p:nvSpPr>
          <p:cNvPr id="1130" name="Google Shape;1130;p33"/>
          <p:cNvSpPr/>
          <p:nvPr/>
        </p:nvSpPr>
        <p:spPr>
          <a:xfrm>
            <a:off x="658368" y="6117336"/>
            <a:ext cx="10817352" cy="420624"/>
          </a:xfrm>
          <a:prstGeom prst="roundRect">
            <a:avLst>
              <a:gd fmla="val 15000" name="adj"/>
            </a:avLst>
          </a:prstGeom>
          <a:solidFill>
            <a:srgbClr val="EDF5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31" name="Google Shape;1131;p33"/>
          <p:cNvSpPr txBox="1"/>
          <p:nvPr/>
        </p:nvSpPr>
        <p:spPr>
          <a:xfrm>
            <a:off x="822960" y="6190488"/>
            <a:ext cx="10469880" cy="2651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200">
                <a:solidFill>
                  <a:srgbClr val="203148"/>
                </a:solidFill>
                <a:latin typeface="Arial"/>
                <a:ea typeface="Arial"/>
                <a:cs typeface="Arial"/>
                <a:sym typeface="Arial"/>
              </a:rPr>
              <a:t>Each example shows its true label, predicted label and model confidence; confidence alone does not imply correctness.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5" name="Shape 1135"/>
        <p:cNvGrpSpPr/>
        <p:nvPr/>
      </p:nvGrpSpPr>
      <p:grpSpPr>
        <a:xfrm>
          <a:off x="0" y="0"/>
          <a:ext cx="0" cy="0"/>
          <a:chOff x="0" y="0"/>
          <a:chExt cx="0" cy="0"/>
        </a:xfrm>
      </p:grpSpPr>
      <p:sp>
        <p:nvSpPr>
          <p:cNvPr id="1136" name="Google Shape;1136;p34"/>
          <p:cNvSpPr/>
          <p:nvPr/>
        </p:nvSpPr>
        <p:spPr>
          <a:xfrm>
            <a:off x="566928" y="548640"/>
            <a:ext cx="1051560" cy="41148"/>
          </a:xfrm>
          <a:prstGeom prst="rect">
            <a:avLst/>
          </a:prstGeom>
          <a:solidFill>
            <a:srgbClr val="0DAE9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37" name="Google Shape;1137;p34"/>
          <p:cNvSpPr txBox="1"/>
          <p:nvPr/>
        </p:nvSpPr>
        <p:spPr>
          <a:xfrm>
            <a:off x="566928" y="274320"/>
            <a:ext cx="10058400" cy="21945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00">
                <a:solidFill>
                  <a:srgbClr val="0DAE9A"/>
                </a:solidFill>
                <a:latin typeface="Arial"/>
                <a:ea typeface="Arial"/>
                <a:cs typeface="Arial"/>
                <a:sym typeface="Arial"/>
              </a:rPr>
              <a:t>APPENDIX · ERROR ANALYSIS</a:t>
            </a:r>
            <a:endParaRPr/>
          </a:p>
        </p:txBody>
      </p:sp>
      <p:sp>
        <p:nvSpPr>
          <p:cNvPr id="1138" name="Google Shape;1138;p34"/>
          <p:cNvSpPr txBox="1"/>
          <p:nvPr/>
        </p:nvSpPr>
        <p:spPr>
          <a:xfrm>
            <a:off x="566928" y="694944"/>
            <a:ext cx="10972800" cy="5669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2700">
                <a:solidFill>
                  <a:srgbClr val="101A2B"/>
                </a:solidFill>
                <a:latin typeface="Arial"/>
                <a:ea typeface="Arial"/>
                <a:cs typeface="Arial"/>
                <a:sym typeface="Arial"/>
              </a:rPr>
              <a:t>Backup · ResNet-50 high-confidence mistakes</a:t>
            </a:r>
            <a:endParaRPr/>
          </a:p>
        </p:txBody>
      </p:sp>
      <p:sp>
        <p:nvSpPr>
          <p:cNvPr id="1139" name="Google Shape;1139;p34"/>
          <p:cNvSpPr txBox="1"/>
          <p:nvPr/>
        </p:nvSpPr>
        <p:spPr>
          <a:xfrm>
            <a:off x="11018520" y="6492240"/>
            <a:ext cx="594360" cy="18288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00">
                <a:solidFill>
                  <a:srgbClr val="718198"/>
                </a:solidFill>
                <a:latin typeface="Arial"/>
                <a:ea typeface="Arial"/>
                <a:cs typeface="Arial"/>
                <a:sym typeface="Arial"/>
              </a:rPr>
              <a:t>32</a:t>
            </a:r>
            <a:endParaRPr/>
          </a:p>
        </p:txBody>
      </p:sp>
      <p:pic>
        <p:nvPicPr>
          <p:cNvPr descr="mistakes_resnet50.png" id="1140" name="Google Shape;1140;p34"/>
          <p:cNvPicPr preferRelativeResize="0"/>
          <p:nvPr/>
        </p:nvPicPr>
        <p:blipFill rotWithShape="1">
          <a:blip r:embed="rId3">
            <a:alphaModFix/>
          </a:blip>
          <a:srcRect b="0" l="0" r="0" t="0"/>
          <a:stretch/>
        </p:blipFill>
        <p:spPr>
          <a:xfrm>
            <a:off x="2985973" y="1325880"/>
            <a:ext cx="6217005" cy="4782312"/>
          </a:xfrm>
          <a:prstGeom prst="rect">
            <a:avLst/>
          </a:prstGeom>
          <a:noFill/>
          <a:ln>
            <a:noFill/>
          </a:ln>
        </p:spPr>
      </p:pic>
      <p:sp>
        <p:nvSpPr>
          <p:cNvPr id="1141" name="Google Shape;1141;p34"/>
          <p:cNvSpPr/>
          <p:nvPr/>
        </p:nvSpPr>
        <p:spPr>
          <a:xfrm>
            <a:off x="658368" y="6117336"/>
            <a:ext cx="10817352" cy="420624"/>
          </a:xfrm>
          <a:prstGeom prst="roundRect">
            <a:avLst>
              <a:gd fmla="val 15000" name="adj"/>
            </a:avLst>
          </a:prstGeom>
          <a:solidFill>
            <a:srgbClr val="EDF5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2" name="Google Shape;1142;p34"/>
          <p:cNvSpPr txBox="1"/>
          <p:nvPr/>
        </p:nvSpPr>
        <p:spPr>
          <a:xfrm>
            <a:off x="822960" y="6190488"/>
            <a:ext cx="10469880" cy="2651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200">
                <a:solidFill>
                  <a:srgbClr val="203148"/>
                </a:solidFill>
                <a:latin typeface="Arial"/>
                <a:ea typeface="Arial"/>
                <a:cs typeface="Arial"/>
                <a:sym typeface="Arial"/>
              </a:rPr>
              <a:t>Each example shows its true label, predicted label and model confidence; confidence alone does not imply correctness.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6" name="Shape 1146"/>
        <p:cNvGrpSpPr/>
        <p:nvPr/>
      </p:nvGrpSpPr>
      <p:grpSpPr>
        <a:xfrm>
          <a:off x="0" y="0"/>
          <a:ext cx="0" cy="0"/>
          <a:chOff x="0" y="0"/>
          <a:chExt cx="0" cy="0"/>
        </a:xfrm>
      </p:grpSpPr>
      <p:sp>
        <p:nvSpPr>
          <p:cNvPr id="1147" name="Google Shape;1147;p35"/>
          <p:cNvSpPr/>
          <p:nvPr/>
        </p:nvSpPr>
        <p:spPr>
          <a:xfrm>
            <a:off x="566928" y="548640"/>
            <a:ext cx="1051560" cy="41148"/>
          </a:xfrm>
          <a:prstGeom prst="rect">
            <a:avLst/>
          </a:prstGeom>
          <a:solidFill>
            <a:srgbClr val="0DAE9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8" name="Google Shape;1148;p35"/>
          <p:cNvSpPr txBox="1"/>
          <p:nvPr/>
        </p:nvSpPr>
        <p:spPr>
          <a:xfrm>
            <a:off x="566928" y="274320"/>
            <a:ext cx="10058400" cy="21945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00">
                <a:solidFill>
                  <a:srgbClr val="0DAE9A"/>
                </a:solidFill>
                <a:latin typeface="Arial"/>
                <a:ea typeface="Arial"/>
                <a:cs typeface="Arial"/>
                <a:sym typeface="Arial"/>
              </a:rPr>
              <a:t>APPENDIX · RESULTS</a:t>
            </a:r>
            <a:endParaRPr/>
          </a:p>
        </p:txBody>
      </p:sp>
      <p:sp>
        <p:nvSpPr>
          <p:cNvPr id="1149" name="Google Shape;1149;p35"/>
          <p:cNvSpPr txBox="1"/>
          <p:nvPr/>
        </p:nvSpPr>
        <p:spPr>
          <a:xfrm>
            <a:off x="566928" y="694944"/>
            <a:ext cx="10972800" cy="5669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2700">
                <a:solidFill>
                  <a:srgbClr val="101A2B"/>
                </a:solidFill>
                <a:latin typeface="Arial"/>
                <a:ea typeface="Arial"/>
                <a:cs typeface="Arial"/>
                <a:sym typeface="Arial"/>
              </a:rPr>
              <a:t>Backup · Per-class transfer-learning improvement</a:t>
            </a:r>
            <a:endParaRPr/>
          </a:p>
        </p:txBody>
      </p:sp>
      <p:sp>
        <p:nvSpPr>
          <p:cNvPr id="1150" name="Google Shape;1150;p35"/>
          <p:cNvSpPr txBox="1"/>
          <p:nvPr/>
        </p:nvSpPr>
        <p:spPr>
          <a:xfrm>
            <a:off x="11018520" y="6492240"/>
            <a:ext cx="594360" cy="18288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00">
                <a:solidFill>
                  <a:srgbClr val="718198"/>
                </a:solidFill>
                <a:latin typeface="Arial"/>
                <a:ea typeface="Arial"/>
                <a:cs typeface="Arial"/>
                <a:sym typeface="Arial"/>
              </a:rPr>
              <a:t>33</a:t>
            </a:r>
            <a:endParaRPr/>
          </a:p>
        </p:txBody>
      </p:sp>
      <p:pic>
        <p:nvPicPr>
          <p:cNvPr descr="_class_gains.png" id="1151" name="Google Shape;1151;p35"/>
          <p:cNvPicPr preferRelativeResize="0"/>
          <p:nvPr/>
        </p:nvPicPr>
        <p:blipFill rotWithShape="1">
          <a:blip r:embed="rId3">
            <a:alphaModFix/>
          </a:blip>
          <a:srcRect b="0" l="0" r="0" t="0"/>
          <a:stretch/>
        </p:blipFill>
        <p:spPr>
          <a:xfrm>
            <a:off x="1623060" y="1417320"/>
            <a:ext cx="9052560" cy="4526280"/>
          </a:xfrm>
          <a:prstGeom prst="rect">
            <a:avLst/>
          </a:prstGeom>
          <a:noFill/>
          <a:ln>
            <a:noFill/>
          </a:ln>
        </p:spPr>
      </p:pic>
      <p:sp>
        <p:nvSpPr>
          <p:cNvPr id="1152" name="Google Shape;1152;p35"/>
          <p:cNvSpPr/>
          <p:nvPr/>
        </p:nvSpPr>
        <p:spPr>
          <a:xfrm>
            <a:off x="658368" y="6117336"/>
            <a:ext cx="10817352" cy="420624"/>
          </a:xfrm>
          <a:prstGeom prst="roundRect">
            <a:avLst>
              <a:gd fmla="val 15000" name="adj"/>
            </a:avLst>
          </a:prstGeom>
          <a:solidFill>
            <a:srgbClr val="EDF5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3" name="Google Shape;1153;p35"/>
          <p:cNvSpPr txBox="1"/>
          <p:nvPr/>
        </p:nvSpPr>
        <p:spPr>
          <a:xfrm>
            <a:off x="822960" y="6190488"/>
            <a:ext cx="10469880" cy="2651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200">
                <a:solidFill>
                  <a:srgbClr val="203148"/>
                </a:solidFill>
                <a:latin typeface="Arial"/>
                <a:ea typeface="Arial"/>
                <a:cs typeface="Arial"/>
                <a:sym typeface="Arial"/>
              </a:rPr>
              <a:t>Computed from the provided per_class_resnet50.csv and per_class_scratch_cnn.csv files.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7" name="Shape 1157"/>
        <p:cNvGrpSpPr/>
        <p:nvPr/>
      </p:nvGrpSpPr>
      <p:grpSpPr>
        <a:xfrm>
          <a:off x="0" y="0"/>
          <a:ext cx="0" cy="0"/>
          <a:chOff x="0" y="0"/>
          <a:chExt cx="0" cy="0"/>
        </a:xfrm>
      </p:grpSpPr>
      <p:sp>
        <p:nvSpPr>
          <p:cNvPr id="1158" name="Google Shape;1158;p36"/>
          <p:cNvSpPr/>
          <p:nvPr/>
        </p:nvSpPr>
        <p:spPr>
          <a:xfrm>
            <a:off x="566928" y="548640"/>
            <a:ext cx="1051560" cy="41148"/>
          </a:xfrm>
          <a:prstGeom prst="rect">
            <a:avLst/>
          </a:prstGeom>
          <a:solidFill>
            <a:srgbClr val="0DAE9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9" name="Google Shape;1159;p36"/>
          <p:cNvSpPr txBox="1"/>
          <p:nvPr/>
        </p:nvSpPr>
        <p:spPr>
          <a:xfrm>
            <a:off x="566928" y="274320"/>
            <a:ext cx="10058400" cy="21945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00">
                <a:solidFill>
                  <a:srgbClr val="0DAE9A"/>
                </a:solidFill>
                <a:latin typeface="Arial"/>
                <a:ea typeface="Arial"/>
                <a:cs typeface="Arial"/>
                <a:sym typeface="Arial"/>
              </a:rPr>
              <a:t>APPENDIX · REFERENCES</a:t>
            </a:r>
            <a:endParaRPr/>
          </a:p>
        </p:txBody>
      </p:sp>
      <p:sp>
        <p:nvSpPr>
          <p:cNvPr id="1160" name="Google Shape;1160;p36"/>
          <p:cNvSpPr txBox="1"/>
          <p:nvPr/>
        </p:nvSpPr>
        <p:spPr>
          <a:xfrm>
            <a:off x="566928" y="694944"/>
            <a:ext cx="10972800" cy="56692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2700">
                <a:solidFill>
                  <a:srgbClr val="101A2B"/>
                </a:solidFill>
                <a:latin typeface="Arial"/>
                <a:ea typeface="Arial"/>
                <a:cs typeface="Arial"/>
                <a:sym typeface="Arial"/>
              </a:rPr>
              <a:t>Sources and implementation notes</a:t>
            </a:r>
            <a:endParaRPr/>
          </a:p>
        </p:txBody>
      </p:sp>
      <p:sp>
        <p:nvSpPr>
          <p:cNvPr id="1161" name="Google Shape;1161;p36"/>
          <p:cNvSpPr txBox="1"/>
          <p:nvPr/>
        </p:nvSpPr>
        <p:spPr>
          <a:xfrm>
            <a:off x="11018520" y="6492240"/>
            <a:ext cx="594360" cy="18288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00">
                <a:solidFill>
                  <a:srgbClr val="718198"/>
                </a:solidFill>
                <a:latin typeface="Arial"/>
                <a:ea typeface="Arial"/>
                <a:cs typeface="Arial"/>
                <a:sym typeface="Arial"/>
              </a:rPr>
              <a:t>34</a:t>
            </a:r>
            <a:endParaRPr/>
          </a:p>
        </p:txBody>
      </p:sp>
      <p:sp>
        <p:nvSpPr>
          <p:cNvPr id="1162" name="Google Shape;1162;p36"/>
          <p:cNvSpPr txBox="1"/>
          <p:nvPr/>
        </p:nvSpPr>
        <p:spPr>
          <a:xfrm>
            <a:off x="841248" y="1554480"/>
            <a:ext cx="10287000" cy="6583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500">
                <a:solidFill>
                  <a:srgbClr val="203148"/>
                </a:solidFill>
                <a:latin typeface="Arial"/>
                <a:ea typeface="Arial"/>
                <a:cs typeface="Arial"/>
                <a:sym typeface="Arial"/>
              </a:rPr>
              <a:t>1. Bossard, Guillaumin &amp; Van Gool (2014). Food-101: Mining Discriminative Components with Random Forests. ECCV.</a:t>
            </a:r>
            <a:endParaRPr/>
          </a:p>
        </p:txBody>
      </p:sp>
      <p:sp>
        <p:nvSpPr>
          <p:cNvPr id="1163" name="Google Shape;1163;p36"/>
          <p:cNvSpPr txBox="1"/>
          <p:nvPr/>
        </p:nvSpPr>
        <p:spPr>
          <a:xfrm>
            <a:off x="841248" y="2331720"/>
            <a:ext cx="10287000" cy="6583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500">
                <a:solidFill>
                  <a:srgbClr val="203148"/>
                </a:solidFill>
                <a:latin typeface="Arial"/>
                <a:ea typeface="Arial"/>
                <a:cs typeface="Arial"/>
                <a:sym typeface="Arial"/>
              </a:rPr>
              <a:t>2. Hassannejad et al. (2016). Food Image Recognition Using Very Deep Convolutional Networks.</a:t>
            </a:r>
            <a:endParaRPr/>
          </a:p>
        </p:txBody>
      </p:sp>
      <p:sp>
        <p:nvSpPr>
          <p:cNvPr id="1164" name="Google Shape;1164;p36"/>
          <p:cNvSpPr txBox="1"/>
          <p:nvPr/>
        </p:nvSpPr>
        <p:spPr>
          <a:xfrm>
            <a:off x="841248" y="3108960"/>
            <a:ext cx="10287000" cy="6583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500">
                <a:solidFill>
                  <a:srgbClr val="203148"/>
                </a:solidFill>
                <a:latin typeface="Arial"/>
                <a:ea typeface="Arial"/>
                <a:cs typeface="Arial"/>
                <a:sym typeface="Arial"/>
              </a:rPr>
              <a:t>3. Martinel et al. (2018). Wide-Slice Residual Networks for Food Recognition. WACV.</a:t>
            </a:r>
            <a:endParaRPr/>
          </a:p>
        </p:txBody>
      </p:sp>
      <p:sp>
        <p:nvSpPr>
          <p:cNvPr id="1165" name="Google Shape;1165;p36"/>
          <p:cNvSpPr txBox="1"/>
          <p:nvPr/>
        </p:nvSpPr>
        <p:spPr>
          <a:xfrm>
            <a:off x="841248" y="3886200"/>
            <a:ext cx="10287000" cy="6583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500">
                <a:solidFill>
                  <a:srgbClr val="203148"/>
                </a:solidFill>
                <a:latin typeface="Arial"/>
                <a:ea typeface="Arial"/>
                <a:cs typeface="Arial"/>
                <a:sym typeface="Arial"/>
              </a:rPr>
              <a:t>4. PyTorch / torchvision: ResNet-50 ImageNet pretrained weights and fine-tuning documentation.</a:t>
            </a:r>
            <a:endParaRPr/>
          </a:p>
        </p:txBody>
      </p:sp>
      <p:sp>
        <p:nvSpPr>
          <p:cNvPr id="1166" name="Google Shape;1166;p36"/>
          <p:cNvSpPr txBox="1"/>
          <p:nvPr/>
        </p:nvSpPr>
        <p:spPr>
          <a:xfrm>
            <a:off x="841248" y="4663440"/>
            <a:ext cx="10287000" cy="658368"/>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500">
                <a:solidFill>
                  <a:srgbClr val="203148"/>
                </a:solidFill>
                <a:latin typeface="Arial"/>
                <a:ea typeface="Arial"/>
                <a:cs typeface="Arial"/>
                <a:sym typeface="Arial"/>
              </a:rPr>
              <a:t>5. Experimental metrics and figures: supplied training scripts, CSV exports, and learning-curve / mistakes PNGs.</a:t>
            </a:r>
            <a:endParaRPr/>
          </a:p>
        </p:txBody>
      </p:sp>
      <p:sp>
        <p:nvSpPr>
          <p:cNvPr id="1167" name="Google Shape;1167;p36"/>
          <p:cNvSpPr/>
          <p:nvPr/>
        </p:nvSpPr>
        <p:spPr>
          <a:xfrm>
            <a:off x="658368" y="6117336"/>
            <a:ext cx="10817352" cy="420624"/>
          </a:xfrm>
          <a:prstGeom prst="roundRect">
            <a:avLst>
              <a:gd fmla="val 15000" name="adj"/>
            </a:avLst>
          </a:prstGeom>
          <a:solidFill>
            <a:srgbClr val="EDF5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8" name="Google Shape;1168;p36"/>
          <p:cNvSpPr txBox="1"/>
          <p:nvPr/>
        </p:nvSpPr>
        <p:spPr>
          <a:xfrm>
            <a:off x="822960" y="6190488"/>
            <a:ext cx="10469880" cy="265176"/>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200">
                <a:solidFill>
                  <a:srgbClr val="203148"/>
                </a:solidFill>
                <a:latin typeface="Arial"/>
                <a:ea typeface="Arial"/>
                <a:cs typeface="Arial"/>
                <a:sym typeface="Arial"/>
              </a:rPr>
              <a:t>Literature reports are for 101-class classification; this experiment uses a 21-class subset.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2" name="Shape 1172"/>
        <p:cNvGrpSpPr/>
        <p:nvPr/>
      </p:nvGrpSpPr>
      <p:grpSpPr>
        <a:xfrm>
          <a:off x="0" y="0"/>
          <a:ext cx="0" cy="0"/>
          <a:chOff x="0" y="0"/>
          <a:chExt cx="0" cy="0"/>
        </a:xfrm>
      </p:grpSpPr>
      <p:sp>
        <p:nvSpPr>
          <p:cNvPr id="1173" name="Google Shape;1173;p37"/>
          <p:cNvSpPr/>
          <p:nvPr/>
        </p:nvSpPr>
        <p:spPr>
          <a:xfrm>
            <a:off x="568175" y="687800"/>
            <a:ext cx="11044800" cy="5512200"/>
          </a:xfrm>
          <a:prstGeom prst="rect">
            <a:avLst/>
          </a:prstGeom>
          <a:solidFill>
            <a:schemeClr val="l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4" name="Google Shape;1174;p37"/>
          <p:cNvSpPr/>
          <p:nvPr/>
        </p:nvSpPr>
        <p:spPr>
          <a:xfrm>
            <a:off x="566928" y="548640"/>
            <a:ext cx="1051500" cy="41100"/>
          </a:xfrm>
          <a:prstGeom prst="rect">
            <a:avLst/>
          </a:prstGeom>
          <a:solidFill>
            <a:srgbClr val="0DAE9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5" name="Google Shape;1175;p37"/>
          <p:cNvSpPr txBox="1"/>
          <p:nvPr/>
        </p:nvSpPr>
        <p:spPr>
          <a:xfrm>
            <a:off x="566928" y="274320"/>
            <a:ext cx="10058400" cy="20940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1000">
                <a:solidFill>
                  <a:srgbClr val="0DAE9A"/>
                </a:solidFill>
              </a:rPr>
              <a:t>CLOSING REMARKS </a:t>
            </a:r>
            <a:endParaRPr/>
          </a:p>
        </p:txBody>
      </p:sp>
      <p:sp>
        <p:nvSpPr>
          <p:cNvPr id="1176" name="Google Shape;1176;p37"/>
          <p:cNvSpPr txBox="1"/>
          <p:nvPr/>
        </p:nvSpPr>
        <p:spPr>
          <a:xfrm>
            <a:off x="566925" y="1492090"/>
            <a:ext cx="10972800" cy="378030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1" lang="en-US" sz="800">
                <a:solidFill>
                  <a:srgbClr val="101A2B"/>
                </a:solidFill>
              </a:rPr>
              <a:t>Why ResNet-50 instead of EfficientNet?</a:t>
            </a:r>
            <a:endParaRPr b="1" sz="800">
              <a:solidFill>
                <a:srgbClr val="101A2B"/>
              </a:solidFill>
            </a:endParaRPr>
          </a:p>
          <a:p>
            <a:pPr indent="0" lvl="0" marL="0" marR="0" rtl="0" algn="l">
              <a:spcBef>
                <a:spcPts val="0"/>
              </a:spcBef>
              <a:spcAft>
                <a:spcPts val="0"/>
              </a:spcAft>
              <a:buNone/>
            </a:pPr>
            <a:r>
              <a:rPr lang="en-US" sz="800">
                <a:solidFill>
                  <a:srgbClr val="101A2B"/>
                </a:solidFill>
              </a:rPr>
              <a:t>ResNet-50 is a well-established, permitted CNN architecture with a straightforward freeze/unfreeze structure. It made transfer learning easy to interpret. EfficientNet would be a worthwhile controlled follow-up, but we did not benchmark it here.</a:t>
            </a:r>
            <a:endParaRPr sz="800">
              <a:solidFill>
                <a:srgbClr val="101A2B"/>
              </a:solidFill>
            </a:endParaRPr>
          </a:p>
          <a:p>
            <a:pPr indent="0" lvl="0" marL="0" marR="0" rtl="0" algn="l">
              <a:spcBef>
                <a:spcPts val="0"/>
              </a:spcBef>
              <a:spcAft>
                <a:spcPts val="0"/>
              </a:spcAft>
              <a:buNone/>
            </a:pPr>
            <a:r>
              <a:rPr b="1" lang="en-US" sz="800">
                <a:solidFill>
                  <a:srgbClr val="101A2B"/>
                </a:solidFill>
              </a:rPr>
              <a:t>Why freeze some layers?</a:t>
            </a:r>
            <a:endParaRPr b="1" sz="800">
              <a:solidFill>
                <a:srgbClr val="101A2B"/>
              </a:solidFill>
            </a:endParaRPr>
          </a:p>
          <a:p>
            <a:pPr indent="0" lvl="0" marL="0" marR="0" rtl="0" algn="l">
              <a:spcBef>
                <a:spcPts val="0"/>
              </a:spcBef>
              <a:spcAft>
                <a:spcPts val="0"/>
              </a:spcAft>
              <a:buNone/>
            </a:pPr>
            <a:r>
              <a:rPr lang="en-US" sz="800">
                <a:solidFill>
                  <a:srgbClr val="101A2B"/>
                </a:solidFill>
              </a:rPr>
              <a:t>Lower-level ImageNet features are broadly reusable; freezing them reduces computation and limits overfitting. We fine-tuned the high-level layer4 features to adapt to food categories, then measured the validation gain.</a:t>
            </a:r>
            <a:endParaRPr sz="800">
              <a:solidFill>
                <a:srgbClr val="101A2B"/>
              </a:solidFill>
            </a:endParaRPr>
          </a:p>
          <a:p>
            <a:pPr indent="0" lvl="0" marL="0" marR="0" rtl="0" algn="l">
              <a:spcBef>
                <a:spcPts val="0"/>
              </a:spcBef>
              <a:spcAft>
                <a:spcPts val="0"/>
              </a:spcAft>
              <a:buNone/>
            </a:pPr>
            <a:r>
              <a:rPr b="1" lang="en-US" sz="800">
                <a:solidFill>
                  <a:srgbClr val="101A2B"/>
                </a:solidFill>
              </a:rPr>
              <a:t>Did pretraining alone cause the entire 24.2-point gain?</a:t>
            </a:r>
            <a:endParaRPr b="1" sz="800">
              <a:solidFill>
                <a:srgbClr val="101A2B"/>
              </a:solidFill>
            </a:endParaRPr>
          </a:p>
          <a:p>
            <a:pPr indent="0" lvl="0" marL="0" marR="0" rtl="0" algn="l">
              <a:spcBef>
                <a:spcPts val="0"/>
              </a:spcBef>
              <a:spcAft>
                <a:spcPts val="0"/>
              </a:spcAft>
              <a:buNone/>
            </a:pPr>
            <a:r>
              <a:rPr lang="en-US" sz="800">
                <a:solidFill>
                  <a:srgbClr val="101A2B"/>
                </a:solidFill>
              </a:rPr>
              <a:t>We cannot say that. The ResNet and scratch CNN differ in architecture, parameter count, and input resolution as well as pretraining. The experiment demonstrates a practical model-performance advantage, not a single-variable causal ablation of pretraining.</a:t>
            </a:r>
            <a:endParaRPr sz="800">
              <a:solidFill>
                <a:srgbClr val="101A2B"/>
              </a:solidFill>
            </a:endParaRPr>
          </a:p>
          <a:p>
            <a:pPr indent="0" lvl="0" marL="0" marR="0" rtl="0" algn="l">
              <a:spcBef>
                <a:spcPts val="0"/>
              </a:spcBef>
              <a:spcAft>
                <a:spcPts val="0"/>
              </a:spcAft>
              <a:buNone/>
            </a:pPr>
            <a:r>
              <a:rPr b="1" lang="en-US" sz="800">
                <a:solidFill>
                  <a:srgbClr val="101A2B"/>
                </a:solidFill>
              </a:rPr>
              <a:t>Why is ResNet test accuracy higher than validation?</a:t>
            </a:r>
            <a:endParaRPr b="1" sz="800">
              <a:solidFill>
                <a:srgbClr val="101A2B"/>
              </a:solidFill>
            </a:endParaRPr>
          </a:p>
          <a:p>
            <a:pPr indent="0" lvl="0" marL="0" marR="0" rtl="0" algn="l">
              <a:spcBef>
                <a:spcPts val="0"/>
              </a:spcBef>
              <a:spcAft>
                <a:spcPts val="0"/>
              </a:spcAft>
              <a:buNone/>
            </a:pPr>
            <a:r>
              <a:rPr lang="en-US" sz="800">
                <a:solidFill>
                  <a:srgbClr val="101A2B"/>
                </a:solidFill>
              </a:rPr>
              <a:t>The reported test accuracy is 86.9 percent and best validation accuracy is 83.9 percent. The validation set contains 1,575 images compared with 5,250 test images, so its estimate can fluctuate more. Sampling differences and checkpoint selection can contribute; we should not assume the datasets have identical difficulty.</a:t>
            </a:r>
            <a:endParaRPr sz="800">
              <a:solidFill>
                <a:srgbClr val="101A2B"/>
              </a:solidFill>
            </a:endParaRPr>
          </a:p>
          <a:p>
            <a:pPr indent="0" lvl="0" marL="0" marR="0" rtl="0" algn="l">
              <a:spcBef>
                <a:spcPts val="0"/>
              </a:spcBef>
              <a:spcAft>
                <a:spcPts val="0"/>
              </a:spcAft>
              <a:buNone/>
            </a:pPr>
            <a:r>
              <a:rPr b="1" lang="en-US" sz="800">
                <a:solidFill>
                  <a:srgbClr val="101A2B"/>
                </a:solidFill>
              </a:rPr>
              <a:t>Why not compare 86.9 percent directly with 90.27 percent from WISeR?</a:t>
            </a:r>
            <a:endParaRPr b="1" sz="800">
              <a:solidFill>
                <a:srgbClr val="101A2B"/>
              </a:solidFill>
            </a:endParaRPr>
          </a:p>
          <a:p>
            <a:pPr indent="0" lvl="0" marL="0" marR="0" rtl="0" algn="l">
              <a:spcBef>
                <a:spcPts val="0"/>
              </a:spcBef>
              <a:spcAft>
                <a:spcPts val="0"/>
              </a:spcAft>
              <a:buNone/>
            </a:pPr>
            <a:r>
              <a:rPr lang="en-US" sz="800">
                <a:solidFill>
                  <a:srgbClr val="101A2B"/>
                </a:solidFill>
              </a:rPr>
              <a:t>WISeR reports performance on all 101 categories, while our evaluation has only 21. Different class counts and potentially different protocols make direct rankings misleading.</a:t>
            </a:r>
            <a:endParaRPr sz="800">
              <a:solidFill>
                <a:srgbClr val="101A2B"/>
              </a:solidFill>
            </a:endParaRPr>
          </a:p>
          <a:p>
            <a:pPr indent="0" lvl="0" marL="0" marR="0" rtl="0" algn="l">
              <a:spcBef>
                <a:spcPts val="0"/>
              </a:spcBef>
              <a:spcAft>
                <a:spcPts val="0"/>
              </a:spcAft>
              <a:buNone/>
            </a:pPr>
            <a:r>
              <a:rPr b="1" lang="en-US" sz="800">
                <a:solidFill>
                  <a:srgbClr val="101A2B"/>
                </a:solidFill>
              </a:rPr>
              <a:t>Why did dropout help ResNet but not the scratch CNN?</a:t>
            </a:r>
            <a:endParaRPr b="1" sz="800">
              <a:solidFill>
                <a:srgbClr val="101A2B"/>
              </a:solidFill>
            </a:endParaRPr>
          </a:p>
          <a:p>
            <a:pPr indent="0" lvl="0" marL="0" marR="0" rtl="0" algn="l">
              <a:spcBef>
                <a:spcPts val="0"/>
              </a:spcBef>
              <a:spcAft>
                <a:spcPts val="0"/>
              </a:spcAft>
              <a:buNone/>
            </a:pPr>
            <a:r>
              <a:rPr lang="en-US" sz="800">
                <a:solidFill>
                  <a:srgbClr val="101A2B"/>
                </a:solidFill>
              </a:rPr>
              <a:t>The two models have different capacity and optimization behavior. In our particular runs, ResNet R2 outperformed R6 without dropout, while scratch CNN C3 without dropout slightly beat C1 with 0.5 dropout. These are empirical observations; repeated runs would test their stability.</a:t>
            </a:r>
            <a:endParaRPr sz="800">
              <a:solidFill>
                <a:srgbClr val="101A2B"/>
              </a:solidFill>
            </a:endParaRPr>
          </a:p>
          <a:p>
            <a:pPr indent="0" lvl="0" marL="0" marR="0" rtl="0" algn="l">
              <a:spcBef>
                <a:spcPts val="0"/>
              </a:spcBef>
              <a:spcAft>
                <a:spcPts val="0"/>
              </a:spcAft>
              <a:buNone/>
            </a:pPr>
            <a:r>
              <a:rPr b="1" lang="en-US" sz="800">
                <a:solidFill>
                  <a:srgbClr val="101A2B"/>
                </a:solidFill>
              </a:rPr>
              <a:t>Was the validation split stratified?</a:t>
            </a:r>
            <a:endParaRPr b="1" sz="800">
              <a:solidFill>
                <a:srgbClr val="101A2B"/>
              </a:solidFill>
            </a:endParaRPr>
          </a:p>
          <a:p>
            <a:pPr indent="0" lvl="0" marL="0" marR="0" rtl="0" algn="l">
              <a:spcBef>
                <a:spcPts val="0"/>
              </a:spcBef>
              <a:spcAft>
                <a:spcPts val="0"/>
              </a:spcAft>
              <a:buNone/>
            </a:pPr>
            <a:r>
              <a:rPr lang="en-US" sz="800">
                <a:solidFill>
                  <a:srgbClr val="101A2B"/>
                </a:solidFill>
              </a:rPr>
              <a:t>The scratch CNN script uses a fixed random seed and a 10 percent holdout, but does not specify stratify=... in train_test_split. The source training pool is balanced across classes, but the validation split is not explicitly enforced to be class-balanced. This should be corrected in the slide or implementation before making the stronger claim.</a:t>
            </a:r>
            <a:endParaRPr sz="800">
              <a:solidFill>
                <a:srgbClr val="101A2B"/>
              </a:solidFill>
            </a:endParaRPr>
          </a:p>
          <a:p>
            <a:pPr indent="0" lvl="0" marL="0" marR="0" rtl="0" algn="l">
              <a:spcBef>
                <a:spcPts val="0"/>
              </a:spcBef>
              <a:spcAft>
                <a:spcPts val="0"/>
              </a:spcAft>
              <a:buNone/>
            </a:pPr>
            <a:r>
              <a:rPr b="1" lang="en-US" sz="800">
                <a:solidFill>
                  <a:srgbClr val="101A2B"/>
                </a:solidFill>
              </a:rPr>
              <a:t>Why is the scratch CNN so poor on apple pie?</a:t>
            </a:r>
            <a:endParaRPr b="1" sz="800">
              <a:solidFill>
                <a:srgbClr val="101A2B"/>
              </a:solidFill>
            </a:endParaRPr>
          </a:p>
          <a:p>
            <a:pPr indent="0" lvl="0" marL="0" marR="0" rtl="0" algn="l">
              <a:spcBef>
                <a:spcPts val="0"/>
              </a:spcBef>
              <a:spcAft>
                <a:spcPts val="0"/>
              </a:spcAft>
              <a:buNone/>
            </a:pPr>
            <a:r>
              <a:rPr lang="en-US" sz="800">
                <a:solidFill>
                  <a:srgbClr val="101A2B"/>
                </a:solidFill>
              </a:rPr>
              <a:t>It classified only 10 of 250 apple-pie examples correctly. The confusion output shows many errors into bread pudding and chicken quesadilla. We can describe that pattern, but not determine a single cause without more targeted image inspection or saliency analysis.</a:t>
            </a:r>
            <a:endParaRPr sz="800">
              <a:solidFill>
                <a:srgbClr val="101A2B"/>
              </a:solidFill>
            </a:endParaRPr>
          </a:p>
          <a:p>
            <a:pPr indent="0" lvl="0" marL="0" marR="0" rtl="0" algn="l">
              <a:spcBef>
                <a:spcPts val="0"/>
              </a:spcBef>
              <a:spcAft>
                <a:spcPts val="0"/>
              </a:spcAft>
              <a:buNone/>
            </a:pPr>
            <a:r>
              <a:rPr b="1" lang="en-US" sz="800">
                <a:solidFill>
                  <a:srgbClr val="101A2B"/>
                </a:solidFill>
              </a:rPr>
              <a:t>What if you had more time?</a:t>
            </a:r>
            <a:endParaRPr b="1" sz="800">
              <a:solidFill>
                <a:srgbClr val="101A2B"/>
              </a:solidFill>
            </a:endParaRPr>
          </a:p>
          <a:p>
            <a:pPr indent="0" lvl="0" marL="0" marR="0" rtl="0" algn="l">
              <a:spcBef>
                <a:spcPts val="0"/>
              </a:spcBef>
              <a:spcAft>
                <a:spcPts val="0"/>
              </a:spcAft>
              <a:buNone/>
            </a:pPr>
            <a:r>
              <a:rPr lang="en-US" sz="800">
                <a:solidFill>
                  <a:srgbClr val="101A2B"/>
                </a:solidFill>
              </a:rPr>
              <a:t>Run repeated random seeds, compare equal image resolutions, test discriminative layer-wise learning rates, use class-targeted augmentation, and include a stronger scratch baseline. Those experiments would separate sources of performance gains more rigorously.</a:t>
            </a:r>
            <a:endParaRPr sz="800">
              <a:solidFill>
                <a:srgbClr val="101A2B"/>
              </a:solidFill>
            </a:endParaRPr>
          </a:p>
          <a:p>
            <a:pPr indent="0" lvl="0" marL="0" marR="0" rtl="0" algn="ctr">
              <a:spcBef>
                <a:spcPts val="0"/>
              </a:spcBef>
              <a:spcAft>
                <a:spcPts val="0"/>
              </a:spcAft>
              <a:buNone/>
            </a:pPr>
            <a:r>
              <a:t/>
            </a:r>
            <a:endParaRPr b="1" sz="5000">
              <a:solidFill>
                <a:srgbClr val="101A2B"/>
              </a:solidFill>
            </a:endParaRPr>
          </a:p>
        </p:txBody>
      </p:sp>
      <p:sp>
        <p:nvSpPr>
          <p:cNvPr id="1177" name="Google Shape;1177;p37"/>
          <p:cNvSpPr txBox="1"/>
          <p:nvPr/>
        </p:nvSpPr>
        <p:spPr>
          <a:xfrm>
            <a:off x="11018520" y="6492240"/>
            <a:ext cx="594300" cy="209400"/>
          </a:xfrm>
          <a:prstGeom prst="rect">
            <a:avLst/>
          </a:prstGeom>
          <a:noFill/>
          <a:ln>
            <a:noFill/>
          </a:ln>
        </p:spPr>
        <p:txBody>
          <a:bodyPr anchorCtr="0" anchor="t" bIns="27425" lIns="36575" spcFirstLastPara="1" rIns="36575" wrap="square" tIns="27425">
            <a:spAutoFit/>
          </a:bodyPr>
          <a:lstStyle/>
          <a:p>
            <a:pPr indent="0" lvl="0" marL="0" marR="0" rtl="0" algn="l">
              <a:spcBef>
                <a:spcPts val="0"/>
              </a:spcBef>
              <a:spcAft>
                <a:spcPts val="0"/>
              </a:spcAft>
              <a:buNone/>
            </a:pPr>
            <a:r>
              <a:rPr b="0" lang="en-US" sz="1000">
                <a:solidFill>
                  <a:srgbClr val="718198"/>
                </a:solidFill>
                <a:latin typeface="Arial"/>
                <a:ea typeface="Arial"/>
                <a:cs typeface="Arial"/>
                <a:sym typeface="Arial"/>
              </a:rPr>
              <a:t>34</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